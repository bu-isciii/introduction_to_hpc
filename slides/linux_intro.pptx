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1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Lst>
  <p:sldSz cx="9144000" cy="6858000" type="screen4x3"/>
  <p:notesSz cx="6858000" cy="9144000"/>
  <p:embeddedFontLst>
    <p:embeddedFont>
      <p:font typeface="Consolas" panose="020B0609020204030204" pitchFamily="49" charset="0"/>
      <p:regular r:id="rId118"/>
      <p:bold r:id="rId119"/>
      <p:italic r:id="rId120"/>
      <p:boldItalic r:id="rId121"/>
    </p:embeddedFont>
    <p:embeddedFont>
      <p:font typeface="Roboto Mono" panose="00000009000000000000" pitchFamily="49" charset="0"/>
      <p:regular r:id="rId122"/>
      <p:bold r:id="rId123"/>
      <p:italic r:id="rId124"/>
      <p:boldItalic r:id="rId1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26" roundtripDataSignature="AMtx7mgN2GRqJowws8poBkKiMVadf5Ig0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7CA970-B809-2010-CBE1-DF70841FD537}" v="53" dt="2026-10-16T14:17:16.588"/>
  </p1510:revLst>
</p1510:revInfo>
</file>

<file path=ppt/tableStyles.xml><?xml version="1.0" encoding="utf-8"?>
<a:tblStyleLst xmlns:a="http://schemas.openxmlformats.org/drawingml/2006/main" def="{0DA7D777-3BDA-417D-9A47-9BB397AF2953}">
  <a:tblStyle styleId="{0DA7D777-3BDA-417D-9A47-9BB397AF295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4F60D86-026C-42D8-B6DD-C1430C6ADAF2}"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notesMaster" Target="notesMasters/notesMaster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font" Target="fonts/font6.fntdata"/><Relationship Id="rId128"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font" Target="fonts/font1.fntdata"/><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font" Target="fonts/font7.fntdata"/><Relationship Id="rId129" Type="http://schemas.openxmlformats.org/officeDocument/2006/relationships/theme" Target="theme/theme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font" Target="fonts/font2.fntdata"/><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tableStyles" Target="tableStyle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font" Target="fonts/font3.fntdata"/><Relationship Id="rId125" Type="http://schemas.openxmlformats.org/officeDocument/2006/relationships/font" Target="fonts/font8.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customschemas.google.com/relationships/presentationmetadata" Target="meta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font" Target="fonts/font4.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Buenos días a todos. Las dos siguientes horas vamos a hacer una breve introducción al sistema operativo de linux, ya que es el que tiene el HPC del ISCIII.</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Averiguar quien ha usado linux antes y quien no.</a:t>
            </a:r>
            <a:endParaRPr/>
          </a:p>
        </p:txBody>
      </p:sp>
      <p:sp>
        <p:nvSpPr>
          <p:cNvPr id="101" name="Google Shape;101;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Este es el índice que vamos a seguir a lo largo de las próximas horas:</a:t>
            </a:r>
            <a:endParaRPr/>
          </a:p>
          <a:p>
            <a:pPr marL="171450" lvl="0" indent="-171450" algn="l" rtl="0">
              <a:lnSpc>
                <a:spcPct val="100000"/>
              </a:lnSpc>
              <a:spcBef>
                <a:spcPts val="0"/>
              </a:spcBef>
              <a:spcAft>
                <a:spcPts val="0"/>
              </a:spcAft>
              <a:buClr>
                <a:schemeClr val="dk1"/>
              </a:buClr>
              <a:buSzPts val="1200"/>
              <a:buFont typeface="Arial"/>
              <a:buChar char="•"/>
            </a:pPr>
            <a:r>
              <a:rPr lang="es-ES"/>
              <a:t>Primero os haré una breve introducción al Sistema Operativo Linux y cuales son las características que hacen que sea el sistema operativo por excelencia en bioinformática y en sistemas de cómputo.</a:t>
            </a:r>
            <a:endParaRPr/>
          </a:p>
          <a:p>
            <a:pPr marL="171450" lvl="0" indent="-171450" algn="l" rtl="0">
              <a:lnSpc>
                <a:spcPct val="100000"/>
              </a:lnSpc>
              <a:spcBef>
                <a:spcPts val="0"/>
              </a:spcBef>
              <a:spcAft>
                <a:spcPts val="0"/>
              </a:spcAft>
              <a:buClr>
                <a:schemeClr val="dk1"/>
              </a:buClr>
              <a:buSzPts val="1200"/>
              <a:buFont typeface="Arial"/>
              <a:buChar char="•"/>
            </a:pPr>
            <a:r>
              <a:rPr lang="es-ES"/>
              <a:t>Después os hablaré sobre el sistema de ficheros de linux</a:t>
            </a:r>
            <a:endParaRPr/>
          </a:p>
          <a:p>
            <a:pPr marL="171450" lvl="0" indent="-171450" algn="l" rtl="0">
              <a:lnSpc>
                <a:spcPct val="100000"/>
              </a:lnSpc>
              <a:spcBef>
                <a:spcPts val="0"/>
              </a:spcBef>
              <a:spcAft>
                <a:spcPts val="0"/>
              </a:spcAft>
              <a:buClr>
                <a:schemeClr val="dk1"/>
              </a:buClr>
              <a:buSzPts val="1200"/>
              <a:buFont typeface="Arial"/>
              <a:buChar char="•"/>
            </a:pPr>
            <a:r>
              <a:rPr lang="es-ES"/>
              <a:t>Después os enseñaremos unos comandos básicos de linux que necesitaréis a lo largo de las prácticas</a:t>
            </a:r>
            <a:endParaRPr/>
          </a:p>
          <a:p>
            <a:pPr marL="171450" lvl="0" indent="-171450" algn="l" rtl="0">
              <a:lnSpc>
                <a:spcPct val="100000"/>
              </a:lnSpc>
              <a:spcBef>
                <a:spcPts val="0"/>
              </a:spcBef>
              <a:spcAft>
                <a:spcPts val="0"/>
              </a:spcAft>
              <a:buClr>
                <a:schemeClr val="dk1"/>
              </a:buClr>
              <a:buSzPts val="1200"/>
              <a:buFont typeface="Arial"/>
              <a:buChar char="•"/>
            </a:pPr>
            <a:r>
              <a:rPr lang="es-ES"/>
              <a:t>Siguiendo con la sintaxis de la línea de comandos.</a:t>
            </a:r>
            <a:endParaRPr/>
          </a:p>
          <a:p>
            <a:pPr marL="171450" lvl="0" indent="-171450" algn="l" rtl="0">
              <a:lnSpc>
                <a:spcPct val="100000"/>
              </a:lnSpc>
              <a:spcBef>
                <a:spcPts val="0"/>
              </a:spcBef>
              <a:spcAft>
                <a:spcPts val="0"/>
              </a:spcAft>
              <a:buClr>
                <a:schemeClr val="dk1"/>
              </a:buClr>
              <a:buSzPts val="1200"/>
              <a:buFont typeface="Arial"/>
              <a:buChar char="•"/>
            </a:pPr>
            <a:r>
              <a:rPr lang="es-ES"/>
              <a:t>Y finalmente os enseñaremos los usuarios, privilegios y permisos en linux</a:t>
            </a:r>
            <a:endParaRPr/>
          </a:p>
        </p:txBody>
      </p:sp>
      <p:sp>
        <p:nvSpPr>
          <p:cNvPr id="111" name="Google Shape;111;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Vamos a empezar por el Sistema Operativo. OS por sus siglas en inglés Operating System</a:t>
            </a:r>
            <a:endParaRPr/>
          </a:p>
        </p:txBody>
      </p:sp>
      <p:sp>
        <p:nvSpPr>
          <p:cNvPr id="119" name="Google Shape;119;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Linux, cuyo logo es el pingüino ese que veis a la derecha, es un Sistema Operativo, de código abierto, multi-tarea y multi-usuario. Cada uno de estos conceptos os los vamos a explicar a continuación de forma más detallada.</a:t>
            </a:r>
            <a:endParaRPr/>
          </a:p>
        </p:txBody>
      </p:sp>
      <p:sp>
        <p:nvSpPr>
          <p:cNvPr id="128" name="Google Shape;12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Empezaremos por el sistema operativo</a:t>
            </a:r>
            <a:endParaRPr/>
          </a:p>
        </p:txBody>
      </p:sp>
      <p:sp>
        <p:nvSpPr>
          <p:cNvPr id="137" name="Google Shape;13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s-ES"/>
              <a:t>Un sistema operativo por definición es el </a:t>
            </a:r>
            <a:r>
              <a:rPr lang="es-ES" b="1" u="sng"/>
              <a:t>software </a:t>
            </a:r>
            <a:r>
              <a:rPr lang="es-ES"/>
              <a:t>principal de un sistema informático que gestiona los recursos de hardware y provee servicios a los programas de aplicación de software.</a:t>
            </a:r>
            <a:endParaRPr/>
          </a:p>
          <a:p>
            <a:pPr marL="457200" lvl="0" indent="-298450" algn="just" rtl="0">
              <a:lnSpc>
                <a:spcPct val="115000"/>
              </a:lnSpc>
              <a:spcBef>
                <a:spcPts val="1200"/>
              </a:spcBef>
              <a:spcAft>
                <a:spcPts val="0"/>
              </a:spcAft>
              <a:buClr>
                <a:schemeClr val="dk1"/>
              </a:buClr>
              <a:buSzPts val="1100"/>
              <a:buChar char="●"/>
            </a:pPr>
            <a:r>
              <a:rPr lang="es-ES"/>
              <a:t>El hardware como su propio nombre indica es lo duro (viene a ser la caja, el ordenador en sí y la pantalla o el ratón) y este se relaciona directamente con el sistema operativo.</a:t>
            </a:r>
            <a:endParaRPr/>
          </a:p>
          <a:p>
            <a:pPr marL="457200" lvl="0" indent="-298450" algn="just" rtl="0">
              <a:lnSpc>
                <a:spcPct val="115000"/>
              </a:lnSpc>
              <a:spcBef>
                <a:spcPts val="0"/>
              </a:spcBef>
              <a:spcAft>
                <a:spcPts val="0"/>
              </a:spcAft>
              <a:buClr>
                <a:schemeClr val="dk1"/>
              </a:buClr>
              <a:buSzPts val="1100"/>
              <a:buChar char="●"/>
            </a:pPr>
            <a:r>
              <a:rPr lang="es-ES"/>
              <a:t>El usuario somos nosotros, y nosotros lo que hacemos en el ordenador es usar aplicaciones, como Word o Chrome.</a:t>
            </a:r>
            <a:endParaRPr/>
          </a:p>
          <a:p>
            <a:pPr marL="457200" lvl="0" indent="-298450" algn="just" rtl="0">
              <a:lnSpc>
                <a:spcPct val="115000"/>
              </a:lnSpc>
              <a:spcBef>
                <a:spcPts val="0"/>
              </a:spcBef>
              <a:spcAft>
                <a:spcPts val="0"/>
              </a:spcAft>
              <a:buClr>
                <a:schemeClr val="dk1"/>
              </a:buClr>
              <a:buSzPts val="1100"/>
              <a:buChar char="●"/>
            </a:pPr>
            <a:r>
              <a:rPr lang="es-ES"/>
              <a:t>Estas aplicaciones se relacionan directamente con el sistema operativo, pero para funcionar necesitan los recursos del hardware como la memoria, de forma que el sistema operativo es el intermediario entre las aplicaciones y el hardware.</a:t>
            </a:r>
            <a:endParaRPr/>
          </a:p>
          <a:p>
            <a:pPr marL="0" lvl="0" indent="0" algn="just" rtl="0">
              <a:lnSpc>
                <a:spcPct val="115000"/>
              </a:lnSpc>
              <a:spcBef>
                <a:spcPts val="1200"/>
              </a:spcBef>
              <a:spcAft>
                <a:spcPts val="0"/>
              </a:spcAft>
              <a:buClr>
                <a:schemeClr val="dk1"/>
              </a:buClr>
              <a:buSzPts val="1100"/>
              <a:buFont typeface="Arial"/>
              <a:buNone/>
            </a:pPr>
            <a:r>
              <a:rPr lang="es-ES"/>
              <a:t>Un ejemplo sería que nosotros queremos abrir el Word y el Word le dice al sistema operativo que necesita que el monitor despliegue una ventana, entonces el sistema operativo le dice al hardware que es la caja y el monitor que desplieguen esa ventana. </a:t>
            </a:r>
            <a:endParaRPr/>
          </a:p>
          <a:p>
            <a:pPr marL="0" lvl="0" indent="0" algn="just" rtl="0">
              <a:lnSpc>
                <a:spcPct val="115000"/>
              </a:lnSpc>
              <a:spcBef>
                <a:spcPts val="1200"/>
              </a:spcBef>
              <a:spcAft>
                <a:spcPts val="0"/>
              </a:spcAft>
              <a:buClr>
                <a:schemeClr val="dk1"/>
              </a:buClr>
              <a:buSzPts val="1100"/>
              <a:buFont typeface="Arial"/>
              <a:buNone/>
            </a:pPr>
            <a:r>
              <a:rPr lang="es-ES"/>
              <a:t>De forma que hay una relación uno a uno entre los distintos elementos.</a:t>
            </a:r>
            <a:endParaRPr/>
          </a:p>
          <a:p>
            <a:pPr marL="0" lvl="0" indent="0" algn="just" rtl="0">
              <a:lnSpc>
                <a:spcPct val="115000"/>
              </a:lnSpc>
              <a:spcBef>
                <a:spcPts val="1200"/>
              </a:spcBef>
              <a:spcAft>
                <a:spcPts val="0"/>
              </a:spcAft>
              <a:buClr>
                <a:schemeClr val="dk1"/>
              </a:buClr>
              <a:buSzPts val="1100"/>
              <a:buFont typeface="Arial"/>
              <a:buNone/>
            </a:pPr>
            <a:r>
              <a:rPr lang="es-ES"/>
              <a:t>"Linux es como el director de una orquesta que coordina todos los instrumentos (programas, recursos del sistema), y permite que varias personas toquen al mismo tiempo.</a:t>
            </a:r>
            <a:endParaRPr/>
          </a:p>
          <a:p>
            <a:pPr marL="0" marR="0" lvl="0" indent="0" algn="l" rtl="0">
              <a:lnSpc>
                <a:spcPct val="100000"/>
              </a:lnSpc>
              <a:spcBef>
                <a:spcPts val="1200"/>
              </a:spcBef>
              <a:spcAft>
                <a:spcPts val="0"/>
              </a:spcAft>
              <a:buClr>
                <a:schemeClr val="dk1"/>
              </a:buClr>
              <a:buSzPts val="1200"/>
              <a:buFont typeface="Arial"/>
              <a:buNone/>
            </a:pPr>
            <a:endParaRPr/>
          </a:p>
        </p:txBody>
      </p:sp>
      <p:sp>
        <p:nvSpPr>
          <p:cNvPr id="147" name="Google Shape;147;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SzPts val="1400"/>
              <a:buNone/>
            </a:pPr>
            <a:r>
              <a:rPr lang="es-ES" sz="1100">
                <a:latin typeface="Arial"/>
                <a:ea typeface="Arial"/>
                <a:cs typeface="Arial"/>
                <a:sym typeface="Arial"/>
              </a:rPr>
              <a:t>Así un sistema operativo es el que se encarga de controlar que todo funcione. Sus funciones principales incluyen:</a:t>
            </a:r>
            <a:endParaRPr sz="1100">
              <a:latin typeface="Arial"/>
              <a:ea typeface="Arial"/>
              <a:cs typeface="Arial"/>
              <a:sym typeface="Arial"/>
            </a:endParaRPr>
          </a:p>
          <a:p>
            <a:pPr marL="0" lvl="0" indent="-69850" algn="l" rtl="0">
              <a:lnSpc>
                <a:spcPct val="115000"/>
              </a:lnSpc>
              <a:spcBef>
                <a:spcPts val="1200"/>
              </a:spcBef>
              <a:spcAft>
                <a:spcPts val="0"/>
              </a:spcAft>
              <a:buSzPts val="1100"/>
              <a:buFont typeface="Arial"/>
              <a:buChar char="•"/>
            </a:pPr>
            <a:r>
              <a:rPr lang="es-ES" sz="1100" b="1">
                <a:latin typeface="Arial"/>
                <a:ea typeface="Arial"/>
                <a:cs typeface="Arial"/>
                <a:sym typeface="Arial"/>
              </a:rPr>
              <a:t>Ejecución, control y supervisión de los programas</a:t>
            </a:r>
            <a:r>
              <a:rPr lang="es-ES" sz="1100">
                <a:latin typeface="Arial"/>
                <a:ea typeface="Arial"/>
                <a:cs typeface="Arial"/>
                <a:sym typeface="Arial"/>
              </a:rPr>
              <a:t>: El sistema operativo se encarga de iniciar (o "lanzar") los programas que el usuario o el sistema necesitan. Además, supervisa su funcionamiento, gestiona los recursos que utilizan (como memoria o tiempo de procesador) y permite que se ejecuten varios programas al mismo tiempo (multitarea), asegurando que no interfieran entre sí.</a:t>
            </a:r>
            <a:endParaRPr sz="1100">
              <a:latin typeface="Arial"/>
              <a:ea typeface="Arial"/>
              <a:cs typeface="Arial"/>
              <a:sym typeface="Arial"/>
            </a:endParaRPr>
          </a:p>
          <a:p>
            <a:pPr marL="0" lvl="0" indent="-69850" algn="l" rtl="0">
              <a:lnSpc>
                <a:spcPct val="115000"/>
              </a:lnSpc>
              <a:spcBef>
                <a:spcPts val="0"/>
              </a:spcBef>
              <a:spcAft>
                <a:spcPts val="0"/>
              </a:spcAft>
              <a:buSzPts val="1100"/>
              <a:buFont typeface="Arial"/>
              <a:buChar char="•"/>
            </a:pPr>
            <a:r>
              <a:rPr lang="es-ES" sz="1100" b="1">
                <a:latin typeface="Arial"/>
                <a:ea typeface="Arial"/>
                <a:cs typeface="Arial"/>
                <a:sym typeface="Arial"/>
              </a:rPr>
              <a:t>Administración de periféricos (dispositivos de entrada y salida)</a:t>
            </a:r>
            <a:r>
              <a:rPr lang="es-ES" sz="1100">
                <a:latin typeface="Arial"/>
                <a:ea typeface="Arial"/>
                <a:cs typeface="Arial"/>
                <a:sym typeface="Arial"/>
              </a:rPr>
              <a:t>: Controla el funcionamiento de los dispositivos conectados al ordenador, como el ratón, el teclado, la pantalla, impresoras, discos duros, puertos USB, etc. El sistema operativo traduce las acciones del usuario (como mover el ratón o pulsar una tecla) en señales que el sistema puede interpretar y actuar en consecuencia.</a:t>
            </a:r>
            <a:endParaRPr sz="1100">
              <a:latin typeface="Arial"/>
              <a:ea typeface="Arial"/>
              <a:cs typeface="Arial"/>
              <a:sym typeface="Arial"/>
            </a:endParaRPr>
          </a:p>
          <a:p>
            <a:pPr marL="0" lvl="0" indent="-69850" algn="l" rtl="0">
              <a:lnSpc>
                <a:spcPct val="115000"/>
              </a:lnSpc>
              <a:spcBef>
                <a:spcPts val="0"/>
              </a:spcBef>
              <a:spcAft>
                <a:spcPts val="0"/>
              </a:spcAft>
              <a:buSzPts val="1100"/>
              <a:buFont typeface="Arial"/>
              <a:buChar char="•"/>
            </a:pPr>
            <a:r>
              <a:rPr lang="es-ES" sz="1100" b="1">
                <a:latin typeface="Arial"/>
                <a:ea typeface="Arial"/>
                <a:cs typeface="Arial"/>
                <a:sym typeface="Arial"/>
              </a:rPr>
              <a:t>Gestión de usuarios y permisos</a:t>
            </a:r>
            <a:r>
              <a:rPr lang="es-ES" sz="1100">
                <a:latin typeface="Arial"/>
                <a:ea typeface="Arial"/>
                <a:cs typeface="Arial"/>
                <a:sym typeface="Arial"/>
              </a:rPr>
              <a:t>: En entornos multiusuario, el sistema operativo permite que varias personas usen el mismo ordenador, cada una con su propio perfil y nivel de acceso. Esto es esencial para la seguridad y el orden, ya que impide que un usuario modifique archivos de otro sin autorización. También se puede controlar qué usuarios tienen permisos de administración y cuáles no.</a:t>
            </a:r>
            <a:endParaRPr sz="1100">
              <a:latin typeface="Arial"/>
              <a:ea typeface="Arial"/>
              <a:cs typeface="Arial"/>
              <a:sym typeface="Arial"/>
            </a:endParaRPr>
          </a:p>
          <a:p>
            <a:pPr marL="0" lvl="0" indent="-69850" algn="l" rtl="0">
              <a:lnSpc>
                <a:spcPct val="115000"/>
              </a:lnSpc>
              <a:spcBef>
                <a:spcPts val="0"/>
              </a:spcBef>
              <a:spcAft>
                <a:spcPts val="0"/>
              </a:spcAft>
              <a:buSzPts val="1100"/>
              <a:buFont typeface="Arial"/>
              <a:buChar char="•"/>
            </a:pPr>
            <a:r>
              <a:rPr lang="es-ES" sz="1100" b="1">
                <a:latin typeface="Arial"/>
                <a:ea typeface="Arial"/>
                <a:cs typeface="Arial"/>
                <a:sym typeface="Arial"/>
              </a:rPr>
              <a:t>Gestión de errores y seguridad</a:t>
            </a:r>
            <a:r>
              <a:rPr lang="es-ES" sz="1100">
                <a:latin typeface="Arial"/>
                <a:ea typeface="Arial"/>
                <a:cs typeface="Arial"/>
                <a:sym typeface="Arial"/>
              </a:rPr>
              <a:t>: El sistema operativo detecta errores durante la ejecución de programas o en el hardware (por ejemplo, cuando un dispositivo no responde o hay un fallo de memoria). Además, incluye mecanismos para proteger el sistema frente a accesos no autorizados, malware, y errores del usuario. Esto incluye el uso de contraseñas, actualizaciones de seguridad, y restricciones de acceso a archivos o programas.</a:t>
            </a:r>
            <a:endParaRPr/>
          </a:p>
        </p:txBody>
      </p:sp>
      <p:sp>
        <p:nvSpPr>
          <p:cNvPr id="159" name="Google Shape;159;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El sistema operativo está compuesto por tres partes esenciales que trabajan en conjunto para permitir el funcionamiento del ordenador y la interacción con el usuario. Estos componentes son:</a:t>
            </a:r>
            <a:endParaRPr/>
          </a:p>
          <a:p>
            <a:pPr marL="171450" lvl="0" indent="-171450" algn="l" rtl="0">
              <a:lnSpc>
                <a:spcPct val="100000"/>
              </a:lnSpc>
              <a:spcBef>
                <a:spcPts val="0"/>
              </a:spcBef>
              <a:spcAft>
                <a:spcPts val="0"/>
              </a:spcAft>
              <a:buClr>
                <a:schemeClr val="dk1"/>
              </a:buClr>
              <a:buSzPts val="1200"/>
              <a:buFont typeface="Arial"/>
              <a:buChar char="•"/>
            </a:pPr>
            <a:r>
              <a:rPr lang="es-ES"/>
              <a:t>El Kernel o núcleo</a:t>
            </a:r>
            <a:endParaRPr/>
          </a:p>
          <a:p>
            <a:pPr marL="171450" lvl="0" indent="-171450" algn="l" rtl="0">
              <a:lnSpc>
                <a:spcPct val="100000"/>
              </a:lnSpc>
              <a:spcBef>
                <a:spcPts val="0"/>
              </a:spcBef>
              <a:spcAft>
                <a:spcPts val="0"/>
              </a:spcAft>
              <a:buClr>
                <a:schemeClr val="dk1"/>
              </a:buClr>
              <a:buSzPts val="1200"/>
              <a:buFont typeface="Arial"/>
              <a:buChar char="•"/>
            </a:pPr>
            <a:r>
              <a:rPr lang="es-ES"/>
              <a:t>El sistema de ficheros</a:t>
            </a:r>
            <a:endParaRPr/>
          </a:p>
          <a:p>
            <a:pPr marL="171450" lvl="0" indent="-171450" algn="l" rtl="0">
              <a:lnSpc>
                <a:spcPct val="100000"/>
              </a:lnSpc>
              <a:spcBef>
                <a:spcPts val="0"/>
              </a:spcBef>
              <a:spcAft>
                <a:spcPts val="0"/>
              </a:spcAft>
              <a:buClr>
                <a:schemeClr val="dk1"/>
              </a:buClr>
              <a:buSzPts val="1200"/>
              <a:buFont typeface="Arial"/>
              <a:buChar char="•"/>
            </a:pPr>
            <a:r>
              <a:rPr lang="es-ES"/>
              <a:t>Y la shell</a:t>
            </a:r>
            <a:endParaRPr/>
          </a:p>
        </p:txBody>
      </p:sp>
      <p:sp>
        <p:nvSpPr>
          <p:cNvPr id="168" name="Google Shape;168;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1200"/>
              </a:spcBef>
              <a:spcAft>
                <a:spcPts val="0"/>
              </a:spcAft>
              <a:buSzPts val="1400"/>
              <a:buNone/>
            </a:pPr>
            <a:r>
              <a:rPr lang="es-ES" sz="1100">
                <a:latin typeface="Arial"/>
                <a:ea typeface="Arial"/>
                <a:cs typeface="Arial"/>
                <a:sym typeface="Arial"/>
              </a:rPr>
              <a:t>El kernel (o núcleo) es el corazón del sistema operativo. Es un software que actúa como intermediario entre el hardware del ordenador y el resto del sistema. Sus funciones principales incluyen:</a:t>
            </a:r>
            <a:endParaRPr sz="1100">
              <a:latin typeface="Arial"/>
              <a:ea typeface="Arial"/>
              <a:cs typeface="Arial"/>
              <a:sym typeface="Arial"/>
            </a:endParaRPr>
          </a:p>
          <a:p>
            <a:pPr marL="457200" lvl="0" indent="-298450" algn="just" rtl="0">
              <a:lnSpc>
                <a:spcPct val="115000"/>
              </a:lnSpc>
              <a:spcBef>
                <a:spcPts val="1200"/>
              </a:spcBef>
              <a:spcAft>
                <a:spcPts val="0"/>
              </a:spcAft>
              <a:buSzPts val="1100"/>
              <a:buFont typeface="Arial"/>
              <a:buChar char="●"/>
            </a:pPr>
            <a:r>
              <a:rPr lang="es-ES" sz="1100">
                <a:latin typeface="Arial"/>
                <a:ea typeface="Arial"/>
                <a:cs typeface="Arial"/>
                <a:sym typeface="Arial"/>
              </a:rPr>
              <a:t>Gestionar los recursos del sistema, como la memoria, el tiempo del procesador (CPU), y los dispositivos de entrada/salida.</a:t>
            </a:r>
            <a:endParaRPr sz="1100">
              <a:latin typeface="Arial"/>
              <a:ea typeface="Arial"/>
              <a:cs typeface="Arial"/>
              <a:sym typeface="Arial"/>
            </a:endParaRPr>
          </a:p>
          <a:p>
            <a:pPr marL="457200" lvl="0" indent="-298450" algn="just" rtl="0">
              <a:lnSpc>
                <a:spcPct val="115000"/>
              </a:lnSpc>
              <a:spcBef>
                <a:spcPts val="0"/>
              </a:spcBef>
              <a:spcAft>
                <a:spcPts val="0"/>
              </a:spcAft>
              <a:buSzPts val="1100"/>
              <a:buFont typeface="Arial"/>
              <a:buChar char="●"/>
            </a:pPr>
            <a:r>
              <a:rPr lang="es-ES" sz="1100">
                <a:latin typeface="Arial"/>
                <a:ea typeface="Arial"/>
                <a:cs typeface="Arial"/>
                <a:sym typeface="Arial"/>
              </a:rPr>
              <a:t>Coordinar la ejecución de procesos y garantizar que cada programa tenga acceso controlado a los recursos que necesita.</a:t>
            </a:r>
            <a:endParaRPr sz="1100">
              <a:latin typeface="Arial"/>
              <a:ea typeface="Arial"/>
              <a:cs typeface="Arial"/>
              <a:sym typeface="Arial"/>
            </a:endParaRPr>
          </a:p>
          <a:p>
            <a:pPr marL="457200" lvl="0" indent="-298450" algn="just" rtl="0">
              <a:lnSpc>
                <a:spcPct val="115000"/>
              </a:lnSpc>
              <a:spcBef>
                <a:spcPts val="0"/>
              </a:spcBef>
              <a:spcAft>
                <a:spcPts val="0"/>
              </a:spcAft>
              <a:buSzPts val="1100"/>
              <a:buFont typeface="Arial"/>
              <a:buChar char="●"/>
            </a:pPr>
            <a:r>
              <a:rPr lang="es-ES" sz="1100">
                <a:latin typeface="Arial"/>
                <a:ea typeface="Arial"/>
                <a:cs typeface="Arial"/>
                <a:sym typeface="Arial"/>
              </a:rPr>
              <a:t>Facilitar la comunicación con el hardware, traduciendo las órdenes del software en instrucciones que el hardware puede entender.</a:t>
            </a:r>
            <a:endParaRPr sz="1100">
              <a:latin typeface="Arial"/>
              <a:ea typeface="Arial"/>
              <a:cs typeface="Arial"/>
              <a:sym typeface="Arial"/>
            </a:endParaRPr>
          </a:p>
          <a:p>
            <a:pPr marL="0" lvl="0" indent="0" algn="just" rtl="0">
              <a:lnSpc>
                <a:spcPct val="115000"/>
              </a:lnSpc>
              <a:spcBef>
                <a:spcPts val="1200"/>
              </a:spcBef>
              <a:spcAft>
                <a:spcPts val="1200"/>
              </a:spcAft>
              <a:buSzPts val="1400"/>
              <a:buNone/>
            </a:pPr>
            <a:r>
              <a:rPr lang="es-ES" sz="1100">
                <a:latin typeface="Arial"/>
                <a:ea typeface="Arial"/>
                <a:cs typeface="Arial"/>
                <a:sym typeface="Arial"/>
              </a:rPr>
              <a:t>Es el componente que siempre está en funcionamiento, desde que el sistema se inicia hasta que se apaga</a:t>
            </a:r>
            <a:endParaRPr/>
          </a:p>
        </p:txBody>
      </p:sp>
      <p:sp>
        <p:nvSpPr>
          <p:cNvPr id="181" name="Google Shape;18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44e220f39a_1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344e220f39a_1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El sistema de ficheros se encarga de organizar, almacenar y recuperar datos en los dispositivos de almacenamiento (como discos duros o memorias USB). Define cómo se estructuran las carpetas y archivos, cómo se accede a ellos y qué permisos tiene cada usuario o proceso.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Más adelante en el apartado dos explicaremos con detalle cómo funciona este sistema en Linux.</a:t>
            </a:r>
            <a:endParaRPr/>
          </a:p>
        </p:txBody>
      </p:sp>
      <p:sp>
        <p:nvSpPr>
          <p:cNvPr id="190" name="Google Shape;190;g344e220f39a_1_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44e220f39a_1_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344e220f39a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La shell es el programa que permite al usuario interactuar con el sistema operativo mediante comandos escritos. Es una interfaz basada en texto que traduce las órdenes del usuario en instrucciones que el sistema puede ejecutar.</a:t>
            </a:r>
            <a:endParaRPr/>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SzPts val="1400"/>
              <a:buNone/>
            </a:pPr>
            <a:endParaRPr/>
          </a:p>
        </p:txBody>
      </p:sp>
      <p:sp>
        <p:nvSpPr>
          <p:cNvPr id="201" name="Google Shape;201;g344e220f39a_1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44e220f39a_2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344e220f39a_2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Linux es un sistema operativo. Los sistemas operativos que más conocemos hoy en día son:</a:t>
            </a:r>
            <a:endParaRPr/>
          </a:p>
          <a:p>
            <a:pPr marL="228600" lvl="0" indent="-228600" algn="l" rtl="0">
              <a:lnSpc>
                <a:spcPct val="100000"/>
              </a:lnSpc>
              <a:spcBef>
                <a:spcPts val="0"/>
              </a:spcBef>
              <a:spcAft>
                <a:spcPts val="0"/>
              </a:spcAft>
              <a:buClr>
                <a:schemeClr val="dk1"/>
              </a:buClr>
              <a:buSzPts val="1200"/>
              <a:buFont typeface="Calibri"/>
              <a:buAutoNum type="arabicPeriod"/>
            </a:pPr>
            <a:r>
              <a:rPr lang="es-ES"/>
              <a:t>Windows, de Microsoft que es el líder del mercado</a:t>
            </a:r>
            <a:endParaRPr/>
          </a:p>
          <a:p>
            <a:pPr marL="228600" lvl="0" indent="-228600" algn="l" rtl="0">
              <a:lnSpc>
                <a:spcPct val="100000"/>
              </a:lnSpc>
              <a:spcBef>
                <a:spcPts val="0"/>
              </a:spcBef>
              <a:spcAft>
                <a:spcPts val="0"/>
              </a:spcAft>
              <a:buClr>
                <a:schemeClr val="dk1"/>
              </a:buClr>
              <a:buSzPts val="1200"/>
              <a:buFont typeface="Calibri"/>
              <a:buAutoNum type="arabicPeriod"/>
            </a:pPr>
            <a:r>
              <a:rPr lang="es-ES"/>
              <a:t>El segundo es MacOS de Apple</a:t>
            </a:r>
            <a:endParaRPr/>
          </a:p>
          <a:p>
            <a:pPr marL="228600" marR="0" lvl="0" indent="-228600" algn="l" rtl="0">
              <a:lnSpc>
                <a:spcPct val="100000"/>
              </a:lnSpc>
              <a:spcBef>
                <a:spcPts val="0"/>
              </a:spcBef>
              <a:spcAft>
                <a:spcPts val="0"/>
              </a:spcAft>
              <a:buClr>
                <a:schemeClr val="dk1"/>
              </a:buClr>
              <a:buSzPts val="1200"/>
              <a:buFont typeface="Calibri"/>
              <a:buAutoNum type="arabicPeriod"/>
            </a:pPr>
            <a:r>
              <a:rPr lang="es-ES"/>
              <a:t>Y el tercero en el mercado es GNU/Linux</a:t>
            </a:r>
            <a:endParaRPr/>
          </a:p>
        </p:txBody>
      </p:sp>
      <p:sp>
        <p:nvSpPr>
          <p:cNvPr id="214" name="Google Shape;214;g344e220f39a_2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44e220f39a_2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g344e220f39a_2_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s-ES"/>
              <a:t>GNU/Linux, es el conjunto de GNU, desarrollado por Richard Stallman que es el toro ese, y Linux cuyo núcleo fue desarrollado por Linus Torvalds.</a:t>
            </a:r>
            <a:endParaRPr/>
          </a:p>
          <a:p>
            <a:pPr marL="0" marR="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Clr>
                <a:schemeClr val="dk1"/>
              </a:buClr>
              <a:buSzPts val="1100"/>
              <a:buFont typeface="Arial"/>
              <a:buNone/>
            </a:pPr>
            <a:r>
              <a:rPr lang="es-ES"/>
              <a:t>GNU (acrónimo de “**G**NU’s **N**ot **U**nix”) es un proyecto iniciado por Richard Stallman en 1983 con el objetivo de crear un sistema operativo completamente libre, compatible con Unix. Stallman y su comunidad desarrollaron:</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Un shell → Bash</a:t>
            </a:r>
            <a:endParaRPr/>
          </a:p>
          <a:p>
            <a:pPr marL="0" lvl="0" indent="0" algn="l" rtl="0">
              <a:lnSpc>
                <a:spcPct val="100000"/>
              </a:lnSpc>
              <a:spcBef>
                <a:spcPts val="0"/>
              </a:spcBef>
              <a:spcAft>
                <a:spcPts val="0"/>
              </a:spcAft>
              <a:buClr>
                <a:schemeClr val="dk1"/>
              </a:buClr>
              <a:buSzPts val="1100"/>
              <a:buFont typeface="Arial"/>
              <a:buNone/>
            </a:pPr>
            <a:r>
              <a:rPr lang="es-ES"/>
              <a:t>- Un compilador → GCC (GNU Compiler Collection)</a:t>
            </a:r>
            <a:endParaRPr/>
          </a:p>
          <a:p>
            <a:pPr marL="0" lvl="0" indent="0" algn="l" rtl="0">
              <a:lnSpc>
                <a:spcPct val="100000"/>
              </a:lnSpc>
              <a:spcBef>
                <a:spcPts val="0"/>
              </a:spcBef>
              <a:spcAft>
                <a:spcPts val="0"/>
              </a:spcAft>
              <a:buClr>
                <a:schemeClr val="dk1"/>
              </a:buClr>
              <a:buSzPts val="1100"/>
              <a:buFont typeface="Arial"/>
              <a:buNone/>
            </a:pPr>
            <a:r>
              <a:rPr lang="es-ES"/>
              <a:t>- Herramientas de sistema → ls, cp, mv, cat, ps, etc.</a:t>
            </a:r>
            <a:endParaRPr/>
          </a:p>
          <a:p>
            <a:pPr marL="0" lvl="0" indent="0" algn="l" rtl="0">
              <a:lnSpc>
                <a:spcPct val="100000"/>
              </a:lnSpc>
              <a:spcBef>
                <a:spcPts val="0"/>
              </a:spcBef>
              <a:spcAft>
                <a:spcPts val="0"/>
              </a:spcAft>
              <a:buClr>
                <a:schemeClr val="dk1"/>
              </a:buClr>
              <a:buSzPts val="1100"/>
              <a:buFont typeface="Arial"/>
              <a:buNone/>
            </a:pPr>
            <a:r>
              <a:rPr lang="es-ES"/>
              <a:t>- Librerías esenciales → glibc</a:t>
            </a:r>
            <a:endParaRPr/>
          </a:p>
          <a:p>
            <a:pPr marL="0" lvl="0" indent="0" algn="l" rtl="0">
              <a:lnSpc>
                <a:spcPct val="100000"/>
              </a:lnSpc>
              <a:spcBef>
                <a:spcPts val="0"/>
              </a:spcBef>
              <a:spcAft>
                <a:spcPts val="0"/>
              </a:spcAft>
              <a:buClr>
                <a:schemeClr val="dk1"/>
              </a:buClr>
              <a:buSzPts val="1100"/>
              <a:buFont typeface="Arial"/>
              <a:buNone/>
            </a:pPr>
            <a:r>
              <a:rPr lang="es-ES"/>
              <a:t>- Utilidades para editar texto, scripts, depurar, comprimir archivos, etc.</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Linus Torvalds publicó su kernel en 1991, y como todavía no existía un kernel funcional y libre en el proyecto GNU (el suyo, Hurd, no estaba listo), los desarrolladores unieron el kernel de Linux con las herramientas del proyecto GNU y crearon un sistema operativo funcional: lo que hoy se llama popularmente "Linux", aunque el nombre completo sería más correcto como GNU/Linux.</a:t>
            </a:r>
            <a:endParaRPr/>
          </a:p>
          <a:p>
            <a:pPr marL="0" lvl="0" indent="0" algn="l" rtl="0">
              <a:lnSpc>
                <a:spcPct val="100000"/>
              </a:lnSpc>
              <a:spcBef>
                <a:spcPts val="0"/>
              </a:spcBef>
              <a:spcAft>
                <a:spcPts val="0"/>
              </a:spcAft>
              <a:buClr>
                <a:schemeClr val="dk1"/>
              </a:buClr>
              <a:buSzPts val="1100"/>
              <a:buFont typeface="Arial"/>
              <a:buNone/>
            </a:pPr>
            <a:endParaRPr/>
          </a:p>
          <a:p>
            <a:pPr marL="0" marR="0" lvl="0" indent="0" algn="l" rtl="0">
              <a:lnSpc>
                <a:spcPct val="100000"/>
              </a:lnSpc>
              <a:spcBef>
                <a:spcPts val="0"/>
              </a:spcBef>
              <a:spcAft>
                <a:spcPts val="0"/>
              </a:spcAft>
              <a:buSzPts val="1400"/>
              <a:buNone/>
            </a:pPr>
            <a:endParaRPr/>
          </a:p>
        </p:txBody>
      </p:sp>
      <p:sp>
        <p:nvSpPr>
          <p:cNvPr id="228" name="Google Shape;228;g344e220f39a_2_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70c1eac3d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g370c1eac3d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Linux es un **software libre y de código abierto**, de forma que cualquiera puede acceder al código fuente, modificarlo y redistribuirlo según las condiciones de la licencia GPL (General Public License).</a:t>
            </a:r>
            <a:endParaRPr/>
          </a:p>
          <a:p>
            <a:pPr marL="0" lvl="0" indent="0" algn="l" rtl="0">
              <a:lnSpc>
                <a:spcPct val="100000"/>
              </a:lnSpc>
              <a:spcBef>
                <a:spcPts val="0"/>
              </a:spcBef>
              <a:spcAft>
                <a:spcPts val="0"/>
              </a:spcAft>
              <a:buSzPts val="1400"/>
              <a:buNone/>
            </a:pPr>
            <a:endParaRPr/>
          </a:p>
        </p:txBody>
      </p:sp>
      <p:sp>
        <p:nvSpPr>
          <p:cNvPr id="240" name="Google Shape;240;g370c1eac3df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a:t>Gracias a esta licencia, Linux no es solo un producto tecnológico, sino también el resultado de una colaboración global entre desarrolladores y comunidades que contribuyen de forma abierta, sin una coordinación central estricta pero con objetivos comunes.</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s-ES"/>
              <a:t>Para que un software sea considerado verdaderamente de código abierto, su licencia debe cumplir una serie de principios fundamentales:</a:t>
            </a:r>
            <a:endParaRPr/>
          </a:p>
          <a:p>
            <a:pPr marL="0" marR="0" lvl="0" indent="0" algn="l" rtl="0">
              <a:lnSpc>
                <a:spcPct val="100000"/>
              </a:lnSpc>
              <a:spcBef>
                <a:spcPts val="0"/>
              </a:spcBef>
              <a:spcAft>
                <a:spcPts val="0"/>
              </a:spcAft>
              <a:buClr>
                <a:schemeClr val="dk1"/>
              </a:buClr>
              <a:buSzPts val="1200"/>
              <a:buFont typeface="Calibri"/>
              <a:buNone/>
            </a:pP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Libre redistribución: </a:t>
            </a:r>
            <a:r>
              <a:rPr lang="es-ES"/>
              <a:t>El software puede compartirse libremente. No se puede tomar un programa gratuito, cambiar su nombre y venderlo con restricciones.</a:t>
            </a: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Código fuente: </a:t>
            </a:r>
            <a:r>
              <a:rPr lang="es-ES"/>
              <a:t>El código fuente debe estar incluido o ser fácilmente accesible, permitiendo su estudio y modificación por parte de los usuarios.</a:t>
            </a: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Trabajos derivados: </a:t>
            </a:r>
            <a:r>
              <a:rPr lang="es-ES" sz="1200" b="0" i="0">
                <a:solidFill>
                  <a:schemeClr val="dk1"/>
                </a:solidFill>
                <a:latin typeface="Calibri"/>
                <a:ea typeface="Calibri"/>
                <a:cs typeface="Calibri"/>
                <a:sym typeface="Calibri"/>
              </a:rPr>
              <a:t>La licencia debe</a:t>
            </a:r>
            <a:r>
              <a:rPr lang="es-ES"/>
              <a:t> permitir la creación de versiones modificadas y distribuirlas bajo los mismos términos que el original.</a:t>
            </a: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Integridad del autor del código fuente</a:t>
            </a:r>
            <a:r>
              <a:rPr lang="es-ES" sz="1200" b="0" i="0">
                <a:solidFill>
                  <a:schemeClr val="dk1"/>
                </a:solidFill>
                <a:latin typeface="Calibri"/>
                <a:ea typeface="Calibri"/>
                <a:cs typeface="Calibri"/>
                <a:sym typeface="Calibri"/>
              </a:rPr>
              <a:t>: </a:t>
            </a:r>
            <a:r>
              <a:rPr lang="es-ES"/>
              <a:t>Las licencias pueden exigir que los trabajos derivados tengan nombres distintos o números de versión diferentes. Esto protege tanto a los usuarios (que saben qué están usando) como a los autores originales.</a:t>
            </a: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No discriminación contra personas o grupos: </a:t>
            </a:r>
            <a:r>
              <a:rPr lang="es-ES"/>
              <a:t>Cualquier persona, sin importar su origen, tiene derecho a usar el software.</a:t>
            </a: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No discriminación contra áreas de trabajo:</a:t>
            </a:r>
            <a:r>
              <a:rPr lang="es-ES" sz="1200" b="0" i="0">
                <a:solidFill>
                  <a:schemeClr val="dk1"/>
                </a:solidFill>
                <a:latin typeface="Calibri"/>
                <a:ea typeface="Calibri"/>
                <a:cs typeface="Calibri"/>
                <a:sym typeface="Calibri"/>
              </a:rPr>
              <a:t> </a:t>
            </a:r>
            <a:r>
              <a:rPr lang="es-ES"/>
              <a:t>El software puede usarse en cualquier ámbito, incluyendo negocios, educación, investigación, etc. </a:t>
            </a:r>
            <a:r>
              <a:rPr lang="es-ES" sz="1200" b="0" i="0">
                <a:solidFill>
                  <a:schemeClr val="dk1"/>
                </a:solidFill>
                <a:latin typeface="Calibri"/>
                <a:ea typeface="Calibri"/>
                <a:cs typeface="Calibri"/>
                <a:sym typeface="Calibri"/>
              </a:rPr>
              <a:t>Por ejemplo, no puede restringir que el programa sea utilizado para un negocio o en investigación genética.</a:t>
            </a: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Distribución de la licencia:</a:t>
            </a:r>
            <a:r>
              <a:rPr lang="es-ES" sz="1200" b="0" i="0">
                <a:solidFill>
                  <a:schemeClr val="dk1"/>
                </a:solidFill>
                <a:latin typeface="Calibri"/>
                <a:ea typeface="Calibri"/>
                <a:cs typeface="Calibri"/>
                <a:sym typeface="Calibri"/>
              </a:rPr>
              <a:t> </a:t>
            </a:r>
            <a:r>
              <a:rPr lang="es-ES"/>
              <a:t>Todos los usuarios reciben los mismos derechos al redistribuir el software, sin necesidad de nuevas licencias.</a:t>
            </a: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La licencia no debe ser específica para un producto:</a:t>
            </a:r>
            <a:r>
              <a:rPr lang="es-ES" sz="1200" b="0" i="0">
                <a:solidFill>
                  <a:schemeClr val="dk1"/>
                </a:solidFill>
                <a:latin typeface="Calibri"/>
                <a:ea typeface="Calibri"/>
                <a:cs typeface="Calibri"/>
                <a:sym typeface="Calibri"/>
              </a:rPr>
              <a:t> </a:t>
            </a:r>
            <a:r>
              <a:rPr lang="es-ES"/>
              <a:t>El uso del software no puede estar condicionado a formar parte de un paquete o producto específico.</a:t>
            </a: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La licencia no debe restringir otros programas: </a:t>
            </a:r>
            <a:r>
              <a:rPr lang="es-ES"/>
              <a:t>El software puede distribuirse junto a otros programas (libres o propietarios) sin imponer restricciones adicionales. </a:t>
            </a:r>
            <a:endParaRPr/>
          </a:p>
          <a:p>
            <a:pPr marL="171450" marR="0" lvl="0" indent="-171450" algn="l" rtl="0">
              <a:lnSpc>
                <a:spcPct val="100000"/>
              </a:lnSpc>
              <a:spcBef>
                <a:spcPts val="0"/>
              </a:spcBef>
              <a:spcAft>
                <a:spcPts val="0"/>
              </a:spcAft>
              <a:buClr>
                <a:schemeClr val="dk1"/>
              </a:buClr>
              <a:buSzPts val="1200"/>
              <a:buFont typeface="Arial"/>
              <a:buAutoNum type="arabicPeriod"/>
            </a:pPr>
            <a:r>
              <a:rPr lang="es-ES" sz="1200" b="1" i="0">
                <a:solidFill>
                  <a:schemeClr val="dk1"/>
                </a:solidFill>
                <a:latin typeface="Calibri"/>
                <a:ea typeface="Calibri"/>
                <a:cs typeface="Calibri"/>
                <a:sym typeface="Calibri"/>
              </a:rPr>
              <a:t>La licencia debe ser neutral a la tecnología: </a:t>
            </a:r>
            <a:r>
              <a:rPr lang="es-ES"/>
              <a:t>La licencia no debe depender de tecnologías o interfaces particulares.</a:t>
            </a:r>
            <a:endParaRPr/>
          </a:p>
        </p:txBody>
      </p:sp>
      <p:sp>
        <p:nvSpPr>
          <p:cNvPr id="250" name="Google Shape;250;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70c1eac3df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370c1eac3df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Linux tiene distribuciones.</a:t>
            </a:r>
            <a:endParaRPr/>
          </a:p>
        </p:txBody>
      </p:sp>
      <p:sp>
        <p:nvSpPr>
          <p:cNvPr id="260" name="Google Shape;260;g370c1eac3df_0_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a:t>Gracias a los principios del software de código abierto, especialmente la libre redistribución, el acceso al código fuente y la posibilidad de crear trabajos derivados, es posible que múltiples comunidades y organizaciones desarrollen sus propias distribuciones de Linux.</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s-ES"/>
              <a:t>Una distribución (coloquialmente llamada distro) es una distribución de software basada en el kernel de Linux que incluye determinados paquetes de software para satisfacer las necesidades de un grupo específico de usuarios, dando así origen a ediciones domésticas, empresariales y para servidores. </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s-ES"/>
              <a:t>Además del núcleo o kernel de Linux, las distribuciones incluyen habitualmente las librerías y herramientas del proyecto GNU, software adicional, documentación, un sistema de ventanas, un gestor de ventanas y un entorno de escritorio. Dependiendo del tipo de usuarios a los que la distribución esté dirigida se incluye también otro tipo de software como procesadores de texto, hoja de cálculo, reproductores multimedia, herramientas administrativas, etc. </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s-ES"/>
              <a:t>Por lo general están compuestas, total o mayoritariamente, de software libre, aunque a menudo incorporan aplicaciones o controladores propietarios.</a:t>
            </a:r>
            <a:endParaRPr/>
          </a:p>
        </p:txBody>
      </p:sp>
      <p:sp>
        <p:nvSpPr>
          <p:cNvPr id="270" name="Google Shape;270;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a:t>Algunas de las distribuciones más populares son:</a:t>
            </a:r>
            <a:endParaRPr/>
          </a:p>
          <a:p>
            <a:pPr marL="0" marR="0" lvl="0" indent="0" algn="l" rtl="0">
              <a:lnSpc>
                <a:spcPct val="100000"/>
              </a:lnSpc>
              <a:spcBef>
                <a:spcPts val="0"/>
              </a:spcBef>
              <a:spcAft>
                <a:spcPts val="0"/>
              </a:spcAft>
              <a:buClr>
                <a:schemeClr val="dk1"/>
              </a:buClr>
              <a:buSzPts val="1200"/>
              <a:buFont typeface="Calibri"/>
              <a:buNone/>
            </a:pPr>
            <a:endParaRPr/>
          </a:p>
          <a:p>
            <a:pPr marL="457200" marR="0" lvl="0" indent="-317500" algn="l" rtl="0">
              <a:lnSpc>
                <a:spcPct val="100000"/>
              </a:lnSpc>
              <a:spcBef>
                <a:spcPts val="0"/>
              </a:spcBef>
              <a:spcAft>
                <a:spcPts val="0"/>
              </a:spcAft>
              <a:buSzPts val="1400"/>
              <a:buChar char="●"/>
            </a:pPr>
            <a:r>
              <a:rPr lang="es-ES"/>
              <a:t>Ubuntu: Amigable para principiantes, muy utilizada en escritorios y entornos educativos.</a:t>
            </a:r>
            <a:endParaRPr/>
          </a:p>
          <a:p>
            <a:pPr marL="457200" marR="0" lvl="0" indent="-317500" algn="l" rtl="0">
              <a:lnSpc>
                <a:spcPct val="100000"/>
              </a:lnSpc>
              <a:spcBef>
                <a:spcPts val="0"/>
              </a:spcBef>
              <a:spcAft>
                <a:spcPts val="0"/>
              </a:spcAft>
              <a:buSzPts val="1400"/>
              <a:buChar char="●"/>
            </a:pPr>
            <a:r>
              <a:rPr lang="es-ES"/>
              <a:t>Debian: Base de muchas otras distribuciones, conocida por su estabilidad.</a:t>
            </a:r>
            <a:endParaRPr/>
          </a:p>
          <a:p>
            <a:pPr marL="457200" marR="0" lvl="0" indent="-317500" algn="l" rtl="0">
              <a:lnSpc>
                <a:spcPct val="100000"/>
              </a:lnSpc>
              <a:spcBef>
                <a:spcPts val="0"/>
              </a:spcBef>
              <a:spcAft>
                <a:spcPts val="0"/>
              </a:spcAft>
              <a:buSzPts val="1400"/>
              <a:buChar char="●"/>
            </a:pPr>
            <a:r>
              <a:rPr lang="es-ES"/>
              <a:t>Fedora: Promovida por Red Hat, orientada a usuarios que buscan tecnología de vanguardia.</a:t>
            </a:r>
            <a:endParaRPr/>
          </a:p>
          <a:p>
            <a:pPr marL="457200" marR="0" lvl="0" indent="-317500" algn="l" rtl="0">
              <a:lnSpc>
                <a:spcPct val="100000"/>
              </a:lnSpc>
              <a:spcBef>
                <a:spcPts val="0"/>
              </a:spcBef>
              <a:spcAft>
                <a:spcPts val="0"/>
              </a:spcAft>
              <a:buSzPts val="1400"/>
              <a:buChar char="●"/>
            </a:pPr>
            <a:r>
              <a:rPr lang="es-ES"/>
              <a:t>Arch Linux: Enfocada a usuarios avanzados, ofrece control total sobre la configuración del sistema.</a:t>
            </a:r>
            <a:endParaRPr/>
          </a:p>
          <a:p>
            <a:pPr marL="457200" marR="0" lvl="0" indent="-317500" algn="l" rtl="0">
              <a:lnSpc>
                <a:spcPct val="100000"/>
              </a:lnSpc>
              <a:spcBef>
                <a:spcPts val="0"/>
              </a:spcBef>
              <a:spcAft>
                <a:spcPts val="0"/>
              </a:spcAft>
              <a:buSzPts val="1400"/>
              <a:buChar char="●"/>
            </a:pPr>
            <a:r>
              <a:rPr lang="es-ES"/>
              <a:t>CentOS / Rocky Linux / AlmaLinux: Alternativas comunitarias a Red Hat Enterprise Linux (RHEL), orientadas a servidores.</a:t>
            </a: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278" name="Google Shape;278;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70c1eac3df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g370c1eac3df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a:t>La distribución que tiene el HPC del ISCIII es CentOS Stream release 8</a:t>
            </a:r>
            <a:endParaRPr/>
          </a:p>
        </p:txBody>
      </p:sp>
      <p:sp>
        <p:nvSpPr>
          <p:cNvPr id="286" name="Google Shape;286;g370c1eac3df_0_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70c1eac3df_0_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g370c1eac3df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Linux es multi-tarea</a:t>
            </a:r>
            <a:endParaRPr/>
          </a:p>
        </p:txBody>
      </p:sp>
      <p:sp>
        <p:nvSpPr>
          <p:cNvPr id="296" name="Google Shape;296;g370c1eac3df_0_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Un sistema operativo multitarea es aquel que permite ejecutar varios programas o procesos al mismo tiempo. Esto no significa que el procesador realmente haga muchas cosas a la vez, sino que gestiona el tiempo de manera tan eficiente que da la impresión de simultaneidad.</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En un ordenador tienes PowerPoint abierto, el navegador Firefox y el calendario. Aparentemente, los tres programas están activos a la vez. Pero lo que realmente ocurre es que el procesador cambia rápidamente de una tarea a otra, dedicando lapsos de tiempo muy breves a cada una. Es tan rápido (a veces miles de veces por segundo) que tú no notas las pausas. Este sistema se llama "planificador de procesos", y lo organiza el sistema operativo.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Imagina una película antigua: no es un vídeo continuo, sino una sucesión de fotogramas estáticos. Al pasar muy rápido de uno a otro, nuestro cerebro interpreta movimiento. Con la multitarea pasa lo mismo: el sistema operativo va alternando entre tareas, pero lo hace tan velozmente que parece que todo funciona al mismo tiempo.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El sistema operativo: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Mantiene el estado de cada tarea: Sabe en qué punto estábamos en PowerPoint, Firefox o el calendario, y retoma desde ahí al volver a activarla.</a:t>
            </a:r>
            <a:endParaRPr/>
          </a:p>
          <a:p>
            <a:pPr marL="0" lvl="0" indent="0" algn="l" rtl="0">
              <a:lnSpc>
                <a:spcPct val="100000"/>
              </a:lnSpc>
              <a:spcBef>
                <a:spcPts val="0"/>
              </a:spcBef>
              <a:spcAft>
                <a:spcPts val="0"/>
              </a:spcAft>
              <a:buClr>
                <a:schemeClr val="dk1"/>
              </a:buClr>
              <a:buSzPts val="1100"/>
              <a:buFont typeface="Arial"/>
              <a:buNone/>
            </a:pPr>
            <a:r>
              <a:rPr lang="es-ES"/>
              <a:t>- Administra recursos: Decide qué proceso usa el procesador, cuál accede al disco o qué ventana está activa.</a:t>
            </a:r>
            <a:endParaRPr/>
          </a:p>
          <a:p>
            <a:pPr marL="0" lvl="0" indent="0" algn="l" rtl="0">
              <a:lnSpc>
                <a:spcPct val="100000"/>
              </a:lnSpc>
              <a:spcBef>
                <a:spcPts val="0"/>
              </a:spcBef>
              <a:spcAft>
                <a:spcPts val="0"/>
              </a:spcAft>
              <a:buClr>
                <a:schemeClr val="dk1"/>
              </a:buClr>
              <a:buSzPts val="1100"/>
              <a:buFont typeface="Arial"/>
              <a:buNone/>
            </a:pPr>
            <a:r>
              <a:rPr lang="es-ES"/>
              <a:t>- Evita conflictos: Se asegura de que las tareas no interfieran entre sí ni se "pisen" datos.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La multitarea es aún más crucial en entornos HPC donde el sistema operativo debe gestionar cientos de procesos de diferentes usuarios y aplicaciones, optimizando recursos de forma eficiente y segura.</a:t>
            </a:r>
            <a:endParaRPr/>
          </a:p>
          <a:p>
            <a:pPr marL="0" lvl="0" indent="0" algn="l" rtl="0">
              <a:lnSpc>
                <a:spcPct val="100000"/>
              </a:lnSpc>
              <a:spcBef>
                <a:spcPts val="0"/>
              </a:spcBef>
              <a:spcAft>
                <a:spcPts val="0"/>
              </a:spcAft>
              <a:buSzPts val="1400"/>
              <a:buNone/>
            </a:pPr>
            <a:endParaRPr/>
          </a:p>
        </p:txBody>
      </p:sp>
      <p:sp>
        <p:nvSpPr>
          <p:cNvPr id="306" name="Google Shape;306;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70c1eac3df_0_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g370c1eac3df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Linux es multi-usuario, es decir, soporta varios usuarios conectados al mismo tiempo, con distintos permisos y configuraciones</a:t>
            </a:r>
            <a:endParaRPr/>
          </a:p>
        </p:txBody>
      </p:sp>
      <p:sp>
        <p:nvSpPr>
          <p:cNvPr id="316" name="Google Shape;316;g370c1eac3df_0_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Linux es multi-usuario, es decir, soporta varios usuarios conectados al mismo tiempo, con distintos permisos y configuraciones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Un sistema operativo multiusuario es un tipo de software que permite que varias personas accedan y utilicen un mismo sistema informático, ya sea de forma simultánea o secuencial, sin interferencias entre ellas.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Tiene su propio nombre de usuario (login) y una contraseña.</a:t>
            </a:r>
            <a:endParaRPr/>
          </a:p>
          <a:p>
            <a:pPr marL="0" lvl="0" indent="0" algn="l" rtl="0">
              <a:lnSpc>
                <a:spcPct val="100000"/>
              </a:lnSpc>
              <a:spcBef>
                <a:spcPts val="0"/>
              </a:spcBef>
              <a:spcAft>
                <a:spcPts val="0"/>
              </a:spcAft>
              <a:buClr>
                <a:schemeClr val="dk1"/>
              </a:buClr>
              <a:buSzPts val="1100"/>
              <a:buFont typeface="Arial"/>
              <a:buNone/>
            </a:pPr>
            <a:r>
              <a:rPr lang="es-ES"/>
              <a:t>- Dispone de permisos específicos sobre archivos, programas o recursos del sistema.</a:t>
            </a:r>
            <a:endParaRPr/>
          </a:p>
          <a:p>
            <a:pPr marL="0" lvl="0" indent="0" algn="l" rtl="0">
              <a:lnSpc>
                <a:spcPct val="100000"/>
              </a:lnSpc>
              <a:spcBef>
                <a:spcPts val="0"/>
              </a:spcBef>
              <a:spcAft>
                <a:spcPts val="0"/>
              </a:spcAft>
              <a:buClr>
                <a:schemeClr val="dk1"/>
              </a:buClr>
              <a:buSzPts val="1100"/>
              <a:buFont typeface="Arial"/>
              <a:buNone/>
            </a:pPr>
            <a:r>
              <a:rPr lang="es-ES"/>
              <a:t>- Puede ejecutar tareas sin afectar directamente a las de otros.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En sistemas de computación de alto rendimiento (HPC), la capacidad multiusuario es esencial:</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Decenas o cientos de usuarios trabajan simultáneamente en el mismo clúster.</a:t>
            </a:r>
            <a:endParaRPr/>
          </a:p>
          <a:p>
            <a:pPr marL="0" lvl="0" indent="0" algn="l" rtl="0">
              <a:lnSpc>
                <a:spcPct val="100000"/>
              </a:lnSpc>
              <a:spcBef>
                <a:spcPts val="0"/>
              </a:spcBef>
              <a:spcAft>
                <a:spcPts val="0"/>
              </a:spcAft>
              <a:buClr>
                <a:schemeClr val="dk1"/>
              </a:buClr>
              <a:buSzPts val="1100"/>
              <a:buFont typeface="Arial"/>
              <a:buNone/>
            </a:pPr>
            <a:r>
              <a:rPr lang="es-ES"/>
              <a:t>- Cada usuario ejecuta procesos, analiza datos y accede a software especializado.</a:t>
            </a:r>
            <a:endParaRPr/>
          </a:p>
          <a:p>
            <a:pPr marL="0" lvl="0" indent="0" algn="l" rtl="0">
              <a:lnSpc>
                <a:spcPct val="100000"/>
              </a:lnSpc>
              <a:spcBef>
                <a:spcPts val="0"/>
              </a:spcBef>
              <a:spcAft>
                <a:spcPts val="0"/>
              </a:spcAft>
              <a:buClr>
                <a:schemeClr val="dk1"/>
              </a:buClr>
              <a:buSzPts val="1100"/>
              <a:buFont typeface="Arial"/>
              <a:buNone/>
            </a:pPr>
            <a:r>
              <a:rPr lang="es-ES"/>
              <a:t>- El sistema operativo garantiza que cada sesión, archivo o proceso esté aislado y protegido, sin interferir con otros usuarios.</a:t>
            </a:r>
            <a:endParaRPr/>
          </a:p>
          <a:p>
            <a:pPr marL="0" lvl="0" indent="0" algn="l" rtl="0">
              <a:lnSpc>
                <a:spcPct val="100000"/>
              </a:lnSpc>
              <a:spcBef>
                <a:spcPts val="0"/>
              </a:spcBef>
              <a:spcAft>
                <a:spcPts val="0"/>
              </a:spcAft>
              <a:buSzPts val="1400"/>
              <a:buNone/>
            </a:pPr>
            <a:endParaRPr/>
          </a:p>
        </p:txBody>
      </p:sp>
      <p:sp>
        <p:nvSpPr>
          <p:cNvPr id="326" name="Google Shape;326;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70c1eac3df_0_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g370c1eac3df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Ahora que ya sabemos lo que es Linux, vamos a ver cual es su sistema de archivos</a:t>
            </a:r>
            <a:endParaRPr/>
          </a:p>
        </p:txBody>
      </p:sp>
      <p:sp>
        <p:nvSpPr>
          <p:cNvPr id="335" name="Google Shape;335;g370c1eac3df_0_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Que hemos visto que es uno de los tres elementos que configuran el sistema operativo.</a:t>
            </a:r>
            <a:endParaRPr/>
          </a:p>
        </p:txBody>
      </p:sp>
      <p:sp>
        <p:nvSpPr>
          <p:cNvPr id="344" name="Google Shape;344;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Vamos a empezar por ver algunas de las características de este sistema de archivos</a:t>
            </a:r>
            <a:endParaRPr/>
          </a:p>
        </p:txBody>
      </p:sp>
      <p:sp>
        <p:nvSpPr>
          <p:cNvPr id="358" name="Google Shape;358;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70c1eac3df_0_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g370c1eac3df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Un sistema de archivos es el componente del sistema operativo que organiza, almacena y recupera datos en un dispositivo de almacenamiento como un disco duro, SSD, pendrive o servidor.</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El sistema de archivos es lo que le da estructura a los datos. Permite:</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Guardar archivos y carpetas de forma organizada.</a:t>
            </a:r>
            <a:endParaRPr/>
          </a:p>
          <a:p>
            <a:pPr marL="0" lvl="0" indent="0" algn="l" rtl="0">
              <a:lnSpc>
                <a:spcPct val="100000"/>
              </a:lnSpc>
              <a:spcBef>
                <a:spcPts val="0"/>
              </a:spcBef>
              <a:spcAft>
                <a:spcPts val="0"/>
              </a:spcAft>
              <a:buClr>
                <a:schemeClr val="dk1"/>
              </a:buClr>
              <a:buSzPts val="1100"/>
              <a:buFont typeface="Arial"/>
              <a:buNone/>
            </a:pPr>
            <a:r>
              <a:rPr lang="es-ES"/>
              <a:t>- Acceder a ellos por su nombre, ruta y permisos.</a:t>
            </a:r>
            <a:endParaRPr/>
          </a:p>
          <a:p>
            <a:pPr marL="0" lvl="0" indent="0" algn="l" rtl="0">
              <a:lnSpc>
                <a:spcPct val="100000"/>
              </a:lnSpc>
              <a:spcBef>
                <a:spcPts val="0"/>
              </a:spcBef>
              <a:spcAft>
                <a:spcPts val="0"/>
              </a:spcAft>
              <a:buClr>
                <a:schemeClr val="dk1"/>
              </a:buClr>
              <a:buSzPts val="1100"/>
              <a:buFont typeface="Arial"/>
              <a:buNone/>
            </a:pPr>
            <a:r>
              <a:rPr lang="es-ES"/>
              <a:t>- Controlar quién puede leer, modificar o ejecutar cada archivo.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Cuando guardas un archivo (por ejemplo, un documento de texto), el sistema de archivos: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Lo divide en bloques físicos que se almacenan en el disco.</a:t>
            </a:r>
            <a:endParaRPr/>
          </a:p>
          <a:p>
            <a:pPr marL="0" lvl="0" indent="0" algn="l" rtl="0">
              <a:lnSpc>
                <a:spcPct val="100000"/>
              </a:lnSpc>
              <a:spcBef>
                <a:spcPts val="0"/>
              </a:spcBef>
              <a:spcAft>
                <a:spcPts val="0"/>
              </a:spcAft>
              <a:buClr>
                <a:schemeClr val="dk1"/>
              </a:buClr>
              <a:buSzPts val="1100"/>
              <a:buFont typeface="Arial"/>
              <a:buNone/>
            </a:pPr>
            <a:r>
              <a:rPr lang="es-ES"/>
              <a:t>- Asocia metadatos (nombre, fecha, permisos, tamaño, propietario).</a:t>
            </a:r>
            <a:endParaRPr/>
          </a:p>
          <a:p>
            <a:pPr marL="0" lvl="0" indent="0" algn="l" rtl="0">
              <a:lnSpc>
                <a:spcPct val="100000"/>
              </a:lnSpc>
              <a:spcBef>
                <a:spcPts val="0"/>
              </a:spcBef>
              <a:spcAft>
                <a:spcPts val="0"/>
              </a:spcAft>
              <a:buClr>
                <a:schemeClr val="dk1"/>
              </a:buClr>
              <a:buSzPts val="1100"/>
              <a:buFont typeface="Arial"/>
              <a:buNone/>
            </a:pPr>
            <a:r>
              <a:rPr lang="es-ES"/>
              <a:t>- Lo ubica en una jerarquía de carpetas para facilitar su localización.</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También gestiona:</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Permisos y propiedad</a:t>
            </a:r>
            <a:endParaRPr/>
          </a:p>
          <a:p>
            <a:pPr marL="0" lvl="0" indent="0" algn="l" rtl="0">
              <a:lnSpc>
                <a:spcPct val="100000"/>
              </a:lnSpc>
              <a:spcBef>
                <a:spcPts val="0"/>
              </a:spcBef>
              <a:spcAft>
                <a:spcPts val="0"/>
              </a:spcAft>
              <a:buClr>
                <a:schemeClr val="dk1"/>
              </a:buClr>
              <a:buSzPts val="1100"/>
              <a:buFont typeface="Arial"/>
              <a:buNone/>
            </a:pPr>
            <a:r>
              <a:rPr lang="es-ES"/>
              <a:t>- Tiempos de acceso/modificación</a:t>
            </a:r>
            <a:endParaRPr/>
          </a:p>
          <a:p>
            <a:pPr marL="0" lvl="0" indent="0" algn="l" rtl="0">
              <a:lnSpc>
                <a:spcPct val="100000"/>
              </a:lnSpc>
              <a:spcBef>
                <a:spcPts val="0"/>
              </a:spcBef>
              <a:spcAft>
                <a:spcPts val="0"/>
              </a:spcAft>
              <a:buClr>
                <a:schemeClr val="dk1"/>
              </a:buClr>
              <a:buSzPts val="1100"/>
              <a:buFont typeface="Arial"/>
              <a:buNone/>
            </a:pPr>
            <a:r>
              <a:rPr lang="es-ES"/>
              <a:t>- Espacio libre y ocupado</a:t>
            </a:r>
            <a:endParaRPr/>
          </a:p>
          <a:p>
            <a:pPr marL="0" lvl="0" indent="0" algn="l" rtl="0">
              <a:lnSpc>
                <a:spcPct val="100000"/>
              </a:lnSpc>
              <a:spcBef>
                <a:spcPts val="0"/>
              </a:spcBef>
              <a:spcAft>
                <a:spcPts val="0"/>
              </a:spcAft>
              <a:buClr>
                <a:schemeClr val="dk1"/>
              </a:buClr>
              <a:buSzPts val="1100"/>
              <a:buFont typeface="Arial"/>
              <a:buNone/>
            </a:pPr>
            <a:r>
              <a:rPr lang="es-ES"/>
              <a:t>- Integridad y recuperación ante errores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367" name="Google Shape;367;g370c1eac3df_0_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44e220f39a_2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g344e220f39a_2_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228600" marR="0" lvl="0" indent="-228600" algn="l" rtl="0">
              <a:lnSpc>
                <a:spcPct val="100000"/>
              </a:lnSpc>
              <a:spcBef>
                <a:spcPts val="0"/>
              </a:spcBef>
              <a:spcAft>
                <a:spcPts val="0"/>
              </a:spcAft>
              <a:buClr>
                <a:schemeClr val="dk1"/>
              </a:buClr>
              <a:buSzPts val="1200"/>
              <a:buFont typeface="Calibri"/>
              <a:buAutoNum type="arabicPeriod"/>
            </a:pPr>
            <a:r>
              <a:rPr lang="es-ES"/>
              <a:t>La estructura de ficheros de Linux es una estructura jerárquica en forma de árbol invertido, donde el directorio principal (directorio raíz) es el directorio /, del que cuelga toda la estructura del sistema.</a:t>
            </a:r>
            <a:endParaRPr/>
          </a:p>
          <a:p>
            <a:pPr marL="228600" lvl="0" indent="-228600" algn="l" rtl="0">
              <a:lnSpc>
                <a:spcPct val="100000"/>
              </a:lnSpc>
              <a:spcBef>
                <a:spcPts val="0"/>
              </a:spcBef>
              <a:spcAft>
                <a:spcPts val="0"/>
              </a:spcAft>
              <a:buClr>
                <a:schemeClr val="dk1"/>
              </a:buClr>
              <a:buSzPts val="1200"/>
              <a:buFont typeface="Calibri"/>
              <a:buAutoNum type="arabicPeriod"/>
            </a:pPr>
            <a:r>
              <a:rPr lang="es-ES"/>
              <a:t>En Linux, todo son ficheros, tanto los archivos de texto, como los directorios o carpetas, como los dispositivos que están conectados al ordenador, todo está representado como si fueran ficheros.</a:t>
            </a:r>
            <a:endParaRPr/>
          </a:p>
          <a:p>
            <a:pPr marL="228600" lvl="0" indent="-228600" algn="l" rtl="0">
              <a:lnSpc>
                <a:spcPct val="100000"/>
              </a:lnSpc>
              <a:spcBef>
                <a:spcPts val="0"/>
              </a:spcBef>
              <a:spcAft>
                <a:spcPts val="0"/>
              </a:spcAft>
              <a:buClr>
                <a:schemeClr val="dk1"/>
              </a:buClr>
              <a:buSzPts val="1200"/>
              <a:buFont typeface="Calibri"/>
              <a:buAutoNum type="arabicPeriod"/>
            </a:pPr>
            <a:r>
              <a:rPr lang="es-ES"/>
              <a:t>Todo tiene rutas, que hay que especificar</a:t>
            </a:r>
            <a:endParaRPr/>
          </a:p>
          <a:p>
            <a:pPr marL="228600" lvl="0" indent="-228600" algn="l" rtl="0">
              <a:lnSpc>
                <a:spcPct val="100000"/>
              </a:lnSpc>
              <a:spcBef>
                <a:spcPts val="0"/>
              </a:spcBef>
              <a:spcAft>
                <a:spcPts val="0"/>
              </a:spcAft>
              <a:buClr>
                <a:schemeClr val="dk1"/>
              </a:buClr>
              <a:buSzPts val="1200"/>
              <a:buFont typeface="Calibri"/>
              <a:buAutoNum type="arabicPeriod"/>
            </a:pPr>
            <a:r>
              <a:rPr lang="es-ES"/>
              <a:t>Es sensible a las mayúsculas y minúsculas.</a:t>
            </a:r>
            <a:endParaRPr/>
          </a:p>
          <a:p>
            <a:pPr marL="228600" lvl="0" indent="-228600" algn="l" rtl="0">
              <a:lnSpc>
                <a:spcPct val="100000"/>
              </a:lnSpc>
              <a:spcBef>
                <a:spcPts val="0"/>
              </a:spcBef>
              <a:spcAft>
                <a:spcPts val="0"/>
              </a:spcAft>
              <a:buClr>
                <a:schemeClr val="dk1"/>
              </a:buClr>
              <a:buSzPts val="1200"/>
              <a:buFont typeface="Calibri"/>
              <a:buAutoNum type="arabicPeriod"/>
            </a:pPr>
            <a:r>
              <a:rPr lang="es-ES"/>
              <a:t>Además, no existe el concepto de extensiones y existen los archivos ocultos.</a:t>
            </a:r>
            <a:endParaRPr/>
          </a:p>
        </p:txBody>
      </p:sp>
      <p:sp>
        <p:nvSpPr>
          <p:cNvPr id="375" name="Google Shape;375;g344e220f39a_2_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70c1eac3df_0_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g370c1eac3df_0_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En cuanto a la estructura del sistema de archivos</a:t>
            </a:r>
            <a:endParaRPr/>
          </a:p>
        </p:txBody>
      </p:sp>
      <p:sp>
        <p:nvSpPr>
          <p:cNvPr id="383" name="Google Shape;383;g370c1eac3df_0_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Como mencionabamos antes, el sistema de archivos de Linux está organizado en forma de árbol jerárquico invertido, comenzando en la parte superior con el directorio raíz, representado por `/`.</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Desde este punto se ramifican todos los demás directorios y archivos del sistema. Esta estructura permite una organización lógica, eficiente y modular de todos los componentes del sistema operativo, así como los archivos de los usuarios.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 (Root (Raíz)): Es el punto de partida del sistema de archivos. Todos los demás archivos y carpetas están contenidos o enlazados desde aquí. Es el núcleo de la jerarquía.</a:t>
            </a:r>
            <a:endParaRPr/>
          </a:p>
          <a:p>
            <a:pPr marL="0" lvl="0" indent="0" algn="l" rtl="0">
              <a:lnSpc>
                <a:spcPct val="100000"/>
              </a:lnSpc>
              <a:spcBef>
                <a:spcPts val="0"/>
              </a:spcBef>
              <a:spcAft>
                <a:spcPts val="0"/>
              </a:spcAft>
              <a:buClr>
                <a:schemeClr val="dk1"/>
              </a:buClr>
              <a:buSzPts val="1100"/>
              <a:buFont typeface="Arial"/>
              <a:buNone/>
            </a:pPr>
            <a:r>
              <a:rPr lang="es-ES"/>
              <a:t>- `/bin` (Binary): Contiene programas ejecutables esenciales, necesarios tanto para el sistema como para todos los usuarios. Son comandos básicos que se deben poder ejecutar incluso en modo de rescate o sin montar otras particiones.</a:t>
            </a:r>
            <a:endParaRPr/>
          </a:p>
          <a:p>
            <a:pPr marL="0" lvl="0" indent="0" algn="l" rtl="0">
              <a:lnSpc>
                <a:spcPct val="100000"/>
              </a:lnSpc>
              <a:spcBef>
                <a:spcPts val="0"/>
              </a:spcBef>
              <a:spcAft>
                <a:spcPts val="0"/>
              </a:spcAft>
              <a:buClr>
                <a:schemeClr val="dk1"/>
              </a:buClr>
              <a:buSzPts val="1100"/>
              <a:buFont typeface="Arial"/>
              <a:buNone/>
            </a:pPr>
            <a:r>
              <a:rPr lang="es-ES"/>
              <a:t>- `/usr` (User system resources): Contiene programas y utilidades de uso general para los usuarios. Dentro de `/usr` también hay subdirectorios como:</a:t>
            </a:r>
            <a:endParaRPr/>
          </a:p>
          <a:p>
            <a:pPr marL="0" lvl="0" indent="0" algn="l" rtl="0">
              <a:lnSpc>
                <a:spcPct val="100000"/>
              </a:lnSpc>
              <a:spcBef>
                <a:spcPts val="0"/>
              </a:spcBef>
              <a:spcAft>
                <a:spcPts val="0"/>
              </a:spcAft>
              <a:buClr>
                <a:schemeClr val="dk1"/>
              </a:buClr>
              <a:buSzPts val="1100"/>
              <a:buFont typeface="Arial"/>
              <a:buNone/>
            </a:pPr>
            <a:r>
              <a:rPr lang="es-ES"/>
              <a:t>    - `/usr/bin`: comandos no esenciales para todos los usuarios.</a:t>
            </a:r>
            <a:endParaRPr/>
          </a:p>
          <a:p>
            <a:pPr marL="0" lvl="0" indent="0" algn="l" rtl="0">
              <a:lnSpc>
                <a:spcPct val="100000"/>
              </a:lnSpc>
              <a:spcBef>
                <a:spcPts val="0"/>
              </a:spcBef>
              <a:spcAft>
                <a:spcPts val="0"/>
              </a:spcAft>
              <a:buClr>
                <a:schemeClr val="dk1"/>
              </a:buClr>
              <a:buSzPts val="1100"/>
              <a:buFont typeface="Arial"/>
              <a:buNone/>
            </a:pPr>
            <a:r>
              <a:rPr lang="es-ES"/>
              <a:t>    - `/usr/sbin`: herramientas administrativas.</a:t>
            </a:r>
            <a:endParaRPr/>
          </a:p>
          <a:p>
            <a:pPr marL="0" lvl="0" indent="0" algn="l" rtl="0">
              <a:lnSpc>
                <a:spcPct val="100000"/>
              </a:lnSpc>
              <a:spcBef>
                <a:spcPts val="0"/>
              </a:spcBef>
              <a:spcAft>
                <a:spcPts val="0"/>
              </a:spcAft>
              <a:buClr>
                <a:schemeClr val="dk1"/>
              </a:buClr>
              <a:buSzPts val="1100"/>
              <a:buFont typeface="Arial"/>
              <a:buNone/>
            </a:pPr>
            <a:r>
              <a:rPr lang="es-ES"/>
              <a:t>    - `/usr/lib`: bibliotecas compartidas.</a:t>
            </a:r>
            <a:endParaRPr/>
          </a:p>
          <a:p>
            <a:pPr marL="0" lvl="0" indent="0" algn="l" rtl="0">
              <a:lnSpc>
                <a:spcPct val="100000"/>
              </a:lnSpc>
              <a:spcBef>
                <a:spcPts val="0"/>
              </a:spcBef>
              <a:spcAft>
                <a:spcPts val="0"/>
              </a:spcAft>
              <a:buClr>
                <a:schemeClr val="dk1"/>
              </a:buClr>
              <a:buSzPts val="1100"/>
              <a:buFont typeface="Arial"/>
              <a:buNone/>
            </a:pPr>
            <a:r>
              <a:rPr lang="es-ES"/>
              <a:t>- `/var` (Variable): Contiene archivos cuyo contenido cambia con el tiempo:</a:t>
            </a:r>
            <a:endParaRPr/>
          </a:p>
          <a:p>
            <a:pPr marL="0" lvl="0" indent="0" algn="l" rtl="0">
              <a:lnSpc>
                <a:spcPct val="100000"/>
              </a:lnSpc>
              <a:spcBef>
                <a:spcPts val="0"/>
              </a:spcBef>
              <a:spcAft>
                <a:spcPts val="0"/>
              </a:spcAft>
              <a:buClr>
                <a:schemeClr val="dk1"/>
              </a:buClr>
              <a:buSzPts val="1100"/>
              <a:buFont typeface="Arial"/>
              <a:buNone/>
            </a:pPr>
            <a:r>
              <a:rPr lang="es-ES"/>
              <a:t>    - Logs del sistema (/var/log)</a:t>
            </a:r>
            <a:endParaRPr/>
          </a:p>
          <a:p>
            <a:pPr marL="0" lvl="0" indent="0" algn="l" rtl="0">
              <a:lnSpc>
                <a:spcPct val="100000"/>
              </a:lnSpc>
              <a:spcBef>
                <a:spcPts val="0"/>
              </a:spcBef>
              <a:spcAft>
                <a:spcPts val="0"/>
              </a:spcAft>
              <a:buClr>
                <a:schemeClr val="dk1"/>
              </a:buClr>
              <a:buSzPts val="1100"/>
              <a:buFont typeface="Arial"/>
              <a:buNone/>
            </a:pPr>
            <a:r>
              <a:rPr lang="es-ES"/>
              <a:t>    - Bases de datos temporales</a:t>
            </a:r>
            <a:endParaRPr/>
          </a:p>
          <a:p>
            <a:pPr marL="0" lvl="0" indent="0" algn="l" rtl="0">
              <a:lnSpc>
                <a:spcPct val="100000"/>
              </a:lnSpc>
              <a:spcBef>
                <a:spcPts val="0"/>
              </a:spcBef>
              <a:spcAft>
                <a:spcPts val="0"/>
              </a:spcAft>
              <a:buClr>
                <a:schemeClr val="dk1"/>
              </a:buClr>
              <a:buSzPts val="1100"/>
              <a:buFont typeface="Arial"/>
              <a:buNone/>
            </a:pPr>
            <a:r>
              <a:rPr lang="es-ES"/>
              <a:t>    - Correos electrónicos del sistema</a:t>
            </a:r>
            <a:endParaRPr/>
          </a:p>
          <a:p>
            <a:pPr marL="0" lvl="0" indent="0" algn="l" rtl="0">
              <a:lnSpc>
                <a:spcPct val="100000"/>
              </a:lnSpc>
              <a:spcBef>
                <a:spcPts val="0"/>
              </a:spcBef>
              <a:spcAft>
                <a:spcPts val="0"/>
              </a:spcAft>
              <a:buClr>
                <a:schemeClr val="dk1"/>
              </a:buClr>
              <a:buSzPts val="1100"/>
              <a:buFont typeface="Arial"/>
              <a:buNone/>
            </a:pPr>
            <a:r>
              <a:rPr lang="es-ES"/>
              <a:t>    - Cachés</a:t>
            </a:r>
            <a:endParaRPr/>
          </a:p>
          <a:p>
            <a:pPr marL="0" lvl="0" indent="0" algn="l" rtl="0">
              <a:lnSpc>
                <a:spcPct val="100000"/>
              </a:lnSpc>
              <a:spcBef>
                <a:spcPts val="0"/>
              </a:spcBef>
              <a:spcAft>
                <a:spcPts val="0"/>
              </a:spcAft>
              <a:buClr>
                <a:schemeClr val="dk1"/>
              </a:buClr>
              <a:buSzPts val="1100"/>
              <a:buFont typeface="Arial"/>
              <a:buNone/>
            </a:pPr>
            <a:r>
              <a:rPr lang="es-ES"/>
              <a:t>    - Archivos de spool (como colas de impresión o correos)</a:t>
            </a:r>
            <a:endParaRPr/>
          </a:p>
          <a:p>
            <a:pPr marL="0" lvl="0" indent="0" algn="l" rtl="0">
              <a:lnSpc>
                <a:spcPct val="100000"/>
              </a:lnSpc>
              <a:spcBef>
                <a:spcPts val="0"/>
              </a:spcBef>
              <a:spcAft>
                <a:spcPts val="0"/>
              </a:spcAft>
              <a:buClr>
                <a:schemeClr val="dk1"/>
              </a:buClr>
              <a:buSzPts val="1100"/>
              <a:buFont typeface="Arial"/>
              <a:buNone/>
            </a:pPr>
            <a:r>
              <a:rPr lang="es-ES"/>
              <a:t>- `/etc`: Configuraciones del sistema y servicios.</a:t>
            </a:r>
            <a:endParaRPr/>
          </a:p>
          <a:p>
            <a:pPr marL="0" lvl="0" indent="0" algn="l" rtl="0">
              <a:lnSpc>
                <a:spcPct val="100000"/>
              </a:lnSpc>
              <a:spcBef>
                <a:spcPts val="0"/>
              </a:spcBef>
              <a:spcAft>
                <a:spcPts val="0"/>
              </a:spcAft>
              <a:buClr>
                <a:schemeClr val="dk1"/>
              </a:buClr>
              <a:buSzPts val="1100"/>
              <a:buFont typeface="Arial"/>
              <a:buNone/>
            </a:pPr>
            <a:r>
              <a:rPr lang="es-ES"/>
              <a:t>- `/root`: Directorio personal del superusuario (root).</a:t>
            </a:r>
            <a:endParaRPr/>
          </a:p>
          <a:p>
            <a:pPr marL="0" lvl="0" indent="0" algn="l" rtl="0">
              <a:lnSpc>
                <a:spcPct val="100000"/>
              </a:lnSpc>
              <a:spcBef>
                <a:spcPts val="0"/>
              </a:spcBef>
              <a:spcAft>
                <a:spcPts val="0"/>
              </a:spcAft>
              <a:buClr>
                <a:schemeClr val="dk1"/>
              </a:buClr>
              <a:buSzPts val="1100"/>
              <a:buFont typeface="Arial"/>
              <a:buNone/>
            </a:pPr>
            <a:r>
              <a:rPr lang="es-ES"/>
              <a:t>- `/sbin`: Comandos del sistema usados por el administrador.</a:t>
            </a:r>
            <a:endParaRPr/>
          </a:p>
          <a:p>
            <a:pPr marL="0" lvl="0" indent="0" algn="l" rtl="0">
              <a:lnSpc>
                <a:spcPct val="100000"/>
              </a:lnSpc>
              <a:spcBef>
                <a:spcPts val="0"/>
              </a:spcBef>
              <a:spcAft>
                <a:spcPts val="0"/>
              </a:spcAft>
              <a:buClr>
                <a:schemeClr val="dk1"/>
              </a:buClr>
              <a:buSzPts val="1100"/>
              <a:buFont typeface="Arial"/>
              <a:buNone/>
            </a:pPr>
            <a:r>
              <a:rPr lang="es-ES"/>
              <a:t>- `/tmp`: Archivos temporales (borrados al reiniciar).</a:t>
            </a:r>
            <a:endParaRPr/>
          </a:p>
          <a:p>
            <a:pPr marL="0" lvl="0" indent="0" algn="l" rtl="0">
              <a:lnSpc>
                <a:spcPct val="100000"/>
              </a:lnSpc>
              <a:spcBef>
                <a:spcPts val="0"/>
              </a:spcBef>
              <a:spcAft>
                <a:spcPts val="0"/>
              </a:spcAft>
              <a:buClr>
                <a:schemeClr val="dk1"/>
              </a:buClr>
              <a:buSzPts val="1100"/>
              <a:buFont typeface="Arial"/>
              <a:buNone/>
            </a:pPr>
            <a:r>
              <a:rPr lang="es-ES"/>
              <a:t>- `/dev`: Archivos especiales que representan dispositivos del sistema.</a:t>
            </a:r>
            <a:endParaRPr/>
          </a:p>
          <a:p>
            <a:pPr marL="0" lvl="0" indent="0" algn="l" rtl="0">
              <a:lnSpc>
                <a:spcPct val="100000"/>
              </a:lnSpc>
              <a:spcBef>
                <a:spcPts val="0"/>
              </a:spcBef>
              <a:spcAft>
                <a:spcPts val="0"/>
              </a:spcAft>
              <a:buClr>
                <a:schemeClr val="dk1"/>
              </a:buClr>
              <a:buSzPts val="1100"/>
              <a:buFont typeface="Arial"/>
              <a:buNone/>
            </a:pPr>
            <a:r>
              <a:rPr lang="es-ES"/>
              <a:t>- `/lib`: Bibliotecas compartidas necesarias para ejecutar comandos de /bin y /sbin.</a:t>
            </a:r>
            <a:endParaRPr/>
          </a:p>
          <a:p>
            <a:pPr marL="0" lvl="0" indent="0" algn="l" rtl="0">
              <a:lnSpc>
                <a:spcPct val="100000"/>
              </a:lnSpc>
              <a:spcBef>
                <a:spcPts val="0"/>
              </a:spcBef>
              <a:spcAft>
                <a:spcPts val="0"/>
              </a:spcAft>
              <a:buSzPts val="1400"/>
              <a:buNone/>
            </a:pPr>
            <a:endParaRPr/>
          </a:p>
        </p:txBody>
      </p:sp>
      <p:sp>
        <p:nvSpPr>
          <p:cNvPr id="392" name="Google Shape;392;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2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sz="1200">
                <a:solidFill>
                  <a:schemeClr val="dk1"/>
                </a:solidFill>
                <a:latin typeface="Calibri"/>
                <a:ea typeface="Calibri"/>
                <a:cs typeface="Calibri"/>
                <a:sym typeface="Calibri"/>
              </a:rPr>
              <a:t>/home es un directorio donde se encuentran los directorios personales de los usuarios del sistema. Donde están las carpetas de cada usuario del ordenador con su escritorio.</a:t>
            </a:r>
            <a:endParaRPr/>
          </a:p>
          <a:p>
            <a:pPr marL="0" lvl="0" indent="0" algn="l" rtl="0">
              <a:lnSpc>
                <a:spcPct val="100000"/>
              </a:lnSpc>
              <a:spcBef>
                <a:spcPts val="0"/>
              </a:spcBef>
              <a:spcAft>
                <a:spcPts val="0"/>
              </a:spcAft>
              <a:buSzPts val="1400"/>
              <a:buNone/>
            </a:pPr>
            <a:r>
              <a:rPr lang="es-ES"/>
              <a:t>/mnt, a veces también se le llama /media y es el directorio que contiene todas las unidades físicas que tenemos montadas: discos duros, unidades de DVD, pen drives, etc.</a:t>
            </a:r>
            <a:endParaRPr/>
          </a:p>
          <a:p>
            <a:pPr marL="0" lvl="0" indent="0" algn="l" rtl="0">
              <a:lnSpc>
                <a:spcPct val="100000"/>
              </a:lnSpc>
              <a:spcBef>
                <a:spcPts val="0"/>
              </a:spcBef>
              <a:spcAft>
                <a:spcPts val="0"/>
              </a:spcAft>
              <a:buSzPts val="1400"/>
              <a:buNone/>
            </a:pPr>
            <a:r>
              <a:rPr lang="es-ES"/>
              <a:t>/opt sirve para admitir ficheros nuevos creados tras la modificación del sistema. Es un punto de montaje desde el que se instalan los paquetes de aplicación adicionales. En nuestro caso es donde se realiza la instalación del software bioinformático.</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70c1eac3df_0_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g370c1eac3df_0_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Vamos a ver una pequeña comparación con el SO windows:</a:t>
            </a:r>
            <a:endParaRPr/>
          </a:p>
        </p:txBody>
      </p:sp>
      <p:sp>
        <p:nvSpPr>
          <p:cNvPr id="413" name="Google Shape;413;g370c1eac3df_0_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1" name="Google Shape;421;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Organización:</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En Linux, todo el sistema de archivos se organiza como un único árbol jerárquico que parte desde un directorio raíz, representado por la barra `/`. Esto significa que no importa cuántas particiones o discos tenga el equipo, todos los elementos (discos, carpetas, archivos, dispositivos externos) se integran en ese único árbol de directorios bajo `/`. Por ejemplo, la carpeta `/home`, que es donde residen los archivos personales de los usuarios (similar a "Usuarios" en Windows), siempre cuelga del directorio raíz. Esto da una estructura más uniforme y predecible.</a:t>
            </a:r>
            <a:endParaRPr/>
          </a:p>
          <a:p>
            <a:pPr marL="0" lvl="0" indent="0" algn="l" rtl="0">
              <a:lnSpc>
                <a:spcPct val="100000"/>
              </a:lnSpc>
              <a:spcBef>
                <a:spcPts val="0"/>
              </a:spcBef>
              <a:spcAft>
                <a:spcPts val="0"/>
              </a:spcAft>
              <a:buClr>
                <a:schemeClr val="dk1"/>
              </a:buClr>
              <a:buSzPts val="1100"/>
              <a:buFont typeface="Arial"/>
              <a:buNone/>
            </a:pPr>
            <a:r>
              <a:rPr lang="es-ES"/>
              <a:t>- En cambio, en Windows, los sistemas de archivos se organizan por unidades de disco, asignando una letra a cada partición o dispositivo (como C:\, D:\, E:\, etc.). Por eso, una carpeta como "Usuarios" puede estar en C:\ o en D:\, según cómo se haya configurado el sistema.</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Otro punto importante es cómo se gestionan los dispositivos externos, como un CD, una memoria USB o un disco duro externo: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En Linux, cuando conectas un dispositivo, este se “monta” dentro del sistema de archivos, lo que significa que se le asigna un punto de acceso dentro del árbol. Por convención, los dispositivos suelen montarse en el directorio `/mnt` (de mount, montar) o en `/media`. Esto permite acceder al contenido del dispositivo como si fuese parte del mismo sistema de archivos.</a:t>
            </a:r>
            <a:endParaRPr/>
          </a:p>
          <a:p>
            <a:pPr marL="0" lvl="0" indent="0" algn="l" rtl="0">
              <a:lnSpc>
                <a:spcPct val="100000"/>
              </a:lnSpc>
              <a:spcBef>
                <a:spcPts val="0"/>
              </a:spcBef>
              <a:spcAft>
                <a:spcPts val="0"/>
              </a:spcAft>
              <a:buClr>
                <a:schemeClr val="dk1"/>
              </a:buClr>
              <a:buSzPts val="1100"/>
              <a:buFont typeface="Arial"/>
              <a:buNone/>
            </a:pPr>
            <a:r>
              <a:rPr lang="es-ES"/>
              <a:t>- En Windows, cuando conectas un dispositivo, el sistema le asigna una nueva letra de unidad (por ejemplo, E:\), y lo muestra en el explorador de archivos bajo “Este equipo” (antes “Mi PC”), como si fuera un disco independiente.</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Esta diferencia refleja filosofías distintas: Linux apuesta por una organización unificada y coherente, mientras que Windows se basa en una estructura modular por unidades, más intuitiva para el usuario general pero menos flexible para administradores y servidores.</a:t>
            </a:r>
            <a:endParaRPr/>
          </a:p>
          <a:p>
            <a:pPr marL="0" lvl="0" indent="0" algn="l" rtl="0">
              <a:lnSpc>
                <a:spcPct val="100000"/>
              </a:lnSpc>
              <a:spcBef>
                <a:spcPts val="0"/>
              </a:spcBef>
              <a:spcAft>
                <a:spcPts val="0"/>
              </a:spcAft>
              <a:buSzPts val="1400"/>
              <a:buNone/>
            </a:pPr>
            <a:endParaRPr/>
          </a:p>
        </p:txBody>
      </p:sp>
      <p:sp>
        <p:nvSpPr>
          <p:cNvPr id="422" name="Google Shape;422;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70c1eac3df_0_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g370c1eac3df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Ahora vamos a trabajar el concepto de ruta</a:t>
            </a:r>
            <a:endParaRPr/>
          </a:p>
        </p:txBody>
      </p:sp>
      <p:sp>
        <p:nvSpPr>
          <p:cNvPr id="431" name="Google Shape;431;g370c1eac3df_0_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 name="Google Shape;439;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En los sistemas operativos como Linux, cada archivo o carpeta tiene una “dirección” que indica dónde se encuentra dentro del sistema. Esta dirección se llama ruta (o path, en inglés), y se expresa como una secuencia de directorios separados por barras (/) que debemos recorrer para llegar hasta el archivo deseado.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Como veníamos viendo, Linux organiza su sistema de archivos como un árbol jerárquico que comienza en el directorio raíz, representado por `/`. A partir de ahí, se ramifican todas las carpetas y archivos del sistema. Esta estructura nos permite acceder a los archivos utilizando dos tipos de rutas: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 **Ruta absoluta**:</a:t>
            </a:r>
            <a:endParaRPr/>
          </a:p>
          <a:p>
            <a:pPr marL="0" lvl="0" indent="0" algn="l" rtl="0">
              <a:lnSpc>
                <a:spcPct val="100000"/>
              </a:lnSpc>
              <a:spcBef>
                <a:spcPts val="0"/>
              </a:spcBef>
              <a:spcAft>
                <a:spcPts val="0"/>
              </a:spcAft>
              <a:buClr>
                <a:schemeClr val="dk1"/>
              </a:buClr>
              <a:buSzPts val="1100"/>
              <a:buFont typeface="Arial"/>
              <a:buNone/>
            </a:pPr>
            <a:r>
              <a:rPr lang="es-ES"/>
              <a:t>  - La ruta absoluta comienza siempre desde el directorio raíz (/) y describe el camino completo hasta un archivo, sin importar en qué carpeta estemos actualmente.</a:t>
            </a:r>
            <a:endParaRPr/>
          </a:p>
          <a:p>
            <a:pPr marL="0" lvl="0" indent="0" algn="l" rtl="0">
              <a:lnSpc>
                <a:spcPct val="100000"/>
              </a:lnSpc>
              <a:spcBef>
                <a:spcPts val="0"/>
              </a:spcBef>
              <a:spcAft>
                <a:spcPts val="0"/>
              </a:spcAft>
              <a:buClr>
                <a:schemeClr val="dk1"/>
              </a:buClr>
              <a:buSzPts val="1100"/>
              <a:buFont typeface="Arial"/>
              <a:buNone/>
            </a:pPr>
            <a:r>
              <a:rPr lang="es-ES"/>
              <a:t>  - Siempre es la misma, porque parte desde la base del sistema.</a:t>
            </a:r>
            <a:endParaRPr/>
          </a:p>
          <a:p>
            <a:pPr marL="0" lvl="0" indent="0" algn="l" rtl="0">
              <a:lnSpc>
                <a:spcPct val="100000"/>
              </a:lnSpc>
              <a:spcBef>
                <a:spcPts val="0"/>
              </a:spcBef>
              <a:spcAft>
                <a:spcPts val="0"/>
              </a:spcAft>
              <a:buClr>
                <a:schemeClr val="dk1"/>
              </a:buClr>
              <a:buSzPts val="1100"/>
              <a:buFont typeface="Arial"/>
              <a:buNone/>
            </a:pPr>
            <a:r>
              <a:rPr lang="es-ES"/>
              <a:t>  - Ejemplo: `/home/alumno1/dir1/libro.txt`</a:t>
            </a:r>
            <a:endParaRPr/>
          </a:p>
          <a:p>
            <a:pPr marL="0" lvl="0" indent="0" algn="l" rtl="0">
              <a:lnSpc>
                <a:spcPct val="100000"/>
              </a:lnSpc>
              <a:spcBef>
                <a:spcPts val="0"/>
              </a:spcBef>
              <a:spcAft>
                <a:spcPts val="0"/>
              </a:spcAft>
              <a:buClr>
                <a:schemeClr val="dk1"/>
              </a:buClr>
              <a:buSzPts val="1100"/>
              <a:buFont typeface="Arial"/>
              <a:buNone/>
            </a:pPr>
            <a:r>
              <a:rPr lang="es-ES"/>
              <a:t>    - Esta ruta va desde el directorio raíz, entra en home, luego en alumno1, luego en dir1, y finalmente llega al archivo libro.txt.</a:t>
            </a:r>
            <a:endParaRPr/>
          </a:p>
          <a:p>
            <a:pPr marL="0" lvl="0" indent="0" algn="l" rtl="0">
              <a:lnSpc>
                <a:spcPct val="100000"/>
              </a:lnSpc>
              <a:spcBef>
                <a:spcPts val="0"/>
              </a:spcBef>
              <a:spcAft>
                <a:spcPts val="0"/>
              </a:spcAft>
              <a:buClr>
                <a:schemeClr val="dk1"/>
              </a:buClr>
              <a:buSzPts val="1100"/>
              <a:buFont typeface="Arial"/>
              <a:buNone/>
            </a:pPr>
            <a:r>
              <a:rPr lang="es-ES"/>
              <a:t>- **Ruta relativa**:</a:t>
            </a:r>
            <a:endParaRPr/>
          </a:p>
          <a:p>
            <a:pPr marL="0" lvl="0" indent="0" algn="l" rtl="0">
              <a:lnSpc>
                <a:spcPct val="100000"/>
              </a:lnSpc>
              <a:spcBef>
                <a:spcPts val="0"/>
              </a:spcBef>
              <a:spcAft>
                <a:spcPts val="0"/>
              </a:spcAft>
              <a:buClr>
                <a:schemeClr val="dk1"/>
              </a:buClr>
              <a:buSzPts val="1100"/>
              <a:buFont typeface="Arial"/>
              <a:buNone/>
            </a:pPr>
            <a:r>
              <a:rPr lang="es-ES"/>
              <a:t>  - La ruta relativa parte desde el directorio en el que nos encontramos actualmente. </a:t>
            </a:r>
            <a:endParaRPr/>
          </a:p>
          <a:p>
            <a:pPr marL="0" lvl="0" indent="0" algn="l" rtl="0">
              <a:lnSpc>
                <a:spcPct val="100000"/>
              </a:lnSpc>
              <a:spcBef>
                <a:spcPts val="0"/>
              </a:spcBef>
              <a:spcAft>
                <a:spcPts val="0"/>
              </a:spcAft>
              <a:buClr>
                <a:schemeClr val="dk1"/>
              </a:buClr>
              <a:buSzPts val="1100"/>
              <a:buFont typeface="Arial"/>
              <a:buNone/>
            </a:pPr>
            <a:r>
              <a:rPr lang="es-ES"/>
              <a:t>  - Por eso, cambia según nuestra ubicación dentro del sistema de archivos.</a:t>
            </a:r>
            <a:endParaRPr/>
          </a:p>
          <a:p>
            <a:pPr marL="0" lvl="0" indent="0" algn="l" rtl="0">
              <a:lnSpc>
                <a:spcPct val="100000"/>
              </a:lnSpc>
              <a:spcBef>
                <a:spcPts val="0"/>
              </a:spcBef>
              <a:spcAft>
                <a:spcPts val="0"/>
              </a:spcAft>
              <a:buClr>
                <a:schemeClr val="dk1"/>
              </a:buClr>
              <a:buSzPts val="1100"/>
              <a:buFont typeface="Arial"/>
              <a:buNone/>
            </a:pPr>
            <a:r>
              <a:rPr lang="es-ES"/>
              <a:t>    - `.` (punto) representa el directorio actual.</a:t>
            </a:r>
            <a:endParaRPr/>
          </a:p>
          <a:p>
            <a:pPr marL="0" lvl="0" indent="0" algn="l" rtl="0">
              <a:lnSpc>
                <a:spcPct val="100000"/>
              </a:lnSpc>
              <a:spcBef>
                <a:spcPts val="0"/>
              </a:spcBef>
              <a:spcAft>
                <a:spcPts val="0"/>
              </a:spcAft>
              <a:buClr>
                <a:schemeClr val="dk1"/>
              </a:buClr>
              <a:buSzPts val="1100"/>
              <a:buFont typeface="Arial"/>
              <a:buNone/>
            </a:pPr>
            <a:r>
              <a:rPr lang="es-ES"/>
              <a:t>    - `..` (dos puntos) representa el directorio padre (el nivel superior).</a:t>
            </a:r>
            <a:endParaRPr/>
          </a:p>
          <a:p>
            <a:pPr marL="0" lvl="0" indent="0" algn="l" rtl="0">
              <a:lnSpc>
                <a:spcPct val="100000"/>
              </a:lnSpc>
              <a:spcBef>
                <a:spcPts val="0"/>
              </a:spcBef>
              <a:spcAft>
                <a:spcPts val="0"/>
              </a:spcAft>
              <a:buClr>
                <a:schemeClr val="dk1"/>
              </a:buClr>
              <a:buSzPts val="1100"/>
              <a:buFont typeface="Arial"/>
              <a:buNone/>
            </a:pPr>
            <a:r>
              <a:rPr lang="es-ES"/>
              <a:t>  - Ejemplos:</a:t>
            </a:r>
            <a:endParaRPr/>
          </a:p>
          <a:p>
            <a:pPr marL="0" lvl="0" indent="0" algn="l" rtl="0">
              <a:lnSpc>
                <a:spcPct val="100000"/>
              </a:lnSpc>
              <a:spcBef>
                <a:spcPts val="0"/>
              </a:spcBef>
              <a:spcAft>
                <a:spcPts val="0"/>
              </a:spcAft>
              <a:buClr>
                <a:schemeClr val="dk1"/>
              </a:buClr>
              <a:buSzPts val="1100"/>
              <a:buFont typeface="Arial"/>
              <a:buNone/>
            </a:pPr>
            <a:r>
              <a:rPr lang="es-ES"/>
              <a:t>    - Si estamos en `/home`, la ruta relativa sería: `./alumno1/dir1/libro.txt` o `alumno1/dir1/libro.txt`</a:t>
            </a:r>
            <a:endParaRPr/>
          </a:p>
          <a:p>
            <a:pPr marL="0" lvl="0" indent="0" algn="l" rtl="0">
              <a:lnSpc>
                <a:spcPct val="100000"/>
              </a:lnSpc>
              <a:spcBef>
                <a:spcPts val="0"/>
              </a:spcBef>
              <a:spcAft>
                <a:spcPts val="0"/>
              </a:spcAft>
              <a:buClr>
                <a:schemeClr val="dk1"/>
              </a:buClr>
              <a:buSzPts val="1100"/>
              <a:buFont typeface="Arial"/>
              <a:buNone/>
            </a:pPr>
            <a:r>
              <a:rPr lang="es-ES"/>
              <a:t>    - Si estamos en `/home/alumno1`, podemos escribir simplemente: `dir1/libro.txt` o `./dir1/libro.txt`</a:t>
            </a:r>
            <a:endParaRPr/>
          </a:p>
          <a:p>
            <a:pPr marL="0" lvl="0" indent="0" algn="l" rtl="0">
              <a:lnSpc>
                <a:spcPct val="100000"/>
              </a:lnSpc>
              <a:spcBef>
                <a:spcPts val="0"/>
              </a:spcBef>
              <a:spcAft>
                <a:spcPts val="0"/>
              </a:spcAft>
              <a:buClr>
                <a:schemeClr val="dk1"/>
              </a:buClr>
              <a:buSzPts val="1100"/>
              <a:buFont typeface="Arial"/>
              <a:buNone/>
            </a:pPr>
            <a:r>
              <a:rPr lang="es-ES"/>
              <a:t>    - Si estamos ya dentro de `dir1`: `libro.txt` o `./libro.txt`</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Ejemplo con carreteras</a:t>
            </a:r>
            <a:endParaRPr/>
          </a:p>
          <a:p>
            <a:pPr marL="0" lvl="0" indent="0" algn="l" rtl="0">
              <a:lnSpc>
                <a:spcPct val="100000"/>
              </a:lnSpc>
              <a:spcBef>
                <a:spcPts val="0"/>
              </a:spcBef>
              <a:spcAft>
                <a:spcPts val="0"/>
              </a:spcAft>
              <a:buClr>
                <a:schemeClr val="dk1"/>
              </a:buClr>
              <a:buSzPts val="1100"/>
              <a:buFont typeface="Arial"/>
              <a:buNone/>
            </a:pPr>
            <a:r>
              <a:rPr lang="es-ES"/>
              <a:t>Para entenderlo mejor, piensa en un mapa de carreteras: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Una ruta absoluta es como decir:</a:t>
            </a:r>
            <a:endParaRPr/>
          </a:p>
          <a:p>
            <a:pPr marL="0" lvl="0" indent="0" algn="l" rtl="0">
              <a:lnSpc>
                <a:spcPct val="100000"/>
              </a:lnSpc>
              <a:spcBef>
                <a:spcPts val="0"/>
              </a:spcBef>
              <a:spcAft>
                <a:spcPts val="0"/>
              </a:spcAft>
              <a:buClr>
                <a:schemeClr val="dk1"/>
              </a:buClr>
              <a:buSzPts val="1100"/>
              <a:buFont typeface="Arial"/>
              <a:buNone/>
            </a:pPr>
            <a:r>
              <a:rPr lang="es-ES"/>
              <a:t>“Desde el kilómetro 0 en la Puerta del Sol hasta Majadahonda.”</a:t>
            </a:r>
            <a:endParaRPr/>
          </a:p>
          <a:p>
            <a:pPr marL="0" lvl="0" indent="0" algn="l" rtl="0">
              <a:lnSpc>
                <a:spcPct val="100000"/>
              </a:lnSpc>
              <a:spcBef>
                <a:spcPts val="0"/>
              </a:spcBef>
              <a:spcAft>
                <a:spcPts val="0"/>
              </a:spcAft>
              <a:buClr>
                <a:schemeClr val="dk1"/>
              </a:buClr>
              <a:buSzPts val="1100"/>
              <a:buFont typeface="Arial"/>
              <a:buNone/>
            </a:pPr>
            <a:r>
              <a:rPr lang="es-ES"/>
              <a:t>No importa dónde estés, esta ruta es siempre la misma.</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Una ruta relativa es como decir:</a:t>
            </a:r>
            <a:endParaRPr/>
          </a:p>
          <a:p>
            <a:pPr marL="0" lvl="0" indent="0" algn="l" rtl="0">
              <a:lnSpc>
                <a:spcPct val="100000"/>
              </a:lnSpc>
              <a:spcBef>
                <a:spcPts val="0"/>
              </a:spcBef>
              <a:spcAft>
                <a:spcPts val="0"/>
              </a:spcAft>
              <a:buClr>
                <a:schemeClr val="dk1"/>
              </a:buClr>
              <a:buSzPts val="1100"/>
              <a:buFont typeface="Arial"/>
              <a:buNone/>
            </a:pPr>
            <a:r>
              <a:rPr lang="es-ES"/>
              <a:t>“Desde mi casa hasta Majadahonda.”</a:t>
            </a:r>
            <a:endParaRPr/>
          </a:p>
          <a:p>
            <a:pPr marL="0" lvl="0" indent="0" algn="l" rtl="0">
              <a:lnSpc>
                <a:spcPct val="100000"/>
              </a:lnSpc>
              <a:spcBef>
                <a:spcPts val="0"/>
              </a:spcBef>
              <a:spcAft>
                <a:spcPts val="0"/>
              </a:spcAft>
              <a:buClr>
                <a:schemeClr val="dk1"/>
              </a:buClr>
              <a:buSzPts val="1100"/>
              <a:buFont typeface="Arial"/>
              <a:buNone/>
            </a:pPr>
            <a:r>
              <a:rPr lang="es-ES"/>
              <a:t>Esta ruta depende de dónde esté tu casa, es decir, de dónde empiezas.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Comprender cómo funcionan las rutas en Linux es fundamental para poder navegar por el sistema de archivos, ejecutar comandos correctamente y trabajar de forma eficiente desde la terminal.</a:t>
            </a:r>
            <a:endParaRPr/>
          </a:p>
          <a:p>
            <a:pPr marL="0" lvl="0" indent="0" algn="l" rtl="0">
              <a:lnSpc>
                <a:spcPct val="100000"/>
              </a:lnSpc>
              <a:spcBef>
                <a:spcPts val="0"/>
              </a:spcBef>
              <a:spcAft>
                <a:spcPts val="0"/>
              </a:spcAft>
              <a:buSzPts val="1400"/>
              <a:buNone/>
            </a:pPr>
            <a:endParaRPr/>
          </a:p>
        </p:txBody>
      </p:sp>
      <p:sp>
        <p:nvSpPr>
          <p:cNvPr id="440" name="Google Shape;440;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2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2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Aquí tenemos algunos ejemplos:</a:t>
            </a:r>
            <a:endParaRPr/>
          </a:p>
          <a:p>
            <a:pPr marL="0" lvl="0" indent="0" algn="l" rtl="0">
              <a:lnSpc>
                <a:spcPct val="100000"/>
              </a:lnSpc>
              <a:spcBef>
                <a:spcPts val="0"/>
              </a:spcBef>
              <a:spcAft>
                <a:spcPts val="0"/>
              </a:spcAft>
              <a:buSzPts val="1400"/>
              <a:buNone/>
            </a:pPr>
            <a:r>
              <a:rPr lang="es-ES"/>
              <a:t>En la imagen de la derecha nos encontramos dentro del directorio Dir1. Si queremos representar el recorrido hasta el directorio home es: ../../ es decir, dos directorios por encima. Con un solo .. Estaríamos en alumno1 y con otro ../ dentro de alumno1 llegamos al home.</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Si quisiéramos ir al directorio alumno2, primero tenemos que llegar hasta el directorio home, y desde ahí ir a alumno2, así que sería ../../alumno2.</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Si quisiéramos ir a Dir2 desde Dir1 donde estamos, primero tenemos que ir a alumno1 y desde ahí a Dir2, así que sería ../Dir2.</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 name="Google Shape;455;p3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Vamos a ver si lo habéis entendido con un ejercicio:</a:t>
            </a:r>
            <a:endParaRPr/>
          </a:p>
          <a:p>
            <a:pPr marL="0" lvl="0" indent="0" algn="l" rtl="0">
              <a:lnSpc>
                <a:spcPct val="100000"/>
              </a:lnSpc>
              <a:spcBef>
                <a:spcPts val="0"/>
              </a:spcBef>
              <a:spcAft>
                <a:spcPts val="0"/>
              </a:spcAft>
              <a:buSzPts val="1400"/>
              <a:buNone/>
            </a:pPr>
            <a:r>
              <a:rPr lang="es-ES"/>
              <a:t>Si nos encontramos en el directorio alumno1:</a:t>
            </a:r>
            <a:endParaRPr/>
          </a:p>
          <a:p>
            <a:pPr marL="171450" lvl="0" indent="-171450" algn="l" rtl="0">
              <a:lnSpc>
                <a:spcPct val="100000"/>
              </a:lnSpc>
              <a:spcBef>
                <a:spcPts val="0"/>
              </a:spcBef>
              <a:spcAft>
                <a:spcPts val="0"/>
              </a:spcAft>
              <a:buClr>
                <a:schemeClr val="dk1"/>
              </a:buClr>
              <a:buSzPts val="1200"/>
              <a:buFont typeface="Arial"/>
              <a:buChar char="•"/>
            </a:pPr>
            <a:r>
              <a:rPr lang="es-ES"/>
              <a:t>Cual es la ruta absoluta a Libro1.txt: /home/alumno1/Dir1/Libro.txt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3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5" name="Google Shape;465;p3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En la ruta absoluta, no importa el directorio en el que nos encontremos.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3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6" name="Google Shape;476;p3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s-ES"/>
              <a:t>Y la ruta relativa, desde alumno1?: ./Dir1/Libro.txt o Dir1/Libro.txt</a:t>
            </a:r>
            <a:endParaRPr/>
          </a:p>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3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6" name="Google Shape;486;p3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En la ruta relativa importa cual es el directorio actual, pwd o punto.</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44e220f39a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7" name="Google Shape;497;g344e220f39a_0_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Ahora vamos a ver cuales son algunos comandos básicos de linux.</a:t>
            </a:r>
            <a:endParaRPr/>
          </a:p>
          <a:p>
            <a:pPr marL="0" lvl="0" indent="0" algn="l" rtl="0">
              <a:lnSpc>
                <a:spcPct val="100000"/>
              </a:lnSpc>
              <a:spcBef>
                <a:spcPts val="0"/>
              </a:spcBef>
              <a:spcAft>
                <a:spcPts val="0"/>
              </a:spcAft>
              <a:buSzPts val="1400"/>
              <a:buNone/>
            </a:pPr>
            <a:endParaRPr/>
          </a:p>
        </p:txBody>
      </p:sp>
      <p:sp>
        <p:nvSpPr>
          <p:cNvPr id="498" name="Google Shape;498;g344e220f39a_0_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44e220f39a_0_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g344e220f39a_0_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Vamos a empezar por la shell.</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507" name="Google Shape;507;g344e220f39a_0_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Cuando veíamos los componentes de un sistema operativo, mencionábamos la shell o interprete de comandos es el programa que interpreta los comandos que escribimos. Es como un "intérprete" entre nosotros y el sistema operativo. Hay varios tipos de shell, pero una de las más comunes en Linux es Bash.</a:t>
            </a:r>
            <a:endParaRPr/>
          </a:p>
          <a:p>
            <a:pPr marL="0" lvl="0" indent="0" algn="l" rtl="0">
              <a:lnSpc>
                <a:spcPct val="100000"/>
              </a:lnSpc>
              <a:spcBef>
                <a:spcPts val="0"/>
              </a:spcBef>
              <a:spcAft>
                <a:spcPts val="0"/>
              </a:spcAft>
              <a:buSzPts val="1400"/>
              <a:buNone/>
            </a:pPr>
            <a:endParaRPr/>
          </a:p>
        </p:txBody>
      </p:sp>
      <p:sp>
        <p:nvSpPr>
          <p:cNvPr id="516" name="Google Shape;516;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44e220f39a_0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g344e220f39a_0_1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En Linux, la forma de comunicarse con el sistema operativo es a través de la línea de comandos. A diferencia de los entornos gráficos, que permiten hacer clic en iconos o menús, la línea de comandos nos permite dar instrucciones precisas y controlar el sistema a un nivel más profundo. Esta interacción se realiza en un entorno llamado terminal. La terminal es la aplicación gráfica que permite acceder a esta shell, y es especialmente importante en entornos como servidores, sistemas sin interfaz gráfica o infraestructuras HPC, donde la línea de comandos es la herramienta principal de trabajo. Aunque hoy en día existen entornos gráficos (ventanas, menús, botones), la terminal sigue siendo una herramienta muy poderosa y flexible, especialmente en entornos de alta computación y servidores.</a:t>
            </a:r>
            <a:endParaRPr/>
          </a:p>
          <a:p>
            <a:pPr marL="0" lvl="0" indent="0" algn="l" rtl="0">
              <a:lnSpc>
                <a:spcPct val="100000"/>
              </a:lnSpc>
              <a:spcBef>
                <a:spcPts val="0"/>
              </a:spcBef>
              <a:spcAft>
                <a:spcPts val="0"/>
              </a:spcAft>
              <a:buSzPts val="1400"/>
              <a:buNone/>
            </a:pPr>
            <a:endParaRPr/>
          </a:p>
        </p:txBody>
      </p:sp>
      <p:sp>
        <p:nvSpPr>
          <p:cNvPr id="530" name="Google Shape;530;g344e220f39a_0_1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712ee0af76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g3712ee0af76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En Linux, una de las shells más comunes es Bash. A través de ella, se pueden:</a:t>
            </a:r>
            <a:endParaRPr/>
          </a:p>
          <a:p>
            <a:pPr marL="457200" lvl="0" indent="-317500" algn="l" rtl="0">
              <a:lnSpc>
                <a:spcPct val="100000"/>
              </a:lnSpc>
              <a:spcBef>
                <a:spcPts val="0"/>
              </a:spcBef>
              <a:spcAft>
                <a:spcPts val="0"/>
              </a:spcAft>
              <a:buClr>
                <a:schemeClr val="dk1"/>
              </a:buClr>
              <a:buSzPts val="1400"/>
              <a:buChar char="●"/>
            </a:pPr>
            <a:r>
              <a:rPr lang="es-ES"/>
              <a:t>Navegar por el sistema de archivos.</a:t>
            </a:r>
            <a:endParaRPr/>
          </a:p>
          <a:p>
            <a:pPr marL="457200" lvl="0" indent="-317500" algn="l" rtl="0">
              <a:lnSpc>
                <a:spcPct val="100000"/>
              </a:lnSpc>
              <a:spcBef>
                <a:spcPts val="0"/>
              </a:spcBef>
              <a:spcAft>
                <a:spcPts val="0"/>
              </a:spcAft>
              <a:buClr>
                <a:schemeClr val="dk1"/>
              </a:buClr>
              <a:buSzPts val="1400"/>
              <a:buChar char="●"/>
            </a:pPr>
            <a:r>
              <a:rPr lang="es-ES"/>
              <a:t>Ejecutar programas y scripts.</a:t>
            </a:r>
            <a:endParaRPr/>
          </a:p>
          <a:p>
            <a:pPr marL="457200" lvl="0" indent="-317500" algn="l" rtl="0">
              <a:lnSpc>
                <a:spcPct val="100000"/>
              </a:lnSpc>
              <a:spcBef>
                <a:spcPts val="0"/>
              </a:spcBef>
              <a:spcAft>
                <a:spcPts val="0"/>
              </a:spcAft>
              <a:buClr>
                <a:schemeClr val="dk1"/>
              </a:buClr>
              <a:buSzPts val="1400"/>
              <a:buChar char="●"/>
            </a:pPr>
            <a:r>
              <a:rPr lang="es-ES"/>
              <a:t>Gestionar procesos.</a:t>
            </a:r>
            <a:endParaRPr/>
          </a:p>
          <a:p>
            <a:pPr marL="457200" lvl="0" indent="-317500" algn="l" rtl="0">
              <a:lnSpc>
                <a:spcPct val="100000"/>
              </a:lnSpc>
              <a:spcBef>
                <a:spcPts val="0"/>
              </a:spcBef>
              <a:spcAft>
                <a:spcPts val="0"/>
              </a:spcAft>
              <a:buClr>
                <a:schemeClr val="dk1"/>
              </a:buClr>
              <a:buSzPts val="1400"/>
              <a:buChar char="●"/>
            </a:pPr>
            <a:r>
              <a:rPr lang="es-ES"/>
              <a:t>Administrar usuarios y permisos.</a:t>
            </a:r>
            <a:endParaRPr/>
          </a:p>
          <a:p>
            <a:pPr marL="457200" lvl="0" indent="-317500" algn="l" rtl="0">
              <a:lnSpc>
                <a:spcPct val="100000"/>
              </a:lnSpc>
              <a:spcBef>
                <a:spcPts val="0"/>
              </a:spcBef>
              <a:spcAft>
                <a:spcPts val="0"/>
              </a:spcAft>
              <a:buClr>
                <a:schemeClr val="dk1"/>
              </a:buClr>
              <a:buSzPts val="1400"/>
              <a:buChar char="●"/>
            </a:pPr>
            <a:r>
              <a:rPr lang="es-ES"/>
              <a:t>Automatizar tareas repetitivas.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Más adelante en el apartado 3 desarrollaremos un poco más de información acerca de la Shell de Linux.</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545" name="Google Shape;545;g3712ee0af76_0_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44e220f39a_0_1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0" name="Google Shape;560;g344e220f39a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a:t>
            </a:r>
            <a:endParaRPr/>
          </a:p>
        </p:txBody>
      </p:sp>
      <p:sp>
        <p:nvSpPr>
          <p:cNvPr id="561" name="Google Shape;561;g344e220f39a_0_10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400"/>
              <a:buNone/>
            </a:pPr>
            <a:r>
              <a:rPr lang="es-ES"/>
              <a:t>La terminal nos muestra todos los comandos que hemos introducido y las respuestas del ordenador a estos comandos. Y cuando nos ofrece una respuesta se queda esperando más instrucciones. Las instrucciones se las damos en una línea al final de la terminal que se llama línea de comandos o prompt.</a:t>
            </a:r>
            <a:endParaRPr/>
          </a:p>
          <a:p>
            <a:pPr marL="0" lvl="0" indent="0" algn="l" rtl="0">
              <a:lnSpc>
                <a:spcPct val="90000"/>
              </a:lnSpc>
              <a:spcBef>
                <a:spcPts val="0"/>
              </a:spcBef>
              <a:spcAft>
                <a:spcPts val="0"/>
              </a:spcAft>
              <a:buSzPts val="1400"/>
              <a:buNone/>
            </a:pPr>
            <a:endParaRPr/>
          </a:p>
          <a:p>
            <a:pPr marL="0" lvl="0" indent="0" algn="l" rtl="0">
              <a:lnSpc>
                <a:spcPct val="90000"/>
              </a:lnSpc>
              <a:spcBef>
                <a:spcPts val="0"/>
              </a:spcBef>
              <a:spcAft>
                <a:spcPts val="0"/>
              </a:spcAft>
              <a:buSzPts val="1400"/>
              <a:buNone/>
            </a:pPr>
            <a:r>
              <a:rPr lang="es-ES"/>
              <a:t>La línea de comandos, además de servir para escribir órdenes al ordenador nos ofrece cierta información justo delante de donde nosotros podemos escribir. </a:t>
            </a:r>
            <a:endParaRPr/>
          </a:p>
          <a:p>
            <a:pPr marL="228600" lvl="0" indent="-228600" algn="l" rtl="0">
              <a:lnSpc>
                <a:spcPct val="90000"/>
              </a:lnSpc>
              <a:spcBef>
                <a:spcPts val="0"/>
              </a:spcBef>
              <a:spcAft>
                <a:spcPts val="0"/>
              </a:spcAft>
              <a:buClr>
                <a:schemeClr val="dk1"/>
              </a:buClr>
              <a:buSzPts val="1200"/>
              <a:buFont typeface="Calibri"/>
              <a:buAutoNum type="arabicPeriod"/>
            </a:pPr>
            <a:r>
              <a:rPr lang="es-ES"/>
              <a:t>Primero nos dice el nombre del usuario que está conectado, profesor o alumno en este caso. Seguido del nombre de usuario sale @ y el nombre de la máquina a la que está conectado el usuario: ubuntu-20 en nuestro caso porque es como se llama la máquina del curso. </a:t>
            </a:r>
            <a:endParaRPr/>
          </a:p>
          <a:p>
            <a:pPr marL="228600" lvl="0" indent="-228600" algn="l" rtl="0">
              <a:lnSpc>
                <a:spcPct val="90000"/>
              </a:lnSpc>
              <a:spcBef>
                <a:spcPts val="0"/>
              </a:spcBef>
              <a:spcAft>
                <a:spcPts val="0"/>
              </a:spcAft>
              <a:buClr>
                <a:schemeClr val="dk1"/>
              </a:buClr>
              <a:buSzPts val="1200"/>
              <a:buFont typeface="Calibri"/>
              <a:buAutoNum type="arabicPeriod"/>
            </a:pPr>
            <a:r>
              <a:rPr lang="es-ES"/>
              <a:t>Después del nombre de la máquina salen dos puntos seguido del directorio en el que nos encontramos. El símbolo de la virgulilla es una abreviatura del path absoluto del directorio /home/usuario. Entonces cuando vosotros os encontréis en el directorio /home/alumno/ saldrá ~. Cuando os encontréis dentro de uno de los directorios del usuario, como documentos, pondrá ~/Documentos.</a:t>
            </a:r>
            <a:endParaRPr/>
          </a:p>
          <a:p>
            <a:pPr marL="228600" lvl="0" indent="-228600" algn="l" rtl="0">
              <a:lnSpc>
                <a:spcPct val="90000"/>
              </a:lnSpc>
              <a:spcBef>
                <a:spcPts val="0"/>
              </a:spcBef>
              <a:spcAft>
                <a:spcPts val="0"/>
              </a:spcAft>
              <a:buClr>
                <a:schemeClr val="dk1"/>
              </a:buClr>
              <a:buSzPts val="1200"/>
              <a:buFont typeface="Calibri"/>
              <a:buAutoNum type="arabicPeriod"/>
            </a:pPr>
            <a:r>
              <a:rPr lang="es-ES"/>
              <a:t>Finalmente, seguido del directorio en el que nos encontramos sale un símbolo que puede ser el dólar si el usuario conectado no tiene privilegios o # cuando es un usuario con privilegios.</a:t>
            </a:r>
            <a:endParaRPr/>
          </a:p>
          <a:p>
            <a:pPr marL="228600" lvl="0" indent="-152400" algn="l" rtl="0">
              <a:lnSpc>
                <a:spcPct val="90000"/>
              </a:lnSpc>
              <a:spcBef>
                <a:spcPts val="0"/>
              </a:spcBef>
              <a:spcAft>
                <a:spcPts val="0"/>
              </a:spcAft>
              <a:buClr>
                <a:schemeClr val="dk1"/>
              </a:buClr>
              <a:buSzPts val="1200"/>
              <a:buFont typeface="Calibri"/>
              <a:buNone/>
            </a:pPr>
            <a:endParaRPr/>
          </a:p>
          <a:p>
            <a:pPr marL="0" lvl="0" indent="0" algn="l" rtl="0">
              <a:lnSpc>
                <a:spcPct val="90000"/>
              </a:lnSpc>
              <a:spcBef>
                <a:spcPts val="0"/>
              </a:spcBef>
              <a:spcAft>
                <a:spcPts val="0"/>
              </a:spcAft>
              <a:buClr>
                <a:schemeClr val="dk1"/>
              </a:buClr>
              <a:buSzPts val="1200"/>
              <a:buFont typeface="Calibri"/>
              <a:buNone/>
            </a:pPr>
            <a:r>
              <a:rPr lang="es-ES"/>
              <a:t>El ejemplo que sale ahí está indicando que el usuario llamado user que no tiene privilegios de administración está conectado a la máquina portutatis03 del HPC en la carpeta /home/user del usuario.</a:t>
            </a:r>
            <a:endParaRPr/>
          </a:p>
        </p:txBody>
      </p:sp>
      <p:sp>
        <p:nvSpPr>
          <p:cNvPr id="569" name="Google Shape;569;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44e220f39a_0_1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 name="Google Shape;587;g344e220f39a_0_10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a:t>
            </a:r>
            <a:endParaRPr/>
          </a:p>
        </p:txBody>
      </p:sp>
      <p:sp>
        <p:nvSpPr>
          <p:cNvPr id="588" name="Google Shape;588;g344e220f39a_0_10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712ee0af76_0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g3712ee0af76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g3712ee0af76_0_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715fd0d4a0_0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g3715fd0d4a0_0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7" name="Google Shape;607;g3715fd0d4a0_0_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715fd0d4a0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6" name="Google Shape;616;g3715fd0d4a0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7" name="Google Shape;617;g3715fd0d4a0_0_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715fd0d4a0_3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7" name="Google Shape;627;g3715fd0d4a0_3_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8" name="Google Shape;628;g3715fd0d4a0_3_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3715fd0d4a0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7" name="Google Shape;637;g3715fd0d4a0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8" name="Google Shape;638;g3715fd0d4a0_0_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5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6" name="Google Shape;646;p5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Después tenemos mkdir, que proviene de make directory, es decir crear directorio, y es el equivalente a Nueva Carpeta de Windows. A la terminal le tienes que poner mkdir seguido del nombre de la carpeta que quieres crear, y te la crea. Además el nombre de la carpeta puede estar precedido de una ruta, de forma que puedes crear directorios en otras carpetas que no son en la que tu te encuentras en la terminal.</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715fd0d4a0_0_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g3715fd0d4a0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7" name="Google Shape;657;g3715fd0d4a0_0_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5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7" name="Google Shape;667;p5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Otro de los comandos es rm, que viene de remove, borrar o eliminar y es el equivalente al eliminar de Windows. Solo hay que decirle a la terminal rm y seguido el nombre del archivo que quieres eliminar.</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3715fd0d4a0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3715fd0d4a0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3715fd0d4a0_0_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3715fd0d4a0_0_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8" name="Google Shape;688;g3715fd0d4a0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9" name="Google Shape;689;g3715fd0d4a0_0_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5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7" name="Google Shape;697;p5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Otro comando útil es cp, que proviene de copy y es el equivalente al copiar y pegar (hace las funciones de los dos) en Windows. Cuando a la terminal le dices cp seguido del nombre del archivo que quieres copiar y seguido a su vez de la carpeta en la que lo quieres copiar, te lo copia y lo pega en el otro directorio.</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3715fd0d4a0_3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3715fd0d4a0_3_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3715fd0d4a0_3_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5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p5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Después tendríamos el mv, que viene de move en inglés mover. Este comando hace a la vez las funciona de cortar y pegar y de renombrar un archivo.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De esta forma si a la terminal le dices mv seguido del nombre del archivo que quieres mover o renombrar y este seguido a su vez del nuevo nombre del archivo, lo renombra. La gracia es que en Linux, el nombre del archivo final, puede estar junto con una ruta, de forma que te lo estaría también moviendo a otro directorio.</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3715fd0d4a0_3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715fd0d4a0_3_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3715fd0d4a0_3_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5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0" name="Google Shape;740;p5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Y finalmente tendríamos el history que ya os lo hemos explicado y que es el equivalente al Historial de Windows. Para movernos por el historial de comandos lo que tenemos que hacer es utilizar las flechas del teclado arriba y abajo y nos irá mostrando los comandos que hemos ido introduciendo y así no tendremos que volverlos a escribir.</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3715fd0d4a0_3_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3715fd0d4a0_3_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3715fd0d4a0_3_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715fd0d4a0_3_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g3715fd0d4a0_3_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2" name="Google Shape;762;g3715fd0d4a0_3_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Una cosa importante que siempre tenemos que recordar es la tecla TAB que es la tecla que está arriba a la izquierda al lado de la letra Q. Esta tecla nos permite que si no nos acordamos de un comando o del nombre completo de un fichero, solo tememos que pulsarlo y la terminar, a nos va a sugerir las opciones más probables para continuar lo que hemos escrito.</a:t>
            </a:r>
            <a:endParaRPr/>
          </a:p>
        </p:txBody>
      </p:sp>
      <p:sp>
        <p:nvSpPr>
          <p:cNvPr id="772" name="Google Shape;772;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344e220f39a_0_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344e220f39a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Ahora vamos a ver la sintaxis de la línea de comandos</a:t>
            </a:r>
            <a:endParaRPr/>
          </a:p>
        </p:txBody>
      </p:sp>
      <p:sp>
        <p:nvSpPr>
          <p:cNvPr id="780" name="Google Shape;780;g344e220f39a_0_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344e220f39a_0_1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44e220f39a_0_1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a:t>
            </a:r>
            <a:endParaRPr/>
          </a:p>
        </p:txBody>
      </p:sp>
      <p:sp>
        <p:nvSpPr>
          <p:cNvPr id="789" name="Google Shape;789;g344e220f39a_0_1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Usar la terminal no es solo escribir comandos al azar. Como cualquier lenguaje, tiene una sintaxis (unas reglas) que debemos seguir para que el sistema entienda lo que queremos hacer.</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Todo lo que acompaña al comando para que el ordenador lo entienda se llama parámetros, que son las distintas posibilidades que acepta cada comando.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Los parámetros se le pasan al comando mediante un guión seguido de una letra o de una palabra, y además se pueden indicar varios parámetros para un mismo comando, donde cada parámetro tiene que tener un guión delante o juntándolas con un solo guión.</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Hay algunos parámetros que necesitan ir seguidos de una opción a la que llamamos argumento. Por ejemplo si un comando tiene un parámetro que necesita la ruta de un archivo, la ruta del archivo sería el argumento.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Además a la terminal se le pueden pasar varios argumentos a la vez, que habría que separar por comas.</a:t>
            </a:r>
            <a:endParaRPr/>
          </a:p>
        </p:txBody>
      </p:sp>
      <p:sp>
        <p:nvSpPr>
          <p:cNvPr id="798" name="Google Shape;798;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3715fd0d4a0_3_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g3715fd0d4a0_3_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3715fd0d4a0_3_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3715fd0d4a0_3_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3715fd0d4a0_3_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3715fd0d4a0_3_8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344e220f39a_0_1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344e220f39a_0_1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a:t>
            </a:r>
            <a:endParaRPr/>
          </a:p>
        </p:txBody>
      </p:sp>
      <p:sp>
        <p:nvSpPr>
          <p:cNvPr id="828" name="Google Shape;828;g344e220f39a_0_1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44e220f39a_0_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344e220f39a_0_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344e220f39a_0_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344e220f39a_0_1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g344e220f39a_0_1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a:t>
            </a:r>
            <a:endParaRPr/>
          </a:p>
        </p:txBody>
      </p:sp>
      <p:sp>
        <p:nvSpPr>
          <p:cNvPr id="850" name="Google Shape;850;g344e220f39a_0_1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344e220f39a_0_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8" name="Google Shape;858;g344e220f39a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344e220f39a_0_9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3715fd0d4a0_3_1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3715fd0d4a0_3_1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3715fd0d4a0_3_1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344e220f39a_0_1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344e220f39a_0_1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En Linux, puedes redirigir estas salidas y entradas para controlar mejor lo que hacen los comandos.</a:t>
            </a:r>
            <a:endParaRPr/>
          </a:p>
          <a:p>
            <a:pPr marL="0" lvl="0" indent="0" algn="l" rtl="0">
              <a:lnSpc>
                <a:spcPct val="100000"/>
              </a:lnSpc>
              <a:spcBef>
                <a:spcPts val="0"/>
              </a:spcBef>
              <a:spcAft>
                <a:spcPts val="0"/>
              </a:spcAft>
              <a:buSzPts val="1400"/>
              <a:buNone/>
            </a:pPr>
            <a:endParaRPr/>
          </a:p>
        </p:txBody>
      </p:sp>
      <p:sp>
        <p:nvSpPr>
          <p:cNvPr id="889" name="Google Shape;889;g344e220f39a_0_1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344e220f39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344e220f39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898" name="Google Shape;898;g344e220f39a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3715fd0d4a0_3_1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3715fd0d4a0_3_1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907" name="Google Shape;907;g3715fd0d4a0_3_1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79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3715fd0d4a0_3_1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3715fd0d4a0_3_1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916" name="Google Shape;916;g3715fd0d4a0_3_1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80</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3715fd0d4a0_3_1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3715fd0d4a0_3_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925" name="Google Shape;925;g3715fd0d4a0_3_1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81</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3715fd0d4a0_3_1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3715fd0d4a0_3_1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934" name="Google Shape;934;g3715fd0d4a0_3_18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82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3715fd0d4a0_3_1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3715fd0d4a0_3_1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a:t>
            </a:r>
            <a:endParaRPr/>
          </a:p>
        </p:txBody>
      </p:sp>
      <p:sp>
        <p:nvSpPr>
          <p:cNvPr id="943" name="Google Shape;943;g3715fd0d4a0_3_1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83</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3715fd0d4a0_3_1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3715fd0d4a0_3_1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Un pipe (símbolo |) en Linux es una herramienta que permite conectar la salida de un comando con la entrada de otro. Esto nos permite encadenar comandos para realizar operaciones más complejas de forma sencilla.</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952" name="Google Shape;952;g3715fd0d4a0_3_1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84</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3715fd0d4a0_3_2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3715fd0d4a0_3_2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Un pipe (símbolo |) en Linux es una herramienta que permite conectar la salida de un comando con la entrada de otro. Esto nos permite encadenar comandos para realizar operaciones más complejas de forma sencilla.</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961" name="Google Shape;961;g3715fd0d4a0_3_2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85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383603ae38b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383603ae38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Un pipe (símbolo |) en Linux es una herramienta que permite conectar la salida de un comando con la entrada de otro. Esto nos permite encadenar comandos para realizar operaciones más complejas de forma sencilla.</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971" name="Google Shape;971;g383603ae38b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3715fd0d4a0_3_1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3715fd0d4a0_3_1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3715fd0d4a0_3_1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87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364258a22eb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364258a22eb_0_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 Ahora vamos a ver las expresiones regulares</a:t>
            </a:r>
            <a:endParaRPr/>
          </a:p>
        </p:txBody>
      </p:sp>
      <p:sp>
        <p:nvSpPr>
          <p:cNvPr id="989" name="Google Shape;989;g364258a22eb_0_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364258a22eb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364258a22eb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Las expresiones regulares son expresiones o caracteres que nos ayudan a indicar patrones para buscar, encontrar o validar texto.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998" name="Google Shape;998;g364258a22eb_0_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s-ES"/>
              <a:t>89</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344e220f39a_0_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344e220f39a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Ahora vamos a ver cuales son los usuarios de Linux y los privilegios o permisos.</a:t>
            </a:r>
            <a:endParaRPr/>
          </a:p>
        </p:txBody>
      </p:sp>
      <p:sp>
        <p:nvSpPr>
          <p:cNvPr id="1009" name="Google Shape;1009;g344e220f39a_0_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90</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344e220f39a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g344e220f39a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Linux es un sistema operativo multiusuario, lo que significa que varias personas pueden utilizar el mismo sistema, cada una con su propia cuenta y nivel de acceso.</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Este modelo se basa en usuarios, grupos y permisos, y es esencial para garantizar la seguridad y el buen funcionamiento del sistema.</a:t>
            </a:r>
            <a:endParaRPr/>
          </a:p>
        </p:txBody>
      </p:sp>
      <p:sp>
        <p:nvSpPr>
          <p:cNvPr id="1018" name="Google Shape;1018;g344e220f39a_0_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91</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sz="1100">
                <a:latin typeface="Arial"/>
                <a:ea typeface="Arial"/>
                <a:cs typeface="Arial"/>
                <a:sym typeface="Arial"/>
              </a:rPr>
              <a:t>Un usuario en Linux es una entidad con acceso a recursos del sistema: archivos, programas, dispositivos, etc. Cada usuario tiene:</a:t>
            </a:r>
            <a:endParaRPr sz="1100">
              <a:latin typeface="Arial"/>
              <a:ea typeface="Arial"/>
              <a:cs typeface="Arial"/>
              <a:sym typeface="Arial"/>
            </a:endParaRPr>
          </a:p>
          <a:p>
            <a:pPr marL="171450" lvl="0" indent="-171450" algn="l" rtl="0">
              <a:lnSpc>
                <a:spcPct val="100000"/>
              </a:lnSpc>
              <a:spcBef>
                <a:spcPts val="0"/>
              </a:spcBef>
              <a:spcAft>
                <a:spcPts val="0"/>
              </a:spcAft>
              <a:buSzPts val="1400"/>
              <a:buChar char="•"/>
            </a:pPr>
            <a:r>
              <a:rPr lang="es-ES" sz="1100">
                <a:latin typeface="Arial"/>
                <a:ea typeface="Arial"/>
                <a:cs typeface="Arial"/>
                <a:sym typeface="Arial"/>
              </a:rPr>
              <a:t>Un nombre de usuario (username)</a:t>
            </a:r>
            <a:endParaRPr sz="1100">
              <a:latin typeface="Arial"/>
              <a:ea typeface="Arial"/>
              <a:cs typeface="Arial"/>
              <a:sym typeface="Arial"/>
            </a:endParaRPr>
          </a:p>
          <a:p>
            <a:pPr marL="171450" lvl="0" indent="-171450" algn="l" rtl="0">
              <a:lnSpc>
                <a:spcPct val="100000"/>
              </a:lnSpc>
              <a:spcBef>
                <a:spcPts val="0"/>
              </a:spcBef>
              <a:spcAft>
                <a:spcPts val="0"/>
              </a:spcAft>
              <a:buSzPts val="1400"/>
              <a:buChar char="•"/>
            </a:pPr>
            <a:r>
              <a:rPr lang="es-ES" sz="1100">
                <a:latin typeface="Arial"/>
                <a:ea typeface="Arial"/>
                <a:cs typeface="Arial"/>
                <a:sym typeface="Arial"/>
              </a:rPr>
              <a:t>Un identificador de usuario (UID)</a:t>
            </a:r>
            <a:endParaRPr sz="1100">
              <a:latin typeface="Arial"/>
              <a:ea typeface="Arial"/>
              <a:cs typeface="Arial"/>
              <a:sym typeface="Arial"/>
            </a:endParaRPr>
          </a:p>
          <a:p>
            <a:pPr marL="171450" lvl="0" indent="-171450" algn="l" rtl="0">
              <a:lnSpc>
                <a:spcPct val="100000"/>
              </a:lnSpc>
              <a:spcBef>
                <a:spcPts val="0"/>
              </a:spcBef>
              <a:spcAft>
                <a:spcPts val="0"/>
              </a:spcAft>
              <a:buSzPts val="1400"/>
              <a:buChar char="•"/>
            </a:pPr>
            <a:r>
              <a:rPr lang="es-ES" sz="1100">
                <a:latin typeface="Arial"/>
                <a:ea typeface="Arial"/>
                <a:cs typeface="Arial"/>
                <a:sym typeface="Arial"/>
              </a:rPr>
              <a:t>Un grupo principal (GID)</a:t>
            </a:r>
            <a:endParaRPr sz="1100">
              <a:latin typeface="Arial"/>
              <a:ea typeface="Arial"/>
              <a:cs typeface="Arial"/>
              <a:sym typeface="Arial"/>
            </a:endParaRPr>
          </a:p>
          <a:p>
            <a:pPr marL="171450" lvl="0" indent="-171450" algn="l" rtl="0">
              <a:lnSpc>
                <a:spcPct val="100000"/>
              </a:lnSpc>
              <a:spcBef>
                <a:spcPts val="0"/>
              </a:spcBef>
              <a:spcAft>
                <a:spcPts val="0"/>
              </a:spcAft>
              <a:buSzPts val="1400"/>
              <a:buChar char="•"/>
            </a:pPr>
            <a:r>
              <a:rPr lang="es-ES" sz="1100">
                <a:latin typeface="Arial"/>
                <a:ea typeface="Arial"/>
                <a:cs typeface="Arial"/>
                <a:sym typeface="Arial"/>
              </a:rPr>
              <a:t>Un directorio personal (por ejemplo, /home/sarai)</a:t>
            </a:r>
            <a:endParaRPr sz="1100">
              <a:latin typeface="Arial"/>
              <a:ea typeface="Arial"/>
              <a:cs typeface="Arial"/>
              <a:sym typeface="Arial"/>
            </a:endParaRPr>
          </a:p>
          <a:p>
            <a:pPr marL="171450" lvl="0" indent="-171450" algn="l" rtl="0">
              <a:lnSpc>
                <a:spcPct val="100000"/>
              </a:lnSpc>
              <a:spcBef>
                <a:spcPts val="0"/>
              </a:spcBef>
              <a:spcAft>
                <a:spcPts val="0"/>
              </a:spcAft>
              <a:buSzPts val="1400"/>
              <a:buChar char="•"/>
            </a:pPr>
            <a:r>
              <a:rPr lang="es-ES" sz="1100">
                <a:latin typeface="Arial"/>
                <a:ea typeface="Arial"/>
                <a:cs typeface="Arial"/>
                <a:sym typeface="Arial"/>
              </a:rPr>
              <a:t>Un intérprete de comandos (shell, como /bin/bash)</a:t>
            </a:r>
            <a:endParaRPr sz="1100">
              <a:latin typeface="Arial"/>
              <a:ea typeface="Arial"/>
              <a:cs typeface="Arial"/>
              <a:sym typeface="Arial"/>
            </a:endParaRPr>
          </a:p>
          <a:p>
            <a:pPr marL="0" lvl="0" indent="0" algn="l" rtl="0">
              <a:lnSpc>
                <a:spcPct val="100000"/>
              </a:lnSpc>
              <a:spcBef>
                <a:spcPts val="0"/>
              </a:spcBef>
              <a:spcAft>
                <a:spcPts val="0"/>
              </a:spcAft>
              <a:buSzPts val="1400"/>
              <a:buNone/>
            </a:pP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es-ES" sz="1100">
                <a:latin typeface="Arial"/>
                <a:ea typeface="Arial"/>
                <a:cs typeface="Arial"/>
                <a:sym typeface="Arial"/>
              </a:rPr>
              <a:t>Existen dos tipos de usuarios:</a:t>
            </a:r>
            <a:br>
              <a:rPr lang="es-ES" sz="1100">
                <a:latin typeface="Arial"/>
                <a:ea typeface="Arial"/>
                <a:cs typeface="Arial"/>
                <a:sym typeface="Arial"/>
              </a:rPr>
            </a:br>
            <a:br>
              <a:rPr lang="es-ES" sz="1100">
                <a:latin typeface="Arial"/>
                <a:ea typeface="Arial"/>
                <a:cs typeface="Arial"/>
                <a:sym typeface="Arial"/>
              </a:rPr>
            </a:br>
            <a:r>
              <a:rPr lang="es-ES" sz="1100">
                <a:latin typeface="Arial"/>
                <a:ea typeface="Arial"/>
                <a:cs typeface="Arial"/>
                <a:sym typeface="Arial"/>
              </a:rPr>
              <a:t>- Los usuarios normales: Tienen acceso limitado y solo pueden modificar los archivos de los que son propietarios</a:t>
            </a: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es-ES" sz="1100">
                <a:latin typeface="Arial"/>
                <a:ea typeface="Arial"/>
                <a:cs typeface="Arial"/>
                <a:sym typeface="Arial"/>
              </a:rPr>
              <a:t>- Usuario root: Es el administrador del sistema, tiene acceso total y puede instalar y desinstalar software</a:t>
            </a:r>
            <a:endParaRPr sz="1100">
              <a:latin typeface="Arial"/>
              <a:ea typeface="Arial"/>
              <a:cs typeface="Arial"/>
              <a:sym typeface="Arial"/>
            </a:endParaRPr>
          </a:p>
          <a:p>
            <a:pPr marL="0" lvl="0" indent="0" algn="l" rtl="0">
              <a:lnSpc>
                <a:spcPct val="100000"/>
              </a:lnSpc>
              <a:spcBef>
                <a:spcPts val="0"/>
              </a:spcBef>
              <a:spcAft>
                <a:spcPts val="0"/>
              </a:spcAft>
              <a:buSzPts val="1400"/>
              <a:buNone/>
            </a:pPr>
            <a:r>
              <a:rPr lang="es-ES" sz="1100">
                <a:latin typeface="Arial"/>
                <a:ea typeface="Arial"/>
                <a:cs typeface="Arial"/>
                <a:sym typeface="Arial"/>
              </a:rPr>
              <a:t>- Los grupos: Un grupo es un conjunto de usuarios. Se usan para gestionar permisos colectivos.</a:t>
            </a:r>
            <a:endParaRPr sz="1100">
              <a:latin typeface="Arial"/>
              <a:ea typeface="Arial"/>
              <a:cs typeface="Arial"/>
              <a:sym typeface="Arial"/>
            </a:endParaRPr>
          </a:p>
        </p:txBody>
      </p:sp>
      <p:sp>
        <p:nvSpPr>
          <p:cNvPr id="1027" name="Google Shape;1027;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92</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3715fd0d4a0_3_2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3715fd0d4a0_3_2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s-ES"/>
              <a:t>Los usuarios están asociados a una persona o proceso de computación</a:t>
            </a:r>
            <a:endParaRPr/>
          </a:p>
          <a:p>
            <a:pPr marL="171450" lvl="0" indent="-171450" algn="l" rtl="0">
              <a:lnSpc>
                <a:spcPct val="100000"/>
              </a:lnSpc>
              <a:spcBef>
                <a:spcPts val="0"/>
              </a:spcBef>
              <a:spcAft>
                <a:spcPts val="0"/>
              </a:spcAft>
              <a:buClr>
                <a:schemeClr val="dk1"/>
              </a:buClr>
              <a:buSzPts val="1200"/>
              <a:buFont typeface="Arial"/>
              <a:buChar char="•"/>
            </a:pPr>
            <a:r>
              <a:rPr lang="es-ES"/>
              <a:t>Todos los usuarios pueden pertenecer a uno o más grupos</a:t>
            </a:r>
            <a:endParaRPr/>
          </a:p>
          <a:p>
            <a:pPr marL="171450" lvl="0" indent="-171450" algn="l" rtl="0">
              <a:lnSpc>
                <a:spcPct val="100000"/>
              </a:lnSpc>
              <a:spcBef>
                <a:spcPts val="0"/>
              </a:spcBef>
              <a:spcAft>
                <a:spcPts val="0"/>
              </a:spcAft>
              <a:buClr>
                <a:schemeClr val="dk1"/>
              </a:buClr>
              <a:buSzPts val="1200"/>
              <a:buFont typeface="Arial"/>
              <a:buChar char="•"/>
            </a:pPr>
            <a:r>
              <a:rPr lang="es-ES"/>
              <a:t>Todos los usuarios tienen una carpeta propia dentro de la carpeta home</a:t>
            </a:r>
            <a:endParaRPr/>
          </a:p>
          <a:p>
            <a:pPr marL="171450" lvl="0" indent="-171450" algn="l" rtl="0">
              <a:lnSpc>
                <a:spcPct val="100000"/>
              </a:lnSpc>
              <a:spcBef>
                <a:spcPts val="0"/>
              </a:spcBef>
              <a:spcAft>
                <a:spcPts val="0"/>
              </a:spcAft>
              <a:buClr>
                <a:schemeClr val="dk1"/>
              </a:buClr>
              <a:buSzPts val="1200"/>
              <a:buFont typeface="Arial"/>
              <a:buChar char="•"/>
            </a:pPr>
            <a:r>
              <a:rPr lang="es-ES"/>
              <a:t>Los usuarios son los dueños (es decir tienen permisos de owner) en todos los archivos que creados por ellos, directa o indirectamente</a:t>
            </a:r>
            <a:endParaRPr/>
          </a:p>
          <a:p>
            <a:pPr marL="171450" lvl="0" indent="-171450" algn="l" rtl="0">
              <a:lnSpc>
                <a:spcPct val="100000"/>
              </a:lnSpc>
              <a:spcBef>
                <a:spcPts val="0"/>
              </a:spcBef>
              <a:spcAft>
                <a:spcPts val="0"/>
              </a:spcAft>
              <a:buClr>
                <a:schemeClr val="dk1"/>
              </a:buClr>
              <a:buSzPts val="1200"/>
              <a:buFont typeface="Arial"/>
              <a:buChar char="•"/>
            </a:pPr>
            <a:r>
              <a:rPr lang="es-ES"/>
              <a:t>Los usuarios pueden cambiar los permisos de los archivos que son suyos.</a:t>
            </a:r>
            <a:endParaRPr/>
          </a:p>
          <a:p>
            <a:pPr marL="171450" lvl="0" indent="-171450" algn="l" rtl="0">
              <a:lnSpc>
                <a:spcPct val="100000"/>
              </a:lnSpc>
              <a:spcBef>
                <a:spcPts val="0"/>
              </a:spcBef>
              <a:spcAft>
                <a:spcPts val="0"/>
              </a:spcAft>
              <a:buClr>
                <a:schemeClr val="dk1"/>
              </a:buClr>
              <a:buSzPts val="1200"/>
              <a:buFont typeface="Arial"/>
              <a:buChar char="•"/>
            </a:pPr>
            <a:r>
              <a:rPr lang="es-ES"/>
              <a:t>Los usuarios poseen permisos sobre los procesos que ejecutan</a:t>
            </a:r>
            <a:endParaRPr/>
          </a:p>
          <a:p>
            <a:pPr marL="171450" lvl="0" indent="-171450" algn="l" rtl="0">
              <a:lnSpc>
                <a:spcPct val="100000"/>
              </a:lnSpc>
              <a:spcBef>
                <a:spcPts val="0"/>
              </a:spcBef>
              <a:spcAft>
                <a:spcPts val="0"/>
              </a:spcAft>
              <a:buClr>
                <a:schemeClr val="dk1"/>
              </a:buClr>
              <a:buSzPts val="1200"/>
              <a:buFont typeface="Arial"/>
              <a:buChar char="•"/>
            </a:pPr>
            <a:r>
              <a:rPr lang="es-ES"/>
              <a:t>El super usuario root tiene permiso sobre todo. Esto es como los permisos de administrador, cuando queréis instalar algo en el ordenador windows del ISCIII y no os deja, es porque no sois el root del ordenador, es decir el administrador.</a:t>
            </a:r>
            <a:endParaRPr/>
          </a:p>
          <a:p>
            <a:pPr marL="171450" lvl="0" indent="-171450" algn="l" rtl="0">
              <a:lnSpc>
                <a:spcPct val="100000"/>
              </a:lnSpc>
              <a:spcBef>
                <a:spcPts val="0"/>
              </a:spcBef>
              <a:spcAft>
                <a:spcPts val="0"/>
              </a:spcAft>
              <a:buClr>
                <a:schemeClr val="dk1"/>
              </a:buClr>
              <a:buSzPts val="1200"/>
              <a:buFont typeface="Arial"/>
              <a:buChar char="•"/>
            </a:pPr>
            <a:r>
              <a:rPr lang="es-ES"/>
              <a:t>Como todo usuario, root también tiene una carpeta home, pero la carpeta home del super usuario root esta en /root, no en /home</a:t>
            </a:r>
            <a:endParaRPr/>
          </a:p>
        </p:txBody>
      </p:sp>
      <p:sp>
        <p:nvSpPr>
          <p:cNvPr id="1035" name="Google Shape;1035;g3715fd0d4a0_3_2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93</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344e220f39a_0_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g344e220f39a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344e220f39a_0_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94</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Para ver los permisos y quien es el dueño de los archivos, tendremos que usar los comandos ls –al en la línea de comandos, que veremos en las prácticas.</a:t>
            </a:r>
            <a:endParaRPr/>
          </a:p>
          <a:p>
            <a:pPr marL="0" lvl="0" indent="0" algn="l" rtl="0">
              <a:lnSpc>
                <a:spcPct val="100000"/>
              </a:lnSpc>
              <a:spcBef>
                <a:spcPts val="0"/>
              </a:spcBef>
              <a:spcAft>
                <a:spcPts val="0"/>
              </a:spcAft>
              <a:buSzPts val="1400"/>
              <a:buNone/>
            </a:pPr>
            <a:r>
              <a:rPr lang="es-ES"/>
              <a:t>En este ejemplo vemos que se trata de un directorio con los permisos de lectura, escritura y ejecución para el dueño</a:t>
            </a:r>
            <a:endParaRPr/>
          </a:p>
          <a:p>
            <a:pPr marL="0" lvl="0" indent="0" algn="l" rtl="0">
              <a:lnSpc>
                <a:spcPct val="100000"/>
              </a:lnSpc>
              <a:spcBef>
                <a:spcPts val="0"/>
              </a:spcBef>
              <a:spcAft>
                <a:spcPts val="0"/>
              </a:spcAft>
              <a:buSzPts val="1400"/>
              <a:buNone/>
            </a:pPr>
            <a:r>
              <a:rPr lang="es-ES"/>
              <a:t>Permisos de lectura y ejecución para el grupo y para los demás</a:t>
            </a:r>
            <a:endParaRPr/>
          </a:p>
          <a:p>
            <a:pPr marL="0" lvl="0" indent="0" algn="l" rtl="0">
              <a:lnSpc>
                <a:spcPct val="100000"/>
              </a:lnSpc>
              <a:spcBef>
                <a:spcPts val="0"/>
              </a:spcBef>
              <a:spcAft>
                <a:spcPts val="0"/>
              </a:spcAft>
              <a:buSzPts val="1400"/>
              <a:buNone/>
            </a:pPr>
            <a:r>
              <a:rPr lang="es-ES"/>
              <a:t>Luego nos indica un número que es el número de archivos que contiene es directorio. En el caso de que el fichero sea un archivo pondrá un 1.</a:t>
            </a:r>
            <a:endParaRPr/>
          </a:p>
          <a:p>
            <a:pPr marL="0" lvl="0" indent="0" algn="l" rtl="0">
              <a:lnSpc>
                <a:spcPct val="100000"/>
              </a:lnSpc>
              <a:spcBef>
                <a:spcPts val="0"/>
              </a:spcBef>
              <a:spcAft>
                <a:spcPts val="0"/>
              </a:spcAft>
              <a:buSzPts val="1400"/>
              <a:buNone/>
            </a:pPr>
            <a:r>
              <a:rPr lang="es-ES"/>
              <a:t>El dueño es user, el grupo es user,</a:t>
            </a:r>
            <a:endParaRPr/>
          </a:p>
          <a:p>
            <a:pPr marL="0" lvl="0" indent="0" algn="l" rtl="0">
              <a:lnSpc>
                <a:spcPct val="100000"/>
              </a:lnSpc>
              <a:spcBef>
                <a:spcPts val="0"/>
              </a:spcBef>
              <a:spcAft>
                <a:spcPts val="0"/>
              </a:spcAft>
              <a:buSzPts val="1400"/>
              <a:buNone/>
            </a:pPr>
            <a:r>
              <a:rPr lang="es-ES"/>
              <a:t>después te dice el tamaño del archivo que son 4096 bytes.</a:t>
            </a:r>
            <a:endParaRPr/>
          </a:p>
          <a:p>
            <a:pPr marL="0" lvl="0" indent="0" algn="l" rtl="0">
              <a:lnSpc>
                <a:spcPct val="100000"/>
              </a:lnSpc>
              <a:spcBef>
                <a:spcPts val="0"/>
              </a:spcBef>
              <a:spcAft>
                <a:spcPts val="0"/>
              </a:spcAft>
              <a:buSzPts val="1400"/>
              <a:buNone/>
            </a:pPr>
            <a:r>
              <a:rPr lang="es-ES"/>
              <a:t>Después te dice la fecha de la última modificación</a:t>
            </a:r>
            <a:endParaRPr/>
          </a:p>
          <a:p>
            <a:pPr marL="0" lvl="0" indent="0" algn="l" rtl="0">
              <a:lnSpc>
                <a:spcPct val="100000"/>
              </a:lnSpc>
              <a:spcBef>
                <a:spcPts val="0"/>
              </a:spcBef>
              <a:spcAft>
                <a:spcPts val="0"/>
              </a:spcAft>
              <a:buSzPts val="1400"/>
              <a:buNone/>
            </a:pPr>
            <a:r>
              <a:rPr lang="es-ES"/>
              <a:t>Y el nombre del directorio que es documentos.</a:t>
            </a:r>
            <a:endParaRPr/>
          </a:p>
        </p:txBody>
      </p:sp>
      <p:sp>
        <p:nvSpPr>
          <p:cNvPr id="1052" name="Google Shape;1052;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95</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0" name="Google Shape;1060;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Ahora vamos a ver la parte de permisos. Los permisos como su propio nombre indica son los derechos de los usuarios para actuar sobre los archivos o directorios. Existen tres tipos de permisos de actuación sobre los ficheros:</a:t>
            </a:r>
            <a:endParaRPr/>
          </a:p>
          <a:p>
            <a:pPr marL="171450" lvl="0" indent="-171450" algn="l" rtl="0">
              <a:lnSpc>
                <a:spcPct val="100000"/>
              </a:lnSpc>
              <a:spcBef>
                <a:spcPts val="0"/>
              </a:spcBef>
              <a:spcAft>
                <a:spcPts val="0"/>
              </a:spcAft>
              <a:buClr>
                <a:schemeClr val="dk1"/>
              </a:buClr>
              <a:buSzPts val="1200"/>
              <a:buFont typeface="Arial"/>
              <a:buChar char="•"/>
            </a:pPr>
            <a:r>
              <a:rPr lang="es-ES"/>
              <a:t>Permiso de lectura, que se abrevia con una r minúscula. Estos permisos permiten a la persona que tiene permisos de lectura ver el contenido de los archivos. En el caso de directorios, el permiso de lectura permite listar el contenido de los directorios.</a:t>
            </a:r>
            <a:endParaRPr/>
          </a:p>
          <a:p>
            <a:pPr marL="171450" lvl="0" indent="-171450" algn="l" rtl="0">
              <a:lnSpc>
                <a:spcPct val="100000"/>
              </a:lnSpc>
              <a:spcBef>
                <a:spcPts val="0"/>
              </a:spcBef>
              <a:spcAft>
                <a:spcPts val="0"/>
              </a:spcAft>
              <a:buClr>
                <a:schemeClr val="dk1"/>
              </a:buClr>
              <a:buSzPts val="1200"/>
              <a:buFont typeface="Arial"/>
              <a:buChar char="•"/>
            </a:pPr>
            <a:r>
              <a:rPr lang="es-ES"/>
              <a:t>Permisos de escritura, que se abrevia con w minúscula, permite a los usuarios con este permiso modificar el contenido del archivo. En el caso de los directorios, este permiso permite editar el contenido (los archivos del directorio)</a:t>
            </a:r>
            <a:endParaRPr/>
          </a:p>
          <a:p>
            <a:pPr marL="171450" lvl="0" indent="-171450" algn="l" rtl="0">
              <a:lnSpc>
                <a:spcPct val="100000"/>
              </a:lnSpc>
              <a:spcBef>
                <a:spcPts val="0"/>
              </a:spcBef>
              <a:spcAft>
                <a:spcPts val="0"/>
              </a:spcAft>
              <a:buClr>
                <a:schemeClr val="dk1"/>
              </a:buClr>
              <a:buSzPts val="1200"/>
              <a:buFont typeface="Arial"/>
              <a:buChar char="•"/>
            </a:pPr>
            <a:r>
              <a:rPr lang="es-ES"/>
              <a:t>Permisos de ejecución que se abrevia con la letra x minúscula, permiten ejecutar o correr un archivo que contiene un programa o script. Para el caso de los directorios, el permiso de ejecución permite moverte dentro del directorio y convertirlo en tu directorio actual (pwd).</a:t>
            </a:r>
            <a:endParaRPr/>
          </a:p>
        </p:txBody>
      </p:sp>
      <p:sp>
        <p:nvSpPr>
          <p:cNvPr id="1061" name="Google Shape;1061;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96</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2700" lvl="0" indent="0" algn="l" rtl="0">
              <a:lnSpc>
                <a:spcPct val="100000"/>
              </a:lnSpc>
              <a:spcBef>
                <a:spcPts val="0"/>
              </a:spcBef>
              <a:spcAft>
                <a:spcPts val="0"/>
              </a:spcAft>
              <a:buClr>
                <a:schemeClr val="dk1"/>
              </a:buClr>
              <a:buSzPts val="1200"/>
              <a:buFont typeface="Arial"/>
              <a:buNone/>
            </a:pPr>
            <a:r>
              <a:rPr lang="es-ES" b="0" u="none">
                <a:latin typeface="Arial"/>
                <a:ea typeface="Arial"/>
                <a:cs typeface="Arial"/>
                <a:sym typeface="Arial"/>
              </a:rPr>
              <a:t>Esto es lo que nos aparece cuando le pedimos a la terminal que nos indique los permisos de un fichero:</a:t>
            </a:r>
            <a:endParaRPr/>
          </a:p>
          <a:p>
            <a:pPr marL="355600" lvl="0" indent="-34290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Antes comentábamos, como puede el ordenador saber cuando un fichero es un directorio, y comentábamos que por los permisos. Aquí vemos que el primer campo indica el tipo de fichero, cuando es un guión es que es un fichero, y cuando es una d indica que es un directorio. Luego veremos más ejemplos.</a:t>
            </a:r>
            <a:endParaRPr/>
          </a:p>
          <a:p>
            <a:pPr marL="12700" lvl="0" indent="0" algn="l" rtl="0">
              <a:lnSpc>
                <a:spcPct val="100000"/>
              </a:lnSpc>
              <a:spcBef>
                <a:spcPts val="0"/>
              </a:spcBef>
              <a:spcAft>
                <a:spcPts val="0"/>
              </a:spcAft>
              <a:buClr>
                <a:schemeClr val="dk1"/>
              </a:buClr>
              <a:buSzPts val="1600"/>
              <a:buFont typeface="Arial"/>
              <a:buNone/>
            </a:pPr>
            <a:r>
              <a:rPr lang="es-ES" sz="1600" b="0" u="none">
                <a:latin typeface="Arial"/>
                <a:ea typeface="Arial"/>
                <a:cs typeface="Arial"/>
                <a:sym typeface="Arial"/>
              </a:rPr>
              <a:t>En el ejemplo de abajo se ve como se almacena la información de los permisos en el sistema</a:t>
            </a:r>
            <a:r>
              <a:rPr lang="es-ES" sz="1600" b="0" u="none">
                <a:latin typeface="Times New Roman"/>
                <a:ea typeface="Times New Roman"/>
                <a:cs typeface="Times New Roman"/>
                <a:sym typeface="Times New Roman"/>
              </a:rPr>
              <a:t> </a:t>
            </a:r>
            <a:r>
              <a:rPr lang="es-ES" b="0" u="none">
                <a:latin typeface="Arial"/>
                <a:ea typeface="Arial"/>
                <a:cs typeface="Arial"/>
                <a:sym typeface="Arial"/>
              </a:rPr>
              <a:t>como</a:t>
            </a:r>
            <a:r>
              <a:rPr lang="es-ES" b="0" u="none">
                <a:latin typeface="Times New Roman"/>
                <a:ea typeface="Times New Roman"/>
                <a:cs typeface="Times New Roman"/>
                <a:sym typeface="Times New Roman"/>
              </a:rPr>
              <a:t> </a:t>
            </a:r>
            <a:r>
              <a:rPr lang="es-ES" b="0" u="none">
                <a:latin typeface="Arial"/>
                <a:ea typeface="Arial"/>
                <a:cs typeface="Arial"/>
                <a:sym typeface="Arial"/>
              </a:rPr>
              <a:t>una</a:t>
            </a:r>
            <a:r>
              <a:rPr lang="es-ES" b="0" u="none">
                <a:latin typeface="Times New Roman"/>
                <a:ea typeface="Times New Roman"/>
                <a:cs typeface="Times New Roman"/>
                <a:sym typeface="Times New Roman"/>
              </a:rPr>
              <a:t> </a:t>
            </a:r>
            <a:r>
              <a:rPr lang="es-ES" b="0" u="none">
                <a:latin typeface="Arial"/>
                <a:ea typeface="Arial"/>
                <a:cs typeface="Arial"/>
                <a:sym typeface="Arial"/>
              </a:rPr>
              <a:t>secuencia</a:t>
            </a:r>
            <a:r>
              <a:rPr lang="es-ES" b="0" u="none">
                <a:latin typeface="Times New Roman"/>
                <a:ea typeface="Times New Roman"/>
                <a:cs typeface="Times New Roman"/>
                <a:sym typeface="Times New Roman"/>
              </a:rPr>
              <a:t> </a:t>
            </a:r>
            <a:r>
              <a:rPr lang="es-ES" b="0" u="none">
                <a:latin typeface="Arial"/>
                <a:ea typeface="Arial"/>
                <a:cs typeface="Arial"/>
                <a:sym typeface="Arial"/>
              </a:rPr>
              <a:t>de</a:t>
            </a:r>
            <a:r>
              <a:rPr lang="es-ES" b="0" u="none">
                <a:latin typeface="Times New Roman"/>
                <a:ea typeface="Times New Roman"/>
                <a:cs typeface="Times New Roman"/>
                <a:sym typeface="Times New Roman"/>
              </a:rPr>
              <a:t> </a:t>
            </a:r>
            <a:r>
              <a:rPr lang="es-ES" b="0" u="none">
                <a:latin typeface="Arial"/>
                <a:ea typeface="Arial"/>
                <a:cs typeface="Arial"/>
                <a:sym typeface="Arial"/>
              </a:rPr>
              <a:t>9</a:t>
            </a:r>
            <a:r>
              <a:rPr lang="es-ES" b="0" u="none">
                <a:latin typeface="Times New Roman"/>
                <a:ea typeface="Times New Roman"/>
                <a:cs typeface="Times New Roman"/>
                <a:sym typeface="Times New Roman"/>
              </a:rPr>
              <a:t> </a:t>
            </a:r>
            <a:r>
              <a:rPr lang="es-ES" b="0" u="none">
                <a:latin typeface="Arial"/>
                <a:ea typeface="Arial"/>
                <a:cs typeface="Arial"/>
                <a:sym typeface="Arial"/>
              </a:rPr>
              <a:t>bits</a:t>
            </a:r>
            <a:r>
              <a:rPr lang="es-ES" sz="1600" b="0" u="none">
                <a:latin typeface="Times New Roman"/>
                <a:ea typeface="Times New Roman"/>
                <a:cs typeface="Times New Roman"/>
                <a:sym typeface="Times New Roman"/>
              </a:rPr>
              <a:t> en </a:t>
            </a:r>
            <a:r>
              <a:rPr lang="es-ES" b="0" u="none">
                <a:latin typeface="Arial"/>
                <a:ea typeface="Arial"/>
                <a:cs typeface="Arial"/>
                <a:sym typeface="Arial"/>
              </a:rPr>
              <a:t>una</a:t>
            </a:r>
            <a:r>
              <a:rPr lang="es-ES" b="0" u="none">
                <a:latin typeface="Times New Roman"/>
                <a:ea typeface="Times New Roman"/>
                <a:cs typeface="Times New Roman"/>
                <a:sym typeface="Times New Roman"/>
              </a:rPr>
              <a:t> </a:t>
            </a:r>
            <a:r>
              <a:rPr lang="es-ES" b="0" u="none">
                <a:latin typeface="Arial"/>
                <a:ea typeface="Arial"/>
                <a:cs typeface="Arial"/>
                <a:sym typeface="Arial"/>
              </a:rPr>
              <a:t>estructura</a:t>
            </a:r>
            <a:r>
              <a:rPr lang="es-ES" b="0" u="none">
                <a:latin typeface="Times New Roman"/>
                <a:ea typeface="Times New Roman"/>
                <a:cs typeface="Times New Roman"/>
                <a:sym typeface="Times New Roman"/>
              </a:rPr>
              <a:t> </a:t>
            </a:r>
            <a:r>
              <a:rPr lang="es-ES" b="0" u="none">
                <a:latin typeface="Arial"/>
                <a:ea typeface="Arial"/>
                <a:cs typeface="Arial"/>
                <a:sym typeface="Arial"/>
              </a:rPr>
              <a:t>de</a:t>
            </a:r>
            <a:r>
              <a:rPr lang="es-ES" b="0" u="none">
                <a:latin typeface="Times New Roman"/>
                <a:ea typeface="Times New Roman"/>
                <a:cs typeface="Times New Roman"/>
                <a:sym typeface="Times New Roman"/>
              </a:rPr>
              <a:t> </a:t>
            </a:r>
            <a:r>
              <a:rPr lang="es-ES" b="0" u="none">
                <a:latin typeface="Arial"/>
                <a:ea typeface="Arial"/>
                <a:cs typeface="Arial"/>
                <a:sym typeface="Arial"/>
              </a:rPr>
              <a:t>tres</a:t>
            </a:r>
            <a:r>
              <a:rPr lang="es-ES" b="0" u="none">
                <a:latin typeface="Times New Roman"/>
                <a:ea typeface="Times New Roman"/>
                <a:cs typeface="Times New Roman"/>
                <a:sym typeface="Times New Roman"/>
              </a:rPr>
              <a:t> </a:t>
            </a:r>
            <a:r>
              <a:rPr lang="es-ES" b="0" u="none">
                <a:latin typeface="Arial"/>
                <a:ea typeface="Arial"/>
                <a:cs typeface="Arial"/>
                <a:sym typeface="Arial"/>
              </a:rPr>
              <a:t>grupos:</a:t>
            </a:r>
            <a:endParaRPr b="0" u="none">
              <a:latin typeface="Times New Roman"/>
              <a:ea typeface="Times New Roman"/>
              <a:cs typeface="Times New Roman"/>
              <a:sym typeface="Times New Roman"/>
            </a:endParaRPr>
          </a:p>
          <a:p>
            <a:pPr marL="812800" marR="158115" lvl="1" indent="-342900" algn="l" rtl="0">
              <a:lnSpc>
                <a:spcPct val="100000"/>
              </a:lnSpc>
              <a:spcBef>
                <a:spcPts val="0"/>
              </a:spcBef>
              <a:spcAft>
                <a:spcPts val="0"/>
              </a:spcAft>
              <a:buClr>
                <a:schemeClr val="dk1"/>
              </a:buClr>
              <a:buSzPts val="1200"/>
              <a:buFont typeface="Arial"/>
              <a:buChar char="•"/>
            </a:pPr>
            <a:r>
              <a:rPr lang="es-ES" b="0" u="none">
                <a:latin typeface="Times New Roman"/>
                <a:ea typeface="Times New Roman"/>
                <a:cs typeface="Times New Roman"/>
                <a:sym typeface="Times New Roman"/>
              </a:rPr>
              <a:t>La primera es </a:t>
            </a:r>
            <a:r>
              <a:rPr lang="es-ES" b="0" u="none">
                <a:latin typeface="Arial"/>
                <a:ea typeface="Arial"/>
                <a:cs typeface="Arial"/>
                <a:sym typeface="Arial"/>
              </a:rPr>
              <a:t>para</a:t>
            </a:r>
            <a:r>
              <a:rPr lang="es-ES" b="0" u="none">
                <a:latin typeface="Times New Roman"/>
                <a:ea typeface="Times New Roman"/>
                <a:cs typeface="Times New Roman"/>
                <a:sym typeface="Times New Roman"/>
              </a:rPr>
              <a:t> </a:t>
            </a:r>
            <a:r>
              <a:rPr lang="es-ES" b="0" u="none">
                <a:latin typeface="Arial"/>
                <a:ea typeface="Arial"/>
                <a:cs typeface="Arial"/>
                <a:sym typeface="Arial"/>
              </a:rPr>
              <a:t>el</a:t>
            </a:r>
            <a:r>
              <a:rPr lang="es-ES" b="0" u="none">
                <a:latin typeface="Times New Roman"/>
                <a:ea typeface="Times New Roman"/>
                <a:cs typeface="Times New Roman"/>
                <a:sym typeface="Times New Roman"/>
              </a:rPr>
              <a:t> </a:t>
            </a:r>
            <a:r>
              <a:rPr lang="es-ES" b="0" u="none">
                <a:latin typeface="Arial"/>
                <a:ea typeface="Arial"/>
                <a:cs typeface="Arial"/>
                <a:sym typeface="Arial"/>
              </a:rPr>
              <a:t>propietario del fichero </a:t>
            </a:r>
            <a:endParaRPr/>
          </a:p>
          <a:p>
            <a:pPr marL="812800" marR="158115" lvl="1" indent="-34290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La segunda secuencia es</a:t>
            </a:r>
            <a:r>
              <a:rPr lang="es-ES" b="0" u="none">
                <a:latin typeface="Times New Roman"/>
                <a:ea typeface="Times New Roman"/>
                <a:cs typeface="Times New Roman"/>
                <a:sym typeface="Times New Roman"/>
              </a:rPr>
              <a:t> </a:t>
            </a:r>
            <a:r>
              <a:rPr lang="es-ES" b="0" u="none">
                <a:latin typeface="Arial"/>
                <a:ea typeface="Arial"/>
                <a:cs typeface="Arial"/>
                <a:sym typeface="Arial"/>
              </a:rPr>
              <a:t>para</a:t>
            </a:r>
            <a:r>
              <a:rPr lang="es-ES" b="0" u="none">
                <a:latin typeface="Times New Roman"/>
                <a:ea typeface="Times New Roman"/>
                <a:cs typeface="Times New Roman"/>
                <a:sym typeface="Times New Roman"/>
              </a:rPr>
              <a:t> </a:t>
            </a:r>
            <a:r>
              <a:rPr lang="es-ES" b="0" u="none">
                <a:latin typeface="Arial"/>
                <a:ea typeface="Arial"/>
                <a:cs typeface="Arial"/>
                <a:sym typeface="Arial"/>
              </a:rPr>
              <a:t>el</a:t>
            </a:r>
            <a:r>
              <a:rPr lang="es-ES" b="0" u="none">
                <a:latin typeface="Times New Roman"/>
                <a:ea typeface="Times New Roman"/>
                <a:cs typeface="Times New Roman"/>
                <a:sym typeface="Times New Roman"/>
              </a:rPr>
              <a:t> </a:t>
            </a:r>
            <a:r>
              <a:rPr lang="es-ES" b="0" u="none">
                <a:latin typeface="Arial"/>
                <a:ea typeface="Arial"/>
                <a:cs typeface="Arial"/>
                <a:sym typeface="Arial"/>
              </a:rPr>
              <a:t>grupo</a:t>
            </a:r>
            <a:r>
              <a:rPr lang="es-ES" b="0" u="none">
                <a:latin typeface="Times New Roman"/>
                <a:ea typeface="Times New Roman"/>
                <a:cs typeface="Times New Roman"/>
                <a:sym typeface="Times New Roman"/>
              </a:rPr>
              <a:t> </a:t>
            </a:r>
            <a:r>
              <a:rPr lang="es-ES" b="0" u="none">
                <a:latin typeface="Arial"/>
                <a:ea typeface="Arial"/>
                <a:cs typeface="Arial"/>
                <a:sym typeface="Arial"/>
              </a:rPr>
              <a:t>del</a:t>
            </a:r>
            <a:r>
              <a:rPr lang="es-ES" b="0" u="none">
                <a:latin typeface="Times New Roman"/>
                <a:ea typeface="Times New Roman"/>
                <a:cs typeface="Times New Roman"/>
                <a:sym typeface="Times New Roman"/>
              </a:rPr>
              <a:t> </a:t>
            </a:r>
            <a:r>
              <a:rPr lang="es-ES" b="0" u="none">
                <a:latin typeface="Arial"/>
                <a:ea typeface="Arial"/>
                <a:cs typeface="Arial"/>
                <a:sym typeface="Arial"/>
              </a:rPr>
              <a:t>fichero</a:t>
            </a:r>
            <a:endParaRPr b="0" u="none">
              <a:latin typeface="Times New Roman"/>
              <a:ea typeface="Times New Roman"/>
              <a:cs typeface="Times New Roman"/>
              <a:sym typeface="Times New Roman"/>
            </a:endParaRPr>
          </a:p>
          <a:p>
            <a:pPr marL="812800" marR="158115" lvl="1" indent="-342900" algn="l" rtl="0">
              <a:lnSpc>
                <a:spcPct val="100000"/>
              </a:lnSpc>
              <a:spcBef>
                <a:spcPts val="0"/>
              </a:spcBef>
              <a:spcAft>
                <a:spcPts val="0"/>
              </a:spcAft>
              <a:buClr>
                <a:schemeClr val="dk1"/>
              </a:buClr>
              <a:buSzPts val="1200"/>
              <a:buFont typeface="Arial"/>
              <a:buChar char="•"/>
            </a:pPr>
            <a:r>
              <a:rPr lang="es-ES" b="0" u="none">
                <a:latin typeface="Times New Roman"/>
                <a:ea typeface="Times New Roman"/>
                <a:cs typeface="Times New Roman"/>
                <a:sym typeface="Times New Roman"/>
              </a:rPr>
              <a:t>Y la tercera es </a:t>
            </a:r>
            <a:r>
              <a:rPr lang="es-ES" b="0" u="none">
                <a:latin typeface="Arial"/>
                <a:ea typeface="Arial"/>
                <a:cs typeface="Arial"/>
                <a:sym typeface="Arial"/>
              </a:rPr>
              <a:t>para</a:t>
            </a:r>
            <a:r>
              <a:rPr lang="es-ES" b="0" u="none">
                <a:latin typeface="Times New Roman"/>
                <a:ea typeface="Times New Roman"/>
                <a:cs typeface="Times New Roman"/>
                <a:sym typeface="Times New Roman"/>
              </a:rPr>
              <a:t> </a:t>
            </a:r>
            <a:r>
              <a:rPr lang="es-ES" b="0" u="none">
                <a:latin typeface="Arial"/>
                <a:ea typeface="Arial"/>
                <a:cs typeface="Arial"/>
                <a:sym typeface="Arial"/>
              </a:rPr>
              <a:t>los</a:t>
            </a:r>
            <a:r>
              <a:rPr lang="es-ES" b="0" u="none">
                <a:latin typeface="Times New Roman"/>
                <a:ea typeface="Times New Roman"/>
                <a:cs typeface="Times New Roman"/>
                <a:sym typeface="Times New Roman"/>
              </a:rPr>
              <a:t> </a:t>
            </a:r>
            <a:r>
              <a:rPr lang="es-ES" b="0" u="none">
                <a:latin typeface="Arial"/>
                <a:ea typeface="Arial"/>
                <a:cs typeface="Arial"/>
                <a:sym typeface="Arial"/>
              </a:rPr>
              <a:t>demás usuarios que no sean ni el propietario ni pertenezcan al grupo</a:t>
            </a:r>
            <a:endParaRPr/>
          </a:p>
          <a:p>
            <a:pPr marL="355600" marR="158115" lvl="0" indent="-34290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Cada uno de los grupos tiene un apartado para los permisos de lectura, para los permisos de escritura y para los de ejecución.</a:t>
            </a:r>
            <a:endParaRPr/>
          </a:p>
          <a:p>
            <a:pPr marL="355600" marR="158115" lvl="0" indent="-34290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Después de la secuencia de información de permisos te proporciona información sobre el propietario del fichero, el grupo al que pertenece el fichero y el nombre del fichero.</a:t>
            </a:r>
            <a:endParaRPr/>
          </a:p>
          <a:p>
            <a:pPr marL="355600" marR="158115" lvl="0" indent="-34290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Los</a:t>
            </a:r>
            <a:r>
              <a:rPr lang="es-ES" b="0" u="none">
                <a:latin typeface="Times New Roman"/>
                <a:ea typeface="Times New Roman"/>
                <a:cs typeface="Times New Roman"/>
                <a:sym typeface="Times New Roman"/>
              </a:rPr>
              <a:t> </a:t>
            </a:r>
            <a:r>
              <a:rPr lang="es-ES" b="0" u="none">
                <a:latin typeface="Arial"/>
                <a:ea typeface="Arial"/>
                <a:cs typeface="Arial"/>
                <a:sym typeface="Arial"/>
              </a:rPr>
              <a:t>permisos</a:t>
            </a:r>
            <a:r>
              <a:rPr lang="es-ES" b="0" u="none">
                <a:latin typeface="Times New Roman"/>
                <a:ea typeface="Times New Roman"/>
                <a:cs typeface="Times New Roman"/>
                <a:sym typeface="Times New Roman"/>
              </a:rPr>
              <a:t> </a:t>
            </a:r>
            <a:r>
              <a:rPr lang="es-ES" b="0" u="none">
                <a:latin typeface="Arial"/>
                <a:ea typeface="Arial"/>
                <a:cs typeface="Arial"/>
                <a:sym typeface="Arial"/>
              </a:rPr>
              <a:t>de</a:t>
            </a:r>
            <a:r>
              <a:rPr lang="es-ES" b="0" u="none">
                <a:latin typeface="Times New Roman"/>
                <a:ea typeface="Times New Roman"/>
                <a:cs typeface="Times New Roman"/>
                <a:sym typeface="Times New Roman"/>
              </a:rPr>
              <a:t> </a:t>
            </a:r>
            <a:r>
              <a:rPr lang="es-ES" b="0" u="none">
                <a:latin typeface="Arial"/>
                <a:ea typeface="Arial"/>
                <a:cs typeface="Arial"/>
                <a:sym typeface="Arial"/>
              </a:rPr>
              <a:t>un</a:t>
            </a:r>
            <a:r>
              <a:rPr lang="es-ES" b="0" u="none">
                <a:latin typeface="Times New Roman"/>
                <a:ea typeface="Times New Roman"/>
                <a:cs typeface="Times New Roman"/>
                <a:sym typeface="Times New Roman"/>
              </a:rPr>
              <a:t> </a:t>
            </a:r>
            <a:r>
              <a:rPr lang="es-ES" b="0" u="none">
                <a:latin typeface="Arial"/>
                <a:ea typeface="Arial"/>
                <a:cs typeface="Arial"/>
                <a:sym typeface="Arial"/>
              </a:rPr>
              <a:t>fichero</a:t>
            </a:r>
            <a:r>
              <a:rPr lang="es-ES" b="0" u="none">
                <a:latin typeface="Times New Roman"/>
                <a:ea typeface="Times New Roman"/>
                <a:cs typeface="Times New Roman"/>
                <a:sym typeface="Times New Roman"/>
              </a:rPr>
              <a:t> </a:t>
            </a:r>
            <a:r>
              <a:rPr lang="es-ES" b="0" u="none">
                <a:latin typeface="Arial"/>
                <a:ea typeface="Arial"/>
                <a:cs typeface="Arial"/>
                <a:sym typeface="Arial"/>
              </a:rPr>
              <a:t>solo</a:t>
            </a:r>
            <a:r>
              <a:rPr lang="es-ES" b="0" u="none">
                <a:latin typeface="Times New Roman"/>
                <a:ea typeface="Times New Roman"/>
                <a:cs typeface="Times New Roman"/>
                <a:sym typeface="Times New Roman"/>
              </a:rPr>
              <a:t> </a:t>
            </a:r>
            <a:r>
              <a:rPr lang="es-ES" b="0" u="none">
                <a:latin typeface="Arial"/>
                <a:ea typeface="Arial"/>
                <a:cs typeface="Arial"/>
                <a:sym typeface="Arial"/>
              </a:rPr>
              <a:t>pueden</a:t>
            </a:r>
            <a:r>
              <a:rPr lang="es-ES" b="0" u="none">
                <a:latin typeface="Times New Roman"/>
                <a:ea typeface="Times New Roman"/>
                <a:cs typeface="Times New Roman"/>
                <a:sym typeface="Times New Roman"/>
              </a:rPr>
              <a:t> </a:t>
            </a:r>
            <a:r>
              <a:rPr lang="es-ES" b="0" u="none">
                <a:latin typeface="Arial"/>
                <a:ea typeface="Arial"/>
                <a:cs typeface="Arial"/>
                <a:sym typeface="Arial"/>
              </a:rPr>
              <a:t>ser</a:t>
            </a:r>
            <a:r>
              <a:rPr lang="es-ES" b="0" u="none">
                <a:latin typeface="Times New Roman"/>
                <a:ea typeface="Times New Roman"/>
                <a:cs typeface="Times New Roman"/>
                <a:sym typeface="Times New Roman"/>
              </a:rPr>
              <a:t> </a:t>
            </a:r>
            <a:r>
              <a:rPr lang="es-ES" b="0" u="none">
                <a:latin typeface="Arial"/>
                <a:ea typeface="Arial"/>
                <a:cs typeface="Arial"/>
                <a:sym typeface="Arial"/>
              </a:rPr>
              <a:t>alterados</a:t>
            </a:r>
            <a:r>
              <a:rPr lang="es-ES" b="0" u="none">
                <a:latin typeface="Times New Roman"/>
                <a:ea typeface="Times New Roman"/>
                <a:cs typeface="Times New Roman"/>
                <a:sym typeface="Times New Roman"/>
              </a:rPr>
              <a:t> </a:t>
            </a:r>
            <a:r>
              <a:rPr lang="es-ES" b="0" u="none">
                <a:latin typeface="Arial"/>
                <a:ea typeface="Arial"/>
                <a:cs typeface="Arial"/>
                <a:sym typeface="Arial"/>
              </a:rPr>
              <a:t>por</a:t>
            </a:r>
            <a:r>
              <a:rPr lang="es-ES" b="0" u="none">
                <a:latin typeface="Times New Roman"/>
                <a:ea typeface="Times New Roman"/>
                <a:cs typeface="Times New Roman"/>
                <a:sym typeface="Times New Roman"/>
              </a:rPr>
              <a:t> </a:t>
            </a:r>
            <a:r>
              <a:rPr lang="es-ES" b="0" u="none">
                <a:latin typeface="Arial"/>
                <a:ea typeface="Arial"/>
                <a:cs typeface="Arial"/>
                <a:sym typeface="Arial"/>
              </a:rPr>
              <a:t>su</a:t>
            </a:r>
            <a:r>
              <a:rPr lang="es-ES" b="0" u="none">
                <a:latin typeface="Times New Roman"/>
                <a:ea typeface="Times New Roman"/>
                <a:cs typeface="Times New Roman"/>
                <a:sym typeface="Times New Roman"/>
              </a:rPr>
              <a:t> </a:t>
            </a:r>
            <a:r>
              <a:rPr lang="es-ES" b="0" u="none">
                <a:latin typeface="Arial"/>
                <a:ea typeface="Arial"/>
                <a:cs typeface="Arial"/>
                <a:sym typeface="Arial"/>
              </a:rPr>
              <a:t>propietario, los usuarios</a:t>
            </a:r>
            <a:r>
              <a:rPr lang="es-ES" b="0" u="none">
                <a:latin typeface="Times New Roman"/>
                <a:ea typeface="Times New Roman"/>
                <a:cs typeface="Times New Roman"/>
                <a:sym typeface="Times New Roman"/>
              </a:rPr>
              <a:t> </a:t>
            </a:r>
            <a:r>
              <a:rPr lang="es-ES" b="0" u="none">
                <a:latin typeface="Arial"/>
                <a:ea typeface="Arial"/>
                <a:cs typeface="Arial"/>
                <a:sym typeface="Arial"/>
              </a:rPr>
              <a:t>que</a:t>
            </a:r>
            <a:r>
              <a:rPr lang="es-ES" b="0" u="none">
                <a:latin typeface="Times New Roman"/>
                <a:ea typeface="Times New Roman"/>
                <a:cs typeface="Times New Roman"/>
                <a:sym typeface="Times New Roman"/>
              </a:rPr>
              <a:t> </a:t>
            </a:r>
            <a:r>
              <a:rPr lang="es-ES" b="0" u="none">
                <a:latin typeface="Arial"/>
                <a:ea typeface="Arial"/>
                <a:cs typeface="Arial"/>
                <a:sym typeface="Arial"/>
              </a:rPr>
              <a:t>pertenezcan</a:t>
            </a:r>
            <a:r>
              <a:rPr lang="es-ES" b="0" u="none">
                <a:latin typeface="Times New Roman"/>
                <a:ea typeface="Times New Roman"/>
                <a:cs typeface="Times New Roman"/>
                <a:sym typeface="Times New Roman"/>
              </a:rPr>
              <a:t> </a:t>
            </a:r>
            <a:r>
              <a:rPr lang="es-ES" b="0" u="none">
                <a:latin typeface="Arial"/>
                <a:ea typeface="Arial"/>
                <a:cs typeface="Arial"/>
                <a:sym typeface="Arial"/>
              </a:rPr>
              <a:t>al</a:t>
            </a:r>
            <a:r>
              <a:rPr lang="es-ES" b="0" u="none">
                <a:latin typeface="Times New Roman"/>
                <a:ea typeface="Times New Roman"/>
                <a:cs typeface="Times New Roman"/>
                <a:sym typeface="Times New Roman"/>
              </a:rPr>
              <a:t> </a:t>
            </a:r>
            <a:r>
              <a:rPr lang="es-ES" b="0" u="none">
                <a:latin typeface="Arial"/>
                <a:ea typeface="Arial"/>
                <a:cs typeface="Arial"/>
                <a:sym typeface="Arial"/>
              </a:rPr>
              <a:t>grupo</a:t>
            </a:r>
            <a:r>
              <a:rPr lang="es-ES" b="0" u="none">
                <a:latin typeface="Times New Roman"/>
                <a:ea typeface="Times New Roman"/>
                <a:cs typeface="Times New Roman"/>
                <a:sym typeface="Times New Roman"/>
              </a:rPr>
              <a:t> </a:t>
            </a:r>
            <a:r>
              <a:rPr lang="es-ES" b="0" u="none">
                <a:latin typeface="Arial"/>
                <a:ea typeface="Arial"/>
                <a:cs typeface="Arial"/>
                <a:sym typeface="Arial"/>
              </a:rPr>
              <a:t>y</a:t>
            </a:r>
            <a:r>
              <a:rPr lang="es-ES" b="0" u="none">
                <a:latin typeface="Times New Roman"/>
                <a:ea typeface="Times New Roman"/>
                <a:cs typeface="Times New Roman"/>
                <a:sym typeface="Times New Roman"/>
              </a:rPr>
              <a:t> </a:t>
            </a:r>
            <a:r>
              <a:rPr lang="es-ES" b="0" u="none">
                <a:latin typeface="Arial"/>
                <a:ea typeface="Arial"/>
                <a:cs typeface="Arial"/>
                <a:sym typeface="Arial"/>
              </a:rPr>
              <a:t>por</a:t>
            </a:r>
            <a:r>
              <a:rPr lang="es-ES" b="0" u="none">
                <a:latin typeface="Times New Roman"/>
                <a:ea typeface="Times New Roman"/>
                <a:cs typeface="Times New Roman"/>
                <a:sym typeface="Times New Roman"/>
              </a:rPr>
              <a:t> </a:t>
            </a:r>
            <a:r>
              <a:rPr lang="es-ES" b="0" u="none">
                <a:latin typeface="Arial"/>
                <a:ea typeface="Arial"/>
                <a:cs typeface="Arial"/>
                <a:sym typeface="Arial"/>
              </a:rPr>
              <a:t>el</a:t>
            </a:r>
            <a:r>
              <a:rPr lang="es-ES" b="0" u="none">
                <a:latin typeface="Times New Roman"/>
                <a:ea typeface="Times New Roman"/>
                <a:cs typeface="Times New Roman"/>
                <a:sym typeface="Times New Roman"/>
              </a:rPr>
              <a:t> </a:t>
            </a:r>
            <a:r>
              <a:rPr lang="es-ES" b="0" u="none">
                <a:latin typeface="Arial"/>
                <a:ea typeface="Arial"/>
                <a:cs typeface="Arial"/>
                <a:sym typeface="Arial"/>
              </a:rPr>
              <a:t>administrador.</a:t>
            </a:r>
            <a:endParaRPr b="0" u="none">
              <a:latin typeface="Arial"/>
              <a:ea typeface="Arial"/>
              <a:cs typeface="Arial"/>
              <a:sym typeface="Arial"/>
            </a:endParaRPr>
          </a:p>
          <a:p>
            <a:pPr marL="355600" marR="158115" lvl="0" indent="-34290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Cuando vemos los permisos de estos ficheros nos da más información que veremos más adelante.</a:t>
            </a:r>
            <a:endParaRPr/>
          </a:p>
        </p:txBody>
      </p:sp>
      <p:sp>
        <p:nvSpPr>
          <p:cNvPr id="1069" name="Google Shape;1069;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97</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2700" marR="158115" lvl="0" indent="0" algn="l" rtl="0">
              <a:lnSpc>
                <a:spcPct val="100000"/>
              </a:lnSpc>
              <a:spcBef>
                <a:spcPts val="0"/>
              </a:spcBef>
              <a:spcAft>
                <a:spcPts val="0"/>
              </a:spcAft>
              <a:buClr>
                <a:schemeClr val="dk1"/>
              </a:buClr>
              <a:buSzPts val="1200"/>
              <a:buFont typeface="Arial"/>
              <a:buNone/>
            </a:pPr>
            <a:r>
              <a:rPr lang="es-ES" b="0" u="none">
                <a:latin typeface="Arial"/>
                <a:ea typeface="Arial"/>
                <a:cs typeface="Arial"/>
                <a:sym typeface="Arial"/>
              </a:rPr>
              <a:t>Ahora vamos a ver algunos ejemplos. El primero son los permisos del directorio /opt</a:t>
            </a:r>
            <a:endParaRPr b="0" u="none">
              <a:latin typeface="Arial"/>
              <a:ea typeface="Arial"/>
              <a:cs typeface="Arial"/>
              <a:sym typeface="Arial"/>
            </a:endParaRPr>
          </a:p>
        </p:txBody>
      </p:sp>
      <p:sp>
        <p:nvSpPr>
          <p:cNvPr id="1101" name="Google Shape;1101;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98</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p3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8" name="Google Shape;1108;p3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a:t>Que como habíamos visto en el sistema de ficheros cuelga directamente sobre el directorio barra.</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8" name="Google Shape;1118;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El primer campo nos indica el tipo de fichero que es una d, de directorio</a:t>
            </a:r>
            <a:endParaRPr/>
          </a:p>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Lo siguientes 3 campos son los 3 tipos de permiso para el dueño/owner que son rwx, de forma que el dueño puede listar el contenido del directorio, modificarlo y entrar dentro.</a:t>
            </a:r>
            <a:endParaRPr/>
          </a:p>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Los siguientes 3 campos indican los permisos para el grupo, que son r-x, que quiere decir que el resto de personas del grupo que no son el owner, pueden listar el contenido del directorio y entrar dentro, pero no pueden modificarlo</a:t>
            </a:r>
            <a:endParaRPr/>
          </a:p>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Los siguientes 3 campos nos indican los permisos para el resto de usuarios, que son los los mismos que para el grupo.</a:t>
            </a:r>
            <a:endParaRPr/>
          </a:p>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Después nos dice que el dueño de la carpeta es el root, el grupo es el root y que el directorio se llama opt</a:t>
            </a:r>
            <a:endParaRPr b="0" u="none">
              <a:latin typeface="Arial"/>
              <a:ea typeface="Arial"/>
              <a:cs typeface="Arial"/>
              <a:sym typeface="Arial"/>
            </a:endParaRPr>
          </a:p>
        </p:txBody>
      </p:sp>
      <p:sp>
        <p:nvSpPr>
          <p:cNvPr id="1119" name="Google Shape;1119;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100</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7" name="Google Shape;1127;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El primer campo nos indica el tipo de fichero que es una d, de directorio</a:t>
            </a:r>
            <a:endParaRPr/>
          </a:p>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Lo siguientes 3 campos son los 3 tipos de permiso para el dueño/owner que son rwx, de forma que el dueño puede listar el contenido del directorio, modificarlo y entrar dentro.</a:t>
            </a:r>
            <a:endParaRPr/>
          </a:p>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Los siguientes 3 campos indican los permisos para el grupo, que no tiene ningún permiso</a:t>
            </a:r>
            <a:endParaRPr/>
          </a:p>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Los siguientes 3 campos nos indican los permisos para el resto de usuarios, que son los los mismos que para el grupo.</a:t>
            </a:r>
            <a:endParaRPr/>
          </a:p>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Después nos dice que el dueño de la carpeta es el alumno, el grupo es el clase y que el directorio se llama alumno</a:t>
            </a:r>
            <a:endParaRPr/>
          </a:p>
        </p:txBody>
      </p:sp>
      <p:sp>
        <p:nvSpPr>
          <p:cNvPr id="1128" name="Google Shape;1128;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101</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6" name="Google Shape;1136;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El tercer ejemplo es el directorio tmp, me podéis decir vosotros que permisos tiene?</a:t>
            </a:r>
            <a:endParaRPr/>
          </a:p>
        </p:txBody>
      </p:sp>
      <p:sp>
        <p:nvSpPr>
          <p:cNvPr id="1137" name="Google Shape;1137;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102</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5" name="Google Shape;1145;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84150" marR="158115" lvl="0" indent="-171450" algn="l" rtl="0">
              <a:lnSpc>
                <a:spcPct val="100000"/>
              </a:lnSpc>
              <a:spcBef>
                <a:spcPts val="0"/>
              </a:spcBef>
              <a:spcAft>
                <a:spcPts val="0"/>
              </a:spcAft>
              <a:buClr>
                <a:schemeClr val="dk1"/>
              </a:buClr>
              <a:buSzPts val="1200"/>
              <a:buFont typeface="Arial"/>
              <a:buChar char="•"/>
            </a:pPr>
            <a:r>
              <a:rPr lang="es-ES" b="0" u="none">
                <a:latin typeface="Arial"/>
                <a:ea typeface="Arial"/>
                <a:cs typeface="Arial"/>
                <a:sym typeface="Arial"/>
              </a:rPr>
              <a:t>Todo el mundo tiene permisos de todo</a:t>
            </a:r>
            <a:endParaRPr/>
          </a:p>
        </p:txBody>
      </p:sp>
      <p:sp>
        <p:nvSpPr>
          <p:cNvPr id="1146" name="Google Shape;1146;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103</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344e220f39a_0_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4" name="Google Shape;1154;g344e220f39a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Para ver los permisos y quien es el dueño de los archivos, tendremos que usar los comandos ls –al en la linea de comandos, que veremos en las prácticas.</a:t>
            </a:r>
            <a:endParaRPr/>
          </a:p>
          <a:p>
            <a:pPr marL="0" lvl="0" indent="0" algn="l" rtl="0">
              <a:lnSpc>
                <a:spcPct val="100000"/>
              </a:lnSpc>
              <a:spcBef>
                <a:spcPts val="0"/>
              </a:spcBef>
              <a:spcAft>
                <a:spcPts val="0"/>
              </a:spcAft>
              <a:buSzPts val="1400"/>
              <a:buNone/>
            </a:pPr>
            <a:r>
              <a:rPr lang="es-ES"/>
              <a:t>En este ejemplo vemos que se trata de un directorio con los permisos de lectura, escritura y ejecución para el dueño</a:t>
            </a:r>
            <a:endParaRPr/>
          </a:p>
          <a:p>
            <a:pPr marL="0" lvl="0" indent="0" algn="l" rtl="0">
              <a:lnSpc>
                <a:spcPct val="100000"/>
              </a:lnSpc>
              <a:spcBef>
                <a:spcPts val="0"/>
              </a:spcBef>
              <a:spcAft>
                <a:spcPts val="0"/>
              </a:spcAft>
              <a:buSzPts val="1400"/>
              <a:buNone/>
            </a:pPr>
            <a:r>
              <a:rPr lang="es-ES"/>
              <a:t>Permisos de lectura y ejecución para el grupo y para los demás</a:t>
            </a:r>
            <a:endParaRPr/>
          </a:p>
          <a:p>
            <a:pPr marL="0" lvl="0" indent="0" algn="l" rtl="0">
              <a:lnSpc>
                <a:spcPct val="100000"/>
              </a:lnSpc>
              <a:spcBef>
                <a:spcPts val="0"/>
              </a:spcBef>
              <a:spcAft>
                <a:spcPts val="0"/>
              </a:spcAft>
              <a:buSzPts val="1400"/>
              <a:buNone/>
            </a:pPr>
            <a:r>
              <a:rPr lang="es-ES"/>
              <a:t>Luego nos indica un número que es el número de archivos que contiene es directorio. En el caso de que el fichero sea un archivo pondrá un 1.</a:t>
            </a:r>
            <a:endParaRPr/>
          </a:p>
          <a:p>
            <a:pPr marL="0" lvl="0" indent="0" algn="l" rtl="0">
              <a:lnSpc>
                <a:spcPct val="100000"/>
              </a:lnSpc>
              <a:spcBef>
                <a:spcPts val="0"/>
              </a:spcBef>
              <a:spcAft>
                <a:spcPts val="0"/>
              </a:spcAft>
              <a:buSzPts val="1400"/>
              <a:buNone/>
            </a:pPr>
            <a:r>
              <a:rPr lang="es-ES"/>
              <a:t>El dueño es user, el grupo es user,</a:t>
            </a:r>
            <a:endParaRPr/>
          </a:p>
          <a:p>
            <a:pPr marL="0" lvl="0" indent="0" algn="l" rtl="0">
              <a:lnSpc>
                <a:spcPct val="100000"/>
              </a:lnSpc>
              <a:spcBef>
                <a:spcPts val="0"/>
              </a:spcBef>
              <a:spcAft>
                <a:spcPts val="0"/>
              </a:spcAft>
              <a:buSzPts val="1400"/>
              <a:buNone/>
            </a:pPr>
            <a:r>
              <a:rPr lang="es-ES"/>
              <a:t>después te dice el tamaño del archivo que son 4096 bytes.</a:t>
            </a:r>
            <a:endParaRPr/>
          </a:p>
          <a:p>
            <a:pPr marL="0" lvl="0" indent="0" algn="l" rtl="0">
              <a:lnSpc>
                <a:spcPct val="100000"/>
              </a:lnSpc>
              <a:spcBef>
                <a:spcPts val="0"/>
              </a:spcBef>
              <a:spcAft>
                <a:spcPts val="0"/>
              </a:spcAft>
              <a:buSzPts val="1400"/>
              <a:buNone/>
            </a:pPr>
            <a:r>
              <a:rPr lang="es-ES"/>
              <a:t>Después te dice la fecha de la última modificación</a:t>
            </a:r>
            <a:endParaRPr/>
          </a:p>
          <a:p>
            <a:pPr marL="0" lvl="0" indent="0" algn="l" rtl="0">
              <a:lnSpc>
                <a:spcPct val="100000"/>
              </a:lnSpc>
              <a:spcBef>
                <a:spcPts val="0"/>
              </a:spcBef>
              <a:spcAft>
                <a:spcPts val="0"/>
              </a:spcAft>
              <a:buSzPts val="1400"/>
              <a:buNone/>
            </a:pPr>
            <a:r>
              <a:rPr lang="es-ES"/>
              <a:t>Y el nombre del directorio que es documentos.</a:t>
            </a:r>
            <a:endParaRPr/>
          </a:p>
        </p:txBody>
      </p:sp>
      <p:sp>
        <p:nvSpPr>
          <p:cNvPr id="1155" name="Google Shape;1155;g344e220f39a_0_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104</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2" name="Google Shape;1162;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Que información me da esta linea?</a:t>
            </a:r>
            <a:endParaRPr/>
          </a:p>
        </p:txBody>
      </p:sp>
      <p:sp>
        <p:nvSpPr>
          <p:cNvPr id="1163" name="Google Shape;1163;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105</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0" name="Google Shape;1170;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1" name="Google Shape;1171;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106</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g344e220f39a_0_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8" name="Google Shape;1178;g344e220f39a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9" name="Google Shape;1179;g344e220f39a_0_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107</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7" name="Google Shape;1187;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s-ES"/>
              <a:t>Los permisos de un fichero solo pueden ser alterados por su propietario, los usuarios que pertenezcan al grupo y por el administrador. El super usuario puede cambiar los permisos de cualquier fichero del sistema.</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Comandos para cambiar permisos: </a:t>
            </a:r>
            <a:endParaRPr/>
          </a:p>
          <a:p>
            <a:pPr marL="0" lvl="0" indent="0" algn="l" rtl="0">
              <a:lnSpc>
                <a:spcPct val="100000"/>
              </a:lnSpc>
              <a:spcBef>
                <a:spcPts val="0"/>
              </a:spcBef>
              <a:spcAft>
                <a:spcPts val="0"/>
              </a:spcAft>
              <a:buClr>
                <a:schemeClr val="dk1"/>
              </a:buClr>
              <a:buSzPts val="1100"/>
              <a:buFont typeface="Arial"/>
              <a:buNone/>
            </a:pPr>
            <a:r>
              <a:rPr lang="es-ES"/>
              <a:t>- `chmod` (change mode): Sirve para cambiar los permisos de acceso de un archivo o directorio.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```bash</a:t>
            </a:r>
            <a:endParaRPr/>
          </a:p>
          <a:p>
            <a:pPr marL="0" lvl="0" indent="0" algn="l" rtl="0">
              <a:lnSpc>
                <a:spcPct val="100000"/>
              </a:lnSpc>
              <a:spcBef>
                <a:spcPts val="0"/>
              </a:spcBef>
              <a:spcAft>
                <a:spcPts val="0"/>
              </a:spcAft>
              <a:buClr>
                <a:schemeClr val="dk1"/>
              </a:buClr>
              <a:buSzPts val="1100"/>
              <a:buFont typeface="Arial"/>
              <a:buNone/>
            </a:pPr>
            <a:r>
              <a:rPr lang="es-ES"/>
              <a:t>chmod 755 archivo.sh</a:t>
            </a:r>
            <a:endParaRPr/>
          </a:p>
          <a:p>
            <a:pPr marL="0" lvl="0" indent="0" algn="l" rtl="0">
              <a:lnSpc>
                <a:spcPct val="100000"/>
              </a:lnSpc>
              <a:spcBef>
                <a:spcPts val="0"/>
              </a:spcBef>
              <a:spcAft>
                <a:spcPts val="0"/>
              </a:spcAft>
              <a:buClr>
                <a:schemeClr val="dk1"/>
              </a:buClr>
              <a:buSzPts val="1100"/>
              <a:buFont typeface="Arial"/>
              <a:buNone/>
            </a:pPr>
            <a:r>
              <a:rPr lang="es-ES"/>
              <a:t>```</a:t>
            </a:r>
            <a:endParaRPr/>
          </a:p>
          <a:p>
            <a:pPr marL="0" lvl="0" indent="0" algn="l" rtl="0">
              <a:lnSpc>
                <a:spcPct val="100000"/>
              </a:lnSpc>
              <a:spcBef>
                <a:spcPts val="0"/>
              </a:spcBef>
              <a:spcAft>
                <a:spcPts val="0"/>
              </a:spcAft>
              <a:buSzPts val="1100"/>
              <a:buNone/>
            </a:pPr>
            <a:r>
              <a:rPr lang="es-ES"/>
              <a:t>Este ejemplo le da:</a:t>
            </a:r>
            <a:endParaRPr/>
          </a:p>
          <a:p>
            <a:pPr marL="0" lvl="0" indent="0" algn="l" rtl="0">
              <a:lnSpc>
                <a:spcPct val="100000"/>
              </a:lnSpc>
              <a:spcBef>
                <a:spcPts val="0"/>
              </a:spcBef>
              <a:spcAft>
                <a:spcPts val="0"/>
              </a:spcAft>
              <a:buSzPts val="1100"/>
              <a:buNone/>
            </a:pPr>
            <a:r>
              <a:rPr lang="es-ES"/>
              <a:t>- `rwx` al usuario (7 = 4 + 2 + 1)</a:t>
            </a:r>
            <a:endParaRPr/>
          </a:p>
          <a:p>
            <a:pPr marL="0" lvl="0" indent="0" algn="l" rtl="0">
              <a:lnSpc>
                <a:spcPct val="100000"/>
              </a:lnSpc>
              <a:spcBef>
                <a:spcPts val="0"/>
              </a:spcBef>
              <a:spcAft>
                <a:spcPts val="0"/>
              </a:spcAft>
              <a:buSzPts val="1100"/>
              <a:buNone/>
            </a:pPr>
            <a:r>
              <a:rPr lang="es-ES"/>
              <a:t>- `rx` al grupo (5 = 4 + 0 + 1)</a:t>
            </a:r>
            <a:endParaRPr/>
          </a:p>
          <a:p>
            <a:pPr marL="0" lvl="0" indent="0" algn="l" rtl="0">
              <a:lnSpc>
                <a:spcPct val="100000"/>
              </a:lnSpc>
              <a:spcBef>
                <a:spcPts val="0"/>
              </a:spcBef>
              <a:spcAft>
                <a:spcPts val="0"/>
              </a:spcAft>
              <a:buSzPts val="1100"/>
              <a:buNone/>
            </a:pPr>
            <a:r>
              <a:rPr lang="es-ES"/>
              <a:t>- `rx` a los demás (5 = 4 + 0 + 1)</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r>
              <a:rPr lang="es-ES"/>
              <a:t>- `chown` (change owner): Sirve para cambiar el propietario o el grupo asociado a un archivo.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a:t>
            </a:r>
            <a:endParaRPr/>
          </a:p>
          <a:p>
            <a:pPr marL="0" lvl="0" indent="0" algn="l" rtl="0">
              <a:lnSpc>
                <a:spcPct val="100000"/>
              </a:lnSpc>
              <a:spcBef>
                <a:spcPts val="0"/>
              </a:spcBef>
              <a:spcAft>
                <a:spcPts val="0"/>
              </a:spcAft>
              <a:buClr>
                <a:schemeClr val="dk1"/>
              </a:buClr>
              <a:buSzPts val="1100"/>
              <a:buFont typeface="Arial"/>
              <a:buNone/>
            </a:pPr>
            <a:r>
              <a:rPr lang="es-ES"/>
              <a:t>chown s.vaorna:bi informe.txt</a:t>
            </a:r>
            <a:endParaRPr/>
          </a:p>
          <a:p>
            <a:pPr marL="0" lvl="0" indent="0" algn="l" rtl="0">
              <a:lnSpc>
                <a:spcPct val="100000"/>
              </a:lnSpc>
              <a:spcBef>
                <a:spcPts val="0"/>
              </a:spcBef>
              <a:spcAft>
                <a:spcPts val="0"/>
              </a:spcAft>
              <a:buClr>
                <a:schemeClr val="dk1"/>
              </a:buClr>
              <a:buSzPts val="1100"/>
              <a:buFont typeface="Arial"/>
              <a:buNone/>
            </a:pPr>
            <a:r>
              <a:rPr lang="es-ES"/>
              <a:t>```</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Este comando asigna el archivo informe.txt al usuario s.vaorna y al grupo bi.</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Permisos en formato octal</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Los permisos se representan en grupos de tres letras: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Letra	Significado	Valor</a:t>
            </a:r>
            <a:endParaRPr/>
          </a:p>
          <a:p>
            <a:pPr marL="0" lvl="0" indent="0" algn="l" rtl="0">
              <a:lnSpc>
                <a:spcPct val="100000"/>
              </a:lnSpc>
              <a:spcBef>
                <a:spcPts val="0"/>
              </a:spcBef>
              <a:spcAft>
                <a:spcPts val="0"/>
              </a:spcAft>
              <a:buClr>
                <a:schemeClr val="dk1"/>
              </a:buClr>
              <a:buSzPts val="1100"/>
              <a:buFont typeface="Arial"/>
              <a:buNone/>
            </a:pPr>
            <a:r>
              <a:rPr lang="es-ES"/>
              <a:t>r	read (leer)	4</a:t>
            </a:r>
            <a:endParaRPr/>
          </a:p>
          <a:p>
            <a:pPr marL="0" lvl="0" indent="0" algn="l" rtl="0">
              <a:lnSpc>
                <a:spcPct val="100000"/>
              </a:lnSpc>
              <a:spcBef>
                <a:spcPts val="0"/>
              </a:spcBef>
              <a:spcAft>
                <a:spcPts val="0"/>
              </a:spcAft>
              <a:buClr>
                <a:schemeClr val="dk1"/>
              </a:buClr>
              <a:buSzPts val="1100"/>
              <a:buFont typeface="Arial"/>
              <a:buNone/>
            </a:pPr>
            <a:r>
              <a:rPr lang="es-ES"/>
              <a:t>w	write (escribir)	2</a:t>
            </a:r>
            <a:endParaRPr/>
          </a:p>
          <a:p>
            <a:pPr marL="0" lvl="0" indent="0" algn="l" rtl="0">
              <a:lnSpc>
                <a:spcPct val="100000"/>
              </a:lnSpc>
              <a:spcBef>
                <a:spcPts val="0"/>
              </a:spcBef>
              <a:spcAft>
                <a:spcPts val="0"/>
              </a:spcAft>
              <a:buClr>
                <a:schemeClr val="dk1"/>
              </a:buClr>
              <a:buSzPts val="1100"/>
              <a:buFont typeface="Arial"/>
              <a:buNone/>
            </a:pPr>
            <a:r>
              <a:rPr lang="es-ES"/>
              <a:t>x	execute (ejecutar)	1</a:t>
            </a:r>
            <a:endParaRPr/>
          </a:p>
          <a:p>
            <a:pPr marL="0" lvl="0" indent="0" algn="l" rtl="0">
              <a:lnSpc>
                <a:spcPct val="100000"/>
              </a:lnSpc>
              <a:spcBef>
                <a:spcPts val="0"/>
              </a:spcBef>
              <a:spcAft>
                <a:spcPts val="0"/>
              </a:spcAft>
              <a:buClr>
                <a:schemeClr val="dk1"/>
              </a:buClr>
              <a:buSzPts val="1100"/>
              <a:buFont typeface="Arial"/>
              <a:buNone/>
            </a:pPr>
            <a:r>
              <a:rPr lang="es-ES"/>
              <a:t>-	sin permiso	0</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Cada grupo (usuario, grupo, otros) se traduce a un número del 0 al 7, sumando los valores.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Por ejemplo: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rwx = 4 + 2 + 1 = 7</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rw- = 4 + 2 + 0 = 6</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r-- = 4 + 0 + 0 = 4</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Entonces, los permisos rwxr-xr-x se representan como:</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bash</a:t>
            </a:r>
            <a:endParaRPr/>
          </a:p>
          <a:p>
            <a:pPr marL="0" lvl="0" indent="0" algn="l" rtl="0">
              <a:lnSpc>
                <a:spcPct val="100000"/>
              </a:lnSpc>
              <a:spcBef>
                <a:spcPts val="0"/>
              </a:spcBef>
              <a:spcAft>
                <a:spcPts val="0"/>
              </a:spcAft>
              <a:buClr>
                <a:schemeClr val="dk1"/>
              </a:buClr>
              <a:buSzPts val="1100"/>
              <a:buFont typeface="Arial"/>
              <a:buNone/>
            </a:pPr>
            <a:r>
              <a:rPr lang="es-ES"/>
              <a:t>Copiar</a:t>
            </a:r>
            <a:endParaRPr/>
          </a:p>
          <a:p>
            <a:pPr marL="0" lvl="0" indent="0" algn="l" rtl="0">
              <a:lnSpc>
                <a:spcPct val="100000"/>
              </a:lnSpc>
              <a:spcBef>
                <a:spcPts val="0"/>
              </a:spcBef>
              <a:spcAft>
                <a:spcPts val="0"/>
              </a:spcAft>
              <a:buClr>
                <a:schemeClr val="dk1"/>
              </a:buClr>
              <a:buSzPts val="1100"/>
              <a:buFont typeface="Arial"/>
              <a:buNone/>
            </a:pPr>
            <a:r>
              <a:rPr lang="es-ES"/>
              <a:t>Editar</a:t>
            </a:r>
            <a:endParaRPr/>
          </a:p>
          <a:p>
            <a:pPr marL="0" lvl="0" indent="0" algn="l" rtl="0">
              <a:lnSpc>
                <a:spcPct val="100000"/>
              </a:lnSpc>
              <a:spcBef>
                <a:spcPts val="0"/>
              </a:spcBef>
              <a:spcAft>
                <a:spcPts val="0"/>
              </a:spcAft>
              <a:buClr>
                <a:schemeClr val="dk1"/>
              </a:buClr>
              <a:buSzPts val="1100"/>
              <a:buFont typeface="Arial"/>
              <a:buNone/>
            </a:pPr>
            <a:r>
              <a:rPr lang="es-ES"/>
              <a:t>chmod 755 archivo</a:t>
            </a:r>
            <a:endParaRPr/>
          </a:p>
          <a:p>
            <a:pPr marL="0" lvl="0" indent="0" algn="l" rtl="0">
              <a:lnSpc>
                <a:spcPct val="100000"/>
              </a:lnSpc>
              <a:spcBef>
                <a:spcPts val="0"/>
              </a:spcBef>
              <a:spcAft>
                <a:spcPts val="0"/>
              </a:spcAft>
              <a:buClr>
                <a:schemeClr val="dk1"/>
              </a:buClr>
              <a:buSzPts val="1100"/>
              <a:buFont typeface="Arial"/>
              <a:buNone/>
            </a:pPr>
            <a:r>
              <a:rPr lang="es-ES"/>
              <a:t>✨ Ejemplos prácticos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chmod 644 documento.txt</a:t>
            </a:r>
            <a:endParaRPr/>
          </a:p>
          <a:p>
            <a:pPr marL="0" lvl="0" indent="0" algn="l" rtl="0">
              <a:lnSpc>
                <a:spcPct val="100000"/>
              </a:lnSpc>
              <a:spcBef>
                <a:spcPts val="0"/>
              </a:spcBef>
              <a:spcAft>
                <a:spcPts val="0"/>
              </a:spcAft>
              <a:buClr>
                <a:schemeClr val="dk1"/>
              </a:buClr>
              <a:buSzPts val="1100"/>
              <a:buFont typeface="Arial"/>
              <a:buNone/>
            </a:pPr>
            <a:r>
              <a:rPr lang="es-ES"/>
              <a:t>→ El propietario puede leer y escribir, el grupo y los demás solo pueden leer.</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chmod +x script.sh</a:t>
            </a:r>
            <a:endParaRPr/>
          </a:p>
          <a:p>
            <a:pPr marL="0" lvl="0" indent="0" algn="l" rtl="0">
              <a:lnSpc>
                <a:spcPct val="100000"/>
              </a:lnSpc>
              <a:spcBef>
                <a:spcPts val="0"/>
              </a:spcBef>
              <a:spcAft>
                <a:spcPts val="0"/>
              </a:spcAft>
              <a:buClr>
                <a:schemeClr val="dk1"/>
              </a:buClr>
              <a:buSzPts val="1100"/>
              <a:buFont typeface="Arial"/>
              <a:buNone/>
            </a:pPr>
            <a:r>
              <a:rPr lang="es-ES"/>
              <a:t>→ Agrega permiso de ejecución al archivo script.sh para todos los usuarios.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s-ES"/>
              <a:t>chown juan:usuarios datos.csv</a:t>
            </a:r>
            <a:endParaRPr/>
          </a:p>
          <a:p>
            <a:pPr marL="0" lvl="0" indent="0" algn="l" rtl="0">
              <a:lnSpc>
                <a:spcPct val="100000"/>
              </a:lnSpc>
              <a:spcBef>
                <a:spcPts val="0"/>
              </a:spcBef>
              <a:spcAft>
                <a:spcPts val="0"/>
              </a:spcAft>
              <a:buClr>
                <a:schemeClr val="dk1"/>
              </a:buClr>
              <a:buSzPts val="1100"/>
              <a:buFont typeface="Arial"/>
              <a:buNone/>
            </a:pPr>
            <a:r>
              <a:rPr lang="es-ES"/>
              <a:t>→ Cambia el propietario a juan y el grupo a usuarios.</a:t>
            </a:r>
            <a:endParaRPr/>
          </a:p>
          <a:p>
            <a:pPr marL="0" lvl="0" indent="0" algn="l" rtl="0">
              <a:lnSpc>
                <a:spcPct val="100000"/>
              </a:lnSpc>
              <a:spcBef>
                <a:spcPts val="0"/>
              </a:spcBef>
              <a:spcAft>
                <a:spcPts val="0"/>
              </a:spcAft>
              <a:buSzPts val="1400"/>
              <a:buNone/>
            </a:pPr>
            <a:endParaRPr/>
          </a:p>
        </p:txBody>
      </p:sp>
      <p:sp>
        <p:nvSpPr>
          <p:cNvPr id="1188" name="Google Shape;1188;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108</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3715fd0d4a0_3_2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7" name="Google Shape;1197;g3715fd0d4a0_3_2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s-ES"/>
              <a:t>- `chown` (change owner): Sirve para cambiar el propietario o el grupo asociado a un archivo.</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a:t>
            </a:r>
            <a:endParaRPr/>
          </a:p>
          <a:p>
            <a:pPr marL="0" lvl="0" indent="0" algn="l" rtl="0">
              <a:lnSpc>
                <a:spcPct val="100000"/>
              </a:lnSpc>
              <a:spcBef>
                <a:spcPts val="0"/>
              </a:spcBef>
              <a:spcAft>
                <a:spcPts val="0"/>
              </a:spcAft>
              <a:buSzPts val="1100"/>
              <a:buNone/>
            </a:pPr>
            <a:r>
              <a:rPr lang="es-ES"/>
              <a:t>chown s.vaorna:bi informe.txt</a:t>
            </a:r>
            <a:endParaRPr/>
          </a:p>
          <a:p>
            <a:pPr marL="0" lvl="0" indent="0" algn="l" rtl="0">
              <a:lnSpc>
                <a:spcPct val="100000"/>
              </a:lnSpc>
              <a:spcBef>
                <a:spcPts val="0"/>
              </a:spcBef>
              <a:spcAft>
                <a:spcPts val="0"/>
              </a:spcAft>
              <a:buSzPts val="1100"/>
              <a:buNone/>
            </a:pPr>
            <a:r>
              <a:rPr lang="es-ES"/>
              <a:t>```</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Este comando asigna el archivo informe.txt al usuario s.vaorna y al grupo bi.</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Permisos en formato octal</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Los permisos se representan en grupos de tres letras: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Letra	Significado	Valor</a:t>
            </a:r>
            <a:endParaRPr/>
          </a:p>
          <a:p>
            <a:pPr marL="0" lvl="0" indent="0" algn="l" rtl="0">
              <a:lnSpc>
                <a:spcPct val="100000"/>
              </a:lnSpc>
              <a:spcBef>
                <a:spcPts val="0"/>
              </a:spcBef>
              <a:spcAft>
                <a:spcPts val="0"/>
              </a:spcAft>
              <a:buSzPts val="1100"/>
              <a:buNone/>
            </a:pPr>
            <a:r>
              <a:rPr lang="es-ES"/>
              <a:t>r	read (leer)	4</a:t>
            </a:r>
            <a:endParaRPr/>
          </a:p>
          <a:p>
            <a:pPr marL="0" lvl="0" indent="0" algn="l" rtl="0">
              <a:lnSpc>
                <a:spcPct val="100000"/>
              </a:lnSpc>
              <a:spcBef>
                <a:spcPts val="0"/>
              </a:spcBef>
              <a:spcAft>
                <a:spcPts val="0"/>
              </a:spcAft>
              <a:buSzPts val="1100"/>
              <a:buNone/>
            </a:pPr>
            <a:r>
              <a:rPr lang="es-ES"/>
              <a:t>w	write (escribir)	2</a:t>
            </a:r>
            <a:endParaRPr/>
          </a:p>
          <a:p>
            <a:pPr marL="0" lvl="0" indent="0" algn="l" rtl="0">
              <a:lnSpc>
                <a:spcPct val="100000"/>
              </a:lnSpc>
              <a:spcBef>
                <a:spcPts val="0"/>
              </a:spcBef>
              <a:spcAft>
                <a:spcPts val="0"/>
              </a:spcAft>
              <a:buSzPts val="1100"/>
              <a:buNone/>
            </a:pPr>
            <a:r>
              <a:rPr lang="es-ES"/>
              <a:t>x	execute (ejecutar)	1</a:t>
            </a:r>
            <a:endParaRPr/>
          </a:p>
          <a:p>
            <a:pPr marL="0" lvl="0" indent="0" algn="l" rtl="0">
              <a:lnSpc>
                <a:spcPct val="100000"/>
              </a:lnSpc>
              <a:spcBef>
                <a:spcPts val="0"/>
              </a:spcBef>
              <a:spcAft>
                <a:spcPts val="0"/>
              </a:spcAft>
              <a:buSzPts val="1100"/>
              <a:buNone/>
            </a:pPr>
            <a:r>
              <a:rPr lang="es-ES"/>
              <a:t>-	sin permiso	0</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Cada grupo (usuario, grupo, otros) se traduce a un número del 0 al 7, sumando los valores.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Por ejemplo:</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rwx = 4 + 2 + 1 = 7</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rw- = 4 + 2 + 0 = 6</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r-- = 4 + 0 + 0 = 4</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Entonces, los permisos rwxr-xr-x se representan como:</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bash</a:t>
            </a:r>
            <a:endParaRPr/>
          </a:p>
          <a:p>
            <a:pPr marL="0" lvl="0" indent="0" algn="l" rtl="0">
              <a:lnSpc>
                <a:spcPct val="100000"/>
              </a:lnSpc>
              <a:spcBef>
                <a:spcPts val="0"/>
              </a:spcBef>
              <a:spcAft>
                <a:spcPts val="0"/>
              </a:spcAft>
              <a:buSzPts val="1100"/>
              <a:buNone/>
            </a:pPr>
            <a:r>
              <a:rPr lang="es-ES"/>
              <a:t>Copiar</a:t>
            </a:r>
            <a:endParaRPr/>
          </a:p>
          <a:p>
            <a:pPr marL="0" lvl="0" indent="0" algn="l" rtl="0">
              <a:lnSpc>
                <a:spcPct val="100000"/>
              </a:lnSpc>
              <a:spcBef>
                <a:spcPts val="0"/>
              </a:spcBef>
              <a:spcAft>
                <a:spcPts val="0"/>
              </a:spcAft>
              <a:buSzPts val="1100"/>
              <a:buNone/>
            </a:pPr>
            <a:r>
              <a:rPr lang="es-ES"/>
              <a:t>Editar</a:t>
            </a:r>
            <a:endParaRPr/>
          </a:p>
          <a:p>
            <a:pPr marL="0" lvl="0" indent="0" algn="l" rtl="0">
              <a:lnSpc>
                <a:spcPct val="100000"/>
              </a:lnSpc>
              <a:spcBef>
                <a:spcPts val="0"/>
              </a:spcBef>
              <a:spcAft>
                <a:spcPts val="0"/>
              </a:spcAft>
              <a:buSzPts val="1100"/>
              <a:buNone/>
            </a:pPr>
            <a:r>
              <a:rPr lang="es-ES"/>
              <a:t>chmod 755 archivo</a:t>
            </a:r>
            <a:endParaRPr/>
          </a:p>
          <a:p>
            <a:pPr marL="0" lvl="0" indent="0" algn="l" rtl="0">
              <a:lnSpc>
                <a:spcPct val="100000"/>
              </a:lnSpc>
              <a:spcBef>
                <a:spcPts val="0"/>
              </a:spcBef>
              <a:spcAft>
                <a:spcPts val="0"/>
              </a:spcAft>
              <a:buSzPts val="1100"/>
              <a:buNone/>
            </a:pPr>
            <a:r>
              <a:rPr lang="es-ES"/>
              <a:t>✨ Ejemplos prácticos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chmod 644 documento.txt</a:t>
            </a:r>
            <a:endParaRPr/>
          </a:p>
          <a:p>
            <a:pPr marL="0" lvl="0" indent="0" algn="l" rtl="0">
              <a:lnSpc>
                <a:spcPct val="100000"/>
              </a:lnSpc>
              <a:spcBef>
                <a:spcPts val="0"/>
              </a:spcBef>
              <a:spcAft>
                <a:spcPts val="0"/>
              </a:spcAft>
              <a:buSzPts val="1100"/>
              <a:buNone/>
            </a:pPr>
            <a:r>
              <a:rPr lang="es-ES"/>
              <a:t>→ El propietario puede leer y escribir, el grupo y los demás solo pueden leer.</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chmod +x script.sh</a:t>
            </a:r>
            <a:endParaRPr/>
          </a:p>
          <a:p>
            <a:pPr marL="0" lvl="0" indent="0" algn="l" rtl="0">
              <a:lnSpc>
                <a:spcPct val="100000"/>
              </a:lnSpc>
              <a:spcBef>
                <a:spcPts val="0"/>
              </a:spcBef>
              <a:spcAft>
                <a:spcPts val="0"/>
              </a:spcAft>
              <a:buSzPts val="1100"/>
              <a:buNone/>
            </a:pPr>
            <a:r>
              <a:rPr lang="es-ES"/>
              <a:t>→ Agrega permiso de ejecución al archivo script.sh para todos los usuarios.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chown juan:usuarios datos.csv</a:t>
            </a:r>
            <a:endParaRPr/>
          </a:p>
          <a:p>
            <a:pPr marL="0" lvl="0" indent="0" algn="l" rtl="0">
              <a:lnSpc>
                <a:spcPct val="100000"/>
              </a:lnSpc>
              <a:spcBef>
                <a:spcPts val="0"/>
              </a:spcBef>
              <a:spcAft>
                <a:spcPts val="0"/>
              </a:spcAft>
              <a:buSzPts val="1100"/>
              <a:buNone/>
            </a:pPr>
            <a:r>
              <a:rPr lang="es-ES"/>
              <a:t>→ Cambia el propietario a juan y el grupo a usuarios.</a:t>
            </a:r>
            <a:endParaRPr/>
          </a:p>
          <a:p>
            <a:pPr marL="0" lvl="0" indent="0" algn="l" rtl="0">
              <a:lnSpc>
                <a:spcPct val="100000"/>
              </a:lnSpc>
              <a:spcBef>
                <a:spcPts val="0"/>
              </a:spcBef>
              <a:spcAft>
                <a:spcPts val="0"/>
              </a:spcAft>
              <a:buSzPts val="1400"/>
              <a:buNone/>
            </a:pPr>
            <a:endParaRPr/>
          </a:p>
        </p:txBody>
      </p:sp>
      <p:sp>
        <p:nvSpPr>
          <p:cNvPr id="1198" name="Google Shape;1198;g3715fd0d4a0_3_2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109</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g3715fd0d4a0_3_2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6" name="Google Shape;1206;g3715fd0d4a0_3_2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s-ES"/>
              <a:t>- `chown` (change owner): Sirve para cambiar el propietario o el grupo asociado a un archivo.</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a:t>
            </a:r>
            <a:endParaRPr/>
          </a:p>
          <a:p>
            <a:pPr marL="0" lvl="0" indent="0" algn="l" rtl="0">
              <a:lnSpc>
                <a:spcPct val="100000"/>
              </a:lnSpc>
              <a:spcBef>
                <a:spcPts val="0"/>
              </a:spcBef>
              <a:spcAft>
                <a:spcPts val="0"/>
              </a:spcAft>
              <a:buSzPts val="1100"/>
              <a:buNone/>
            </a:pPr>
            <a:r>
              <a:rPr lang="es-ES"/>
              <a:t>chown s.vaorna:bi informe.txt</a:t>
            </a:r>
            <a:endParaRPr/>
          </a:p>
          <a:p>
            <a:pPr marL="0" lvl="0" indent="0" algn="l" rtl="0">
              <a:lnSpc>
                <a:spcPct val="100000"/>
              </a:lnSpc>
              <a:spcBef>
                <a:spcPts val="0"/>
              </a:spcBef>
              <a:spcAft>
                <a:spcPts val="0"/>
              </a:spcAft>
              <a:buSzPts val="1100"/>
              <a:buNone/>
            </a:pPr>
            <a:r>
              <a:rPr lang="es-ES"/>
              <a:t>```</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Este comando asigna el archivo informe.txt al usuario s.vaorna y al grupo bi.</a:t>
            </a:r>
            <a:endParaRPr/>
          </a:p>
          <a:p>
            <a:pPr marL="0" lvl="0" indent="0" algn="l" rtl="0">
              <a:lnSpc>
                <a:spcPct val="100000"/>
              </a:lnSpc>
              <a:spcBef>
                <a:spcPts val="0"/>
              </a:spcBef>
              <a:spcAft>
                <a:spcPts val="0"/>
              </a:spcAft>
              <a:buSzPts val="1400"/>
              <a:buNone/>
            </a:pPr>
            <a:endParaRPr/>
          </a:p>
        </p:txBody>
      </p:sp>
      <p:sp>
        <p:nvSpPr>
          <p:cNvPr id="1207" name="Google Shape;1207;g3715fd0d4a0_3_2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110</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3715fd0d4a0_3_2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5" name="Google Shape;1215;g3715fd0d4a0_3_2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s-ES"/>
              <a:t>Permisos en formato octal</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Los permisos se representan en grupos de tres letras: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Letra	Significado	Valor</a:t>
            </a:r>
            <a:endParaRPr/>
          </a:p>
          <a:p>
            <a:pPr marL="0" lvl="0" indent="0" algn="l" rtl="0">
              <a:lnSpc>
                <a:spcPct val="100000"/>
              </a:lnSpc>
              <a:spcBef>
                <a:spcPts val="0"/>
              </a:spcBef>
              <a:spcAft>
                <a:spcPts val="0"/>
              </a:spcAft>
              <a:buSzPts val="1100"/>
              <a:buNone/>
            </a:pPr>
            <a:r>
              <a:rPr lang="es-ES"/>
              <a:t>r	read (leer)	4</a:t>
            </a:r>
            <a:endParaRPr/>
          </a:p>
          <a:p>
            <a:pPr marL="0" lvl="0" indent="0" algn="l" rtl="0">
              <a:lnSpc>
                <a:spcPct val="100000"/>
              </a:lnSpc>
              <a:spcBef>
                <a:spcPts val="0"/>
              </a:spcBef>
              <a:spcAft>
                <a:spcPts val="0"/>
              </a:spcAft>
              <a:buSzPts val="1100"/>
              <a:buNone/>
            </a:pPr>
            <a:r>
              <a:rPr lang="es-ES"/>
              <a:t>w	write (escribir)	 2</a:t>
            </a:r>
            <a:endParaRPr/>
          </a:p>
          <a:p>
            <a:pPr marL="0" lvl="0" indent="0" algn="l" rtl="0">
              <a:lnSpc>
                <a:spcPct val="100000"/>
              </a:lnSpc>
              <a:spcBef>
                <a:spcPts val="0"/>
              </a:spcBef>
              <a:spcAft>
                <a:spcPts val="0"/>
              </a:spcAft>
              <a:buSzPts val="1100"/>
              <a:buNone/>
            </a:pPr>
            <a:r>
              <a:rPr lang="es-ES"/>
              <a:t>x	execute (ejecutar)	1</a:t>
            </a:r>
            <a:endParaRPr/>
          </a:p>
          <a:p>
            <a:pPr marL="0" lvl="0" indent="0" algn="l" rtl="0">
              <a:lnSpc>
                <a:spcPct val="100000"/>
              </a:lnSpc>
              <a:spcBef>
                <a:spcPts val="0"/>
              </a:spcBef>
              <a:spcAft>
                <a:spcPts val="0"/>
              </a:spcAft>
              <a:buSzPts val="1100"/>
              <a:buNone/>
            </a:pPr>
            <a:r>
              <a:rPr lang="es-ES"/>
              <a:t>-	sin permiso	0</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Cada grupo (usuario, grupo, otros) se traduce a un número del 0 al 7, sumando los valores.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Por ejemplo:</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s-ES"/>
              <a:t>rwx = 4 + 2 + 1 = 7</a:t>
            </a:r>
            <a:endParaRPr/>
          </a:p>
          <a:p>
            <a:pPr marL="0" lvl="0" indent="0" algn="l" rtl="0">
              <a:lnSpc>
                <a:spcPct val="100000"/>
              </a:lnSpc>
              <a:spcBef>
                <a:spcPts val="0"/>
              </a:spcBef>
              <a:spcAft>
                <a:spcPts val="0"/>
              </a:spcAft>
              <a:buSzPts val="1100"/>
              <a:buNone/>
            </a:pPr>
            <a:r>
              <a:rPr lang="es-ES"/>
              <a:t>rw- = 4 + 2 + 0 = 6</a:t>
            </a:r>
            <a:endParaRPr/>
          </a:p>
          <a:p>
            <a:pPr marL="0" lvl="0" indent="0" algn="l" rtl="0">
              <a:lnSpc>
                <a:spcPct val="100000"/>
              </a:lnSpc>
              <a:spcBef>
                <a:spcPts val="0"/>
              </a:spcBef>
              <a:spcAft>
                <a:spcPts val="0"/>
              </a:spcAft>
              <a:buSzPts val="1100"/>
              <a:buNone/>
            </a:pPr>
            <a:r>
              <a:rPr lang="es-ES"/>
              <a:t>r-- = 4 + 0 + 0 = 4</a:t>
            </a:r>
            <a:endParaRPr/>
          </a:p>
          <a:p>
            <a:pPr marL="0" lvl="0" indent="0" algn="l" rtl="0">
              <a:lnSpc>
                <a:spcPct val="100000"/>
              </a:lnSpc>
              <a:spcBef>
                <a:spcPts val="0"/>
              </a:spcBef>
              <a:spcAft>
                <a:spcPts val="0"/>
              </a:spcAft>
              <a:buSzPts val="1400"/>
              <a:buNone/>
            </a:pPr>
            <a:endParaRPr/>
          </a:p>
        </p:txBody>
      </p:sp>
      <p:sp>
        <p:nvSpPr>
          <p:cNvPr id="1216" name="Google Shape;1216;g3715fd0d4a0_3_2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111</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3" name="Google Shape;1223;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¿Alguna pregunta?</a:t>
            </a:r>
            <a:endParaRPr/>
          </a:p>
        </p:txBody>
      </p:sp>
      <p:sp>
        <p:nvSpPr>
          <p:cNvPr id="1224" name="Google Shape;1224;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21"/>
        <p:cNvGrpSpPr/>
        <p:nvPr/>
      </p:nvGrpSpPr>
      <p:grpSpPr>
        <a:xfrm>
          <a:off x="0" y="0"/>
          <a:ext cx="0" cy="0"/>
          <a:chOff x="0" y="0"/>
          <a:chExt cx="0" cy="0"/>
        </a:xfrm>
      </p:grpSpPr>
      <p:sp>
        <p:nvSpPr>
          <p:cNvPr id="22" name="Google Shape;22;p62"/>
          <p:cNvSpPr txBox="1">
            <a:spLocks noGrp="1"/>
          </p:cNvSpPr>
          <p:nvPr>
            <p:ph type="subTitle" idx="1"/>
          </p:nvPr>
        </p:nvSpPr>
        <p:spPr>
          <a:xfrm>
            <a:off x="1142999" y="4238852"/>
            <a:ext cx="6858000" cy="165576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360"/>
              </a:spcBef>
              <a:spcAft>
                <a:spcPts val="0"/>
              </a:spcAft>
              <a:buClr>
                <a:schemeClr val="dk1"/>
              </a:buClr>
              <a:buSzPts val="1800"/>
              <a:buNone/>
              <a:defRPr sz="1800"/>
            </a:lvl1pPr>
            <a:lvl2pPr lvl="1" algn="ctr">
              <a:lnSpc>
                <a:spcPct val="100000"/>
              </a:lnSpc>
              <a:spcBef>
                <a:spcPts val="300"/>
              </a:spcBef>
              <a:spcAft>
                <a:spcPts val="0"/>
              </a:spcAft>
              <a:buClr>
                <a:schemeClr val="dk1"/>
              </a:buClr>
              <a:buSzPts val="1500"/>
              <a:buNone/>
              <a:defRPr sz="1500"/>
            </a:lvl2pPr>
            <a:lvl3pPr lvl="2" algn="ctr">
              <a:lnSpc>
                <a:spcPct val="100000"/>
              </a:lnSpc>
              <a:spcBef>
                <a:spcPts val="270"/>
              </a:spcBef>
              <a:spcAft>
                <a:spcPts val="0"/>
              </a:spcAft>
              <a:buClr>
                <a:schemeClr val="dk1"/>
              </a:buClr>
              <a:buSzPts val="1350"/>
              <a:buNone/>
              <a:defRPr sz="1350"/>
            </a:lvl3pPr>
            <a:lvl4pPr lvl="3" algn="ctr">
              <a:lnSpc>
                <a:spcPct val="100000"/>
              </a:lnSpc>
              <a:spcBef>
                <a:spcPts val="240"/>
              </a:spcBef>
              <a:spcAft>
                <a:spcPts val="0"/>
              </a:spcAft>
              <a:buClr>
                <a:schemeClr val="dk1"/>
              </a:buClr>
              <a:buSzPts val="1200"/>
              <a:buNone/>
              <a:defRPr sz="1200"/>
            </a:lvl4pPr>
            <a:lvl5pPr lvl="4" algn="ctr">
              <a:lnSpc>
                <a:spcPct val="100000"/>
              </a:lnSpc>
              <a:spcBef>
                <a:spcPts val="240"/>
              </a:spcBef>
              <a:spcAft>
                <a:spcPts val="0"/>
              </a:spcAft>
              <a:buClr>
                <a:schemeClr val="dk1"/>
              </a:buClr>
              <a:buSzPts val="1200"/>
              <a:buNone/>
              <a:defRPr sz="1200"/>
            </a:lvl5pPr>
            <a:lvl6pPr lvl="5" algn="ctr">
              <a:lnSpc>
                <a:spcPct val="100000"/>
              </a:lnSpc>
              <a:spcBef>
                <a:spcPts val="240"/>
              </a:spcBef>
              <a:spcAft>
                <a:spcPts val="0"/>
              </a:spcAft>
              <a:buClr>
                <a:schemeClr val="dk1"/>
              </a:buClr>
              <a:buSzPts val="1200"/>
              <a:buNone/>
              <a:defRPr sz="1200"/>
            </a:lvl6pPr>
            <a:lvl7pPr lvl="6" algn="ctr">
              <a:lnSpc>
                <a:spcPct val="100000"/>
              </a:lnSpc>
              <a:spcBef>
                <a:spcPts val="240"/>
              </a:spcBef>
              <a:spcAft>
                <a:spcPts val="0"/>
              </a:spcAft>
              <a:buClr>
                <a:schemeClr val="dk1"/>
              </a:buClr>
              <a:buSzPts val="1200"/>
              <a:buNone/>
              <a:defRPr sz="1200"/>
            </a:lvl7pPr>
            <a:lvl8pPr lvl="7" algn="ctr">
              <a:lnSpc>
                <a:spcPct val="100000"/>
              </a:lnSpc>
              <a:spcBef>
                <a:spcPts val="240"/>
              </a:spcBef>
              <a:spcAft>
                <a:spcPts val="0"/>
              </a:spcAft>
              <a:buClr>
                <a:schemeClr val="dk1"/>
              </a:buClr>
              <a:buSzPts val="1200"/>
              <a:buNone/>
              <a:defRPr sz="1200"/>
            </a:lvl8pPr>
            <a:lvl9pPr lvl="8" algn="ctr">
              <a:lnSpc>
                <a:spcPct val="100000"/>
              </a:lnSpc>
              <a:spcBef>
                <a:spcPts val="240"/>
              </a:spcBef>
              <a:spcAft>
                <a:spcPts val="0"/>
              </a:spcAft>
              <a:buClr>
                <a:schemeClr val="dk1"/>
              </a:buClr>
              <a:buSzPts val="1200"/>
              <a:buNone/>
              <a:defRPr sz="1200"/>
            </a:lvl9pPr>
          </a:lstStyle>
          <a:p>
            <a:endParaRPr/>
          </a:p>
        </p:txBody>
      </p:sp>
      <p:sp>
        <p:nvSpPr>
          <p:cNvPr id="23" name="Google Shape;23;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26" name="Google Shape;26;p62"/>
          <p:cNvSpPr txBox="1">
            <a:spLocks noGrp="1"/>
          </p:cNvSpPr>
          <p:nvPr>
            <p:ph type="body" idx="2"/>
          </p:nvPr>
        </p:nvSpPr>
        <p:spPr>
          <a:xfrm>
            <a:off x="1825823" y="3591833"/>
            <a:ext cx="5492353" cy="56356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60"/>
              </a:spcBef>
              <a:spcAft>
                <a:spcPts val="0"/>
              </a:spcAft>
              <a:buClr>
                <a:schemeClr val="dk1"/>
              </a:buClr>
              <a:buSzPts val="1800"/>
              <a:buNone/>
              <a:defRPr sz="1800"/>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7" name="Google Shape;27;p62"/>
          <p:cNvSpPr txBox="1">
            <a:spLocks noGrp="1"/>
          </p:cNvSpPr>
          <p:nvPr>
            <p:ph type="body" idx="3"/>
          </p:nvPr>
        </p:nvSpPr>
        <p:spPr>
          <a:xfrm>
            <a:off x="1640682" y="1592264"/>
            <a:ext cx="5945981" cy="1584325"/>
          </a:xfrm>
          <a:prstGeom prst="rect">
            <a:avLst/>
          </a:prstGeom>
          <a:gradFill>
            <a:gsLst>
              <a:gs pos="0">
                <a:srgbClr val="2D5C97"/>
              </a:gs>
              <a:gs pos="80000">
                <a:srgbClr val="3C7AC5"/>
              </a:gs>
              <a:gs pos="100000">
                <a:srgbClr val="397BC9"/>
              </a:gs>
            </a:gsLst>
            <a:lin ang="16200000" scaled="0"/>
          </a:gradFill>
          <a:ln w="9525" cap="flat" cmpd="sng">
            <a:solidFill>
              <a:srgbClr val="4A7DBA"/>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Clr>
                <a:schemeClr val="lt1"/>
              </a:buClr>
              <a:buSzPts val="2000"/>
              <a:buNone/>
              <a:defRPr>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8"/>
        <p:cNvGrpSpPr/>
        <p:nvPr/>
      </p:nvGrpSpPr>
      <p:grpSpPr>
        <a:xfrm>
          <a:off x="0" y="0"/>
          <a:ext cx="0" cy="0"/>
          <a:chOff x="0" y="0"/>
          <a:chExt cx="0" cy="0"/>
        </a:xfrm>
      </p:grpSpPr>
      <p:sp>
        <p:nvSpPr>
          <p:cNvPr id="29" name="Google Shape;29;p63"/>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2800"/>
              <a:buFont typeface="Consolas"/>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63"/>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 name="Google Shape;31;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4"/>
        <p:cNvGrpSpPr/>
        <p:nvPr/>
      </p:nvGrpSpPr>
      <p:grpSpPr>
        <a:xfrm>
          <a:off x="0" y="0"/>
          <a:ext cx="0" cy="0"/>
          <a:chOff x="0" y="0"/>
          <a:chExt cx="0" cy="0"/>
        </a:xfrm>
      </p:grpSpPr>
      <p:sp>
        <p:nvSpPr>
          <p:cNvPr id="35" name="Google Shape;35;p64"/>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8" name="Google Shape;38;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41"/>
        <p:cNvGrpSpPr/>
        <p:nvPr/>
      </p:nvGrpSpPr>
      <p:grpSpPr>
        <a:xfrm>
          <a:off x="0" y="0"/>
          <a:ext cx="0" cy="0"/>
          <a:chOff x="0" y="0"/>
          <a:chExt cx="0" cy="0"/>
        </a:xfrm>
      </p:grpSpPr>
      <p:sp>
        <p:nvSpPr>
          <p:cNvPr id="42" name="Google Shape;42;p6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00"/>
              </a:spcBef>
              <a:spcAft>
                <a:spcPts val="0"/>
              </a:spcAft>
              <a:buClr>
                <a:srgbClr val="888888"/>
              </a:buClr>
              <a:buSzPts val="20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400"/>
              </a:spcBef>
              <a:spcAft>
                <a:spcPts val="0"/>
              </a:spcAft>
              <a:buClr>
                <a:srgbClr val="888888"/>
              </a:buClr>
              <a:buSzPts val="20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44" name="Google Shape;44;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7"/>
        <p:cNvGrpSpPr/>
        <p:nvPr/>
      </p:nvGrpSpPr>
      <p:grpSpPr>
        <a:xfrm>
          <a:off x="0" y="0"/>
          <a:ext cx="0" cy="0"/>
          <a:chOff x="0" y="0"/>
          <a:chExt cx="0" cy="0"/>
        </a:xfrm>
      </p:grpSpPr>
      <p:sp>
        <p:nvSpPr>
          <p:cNvPr id="48" name="Google Shape;48;p6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000"/>
              <a:buFont typeface="Consolas"/>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6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50" name="Google Shape;50;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53" name="Google Shape;53;p66"/>
          <p:cNvSpPr txBox="1"/>
          <p:nvPr/>
        </p:nvSpPr>
        <p:spPr>
          <a:xfrm>
            <a:off x="457200" y="692696"/>
            <a:ext cx="8229600" cy="792088"/>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2100"/>
              <a:buFont typeface="Consolas"/>
              <a:buNone/>
            </a:pPr>
            <a:r>
              <a:rPr lang="es-ES" sz="2100" b="0" i="0" u="none" strike="noStrike" cap="none">
                <a:solidFill>
                  <a:schemeClr val="dk1"/>
                </a:solidFill>
                <a:latin typeface="Consolas"/>
                <a:ea typeface="Consolas"/>
                <a:cs typeface="Consolas"/>
                <a:sym typeface="Consolas"/>
              </a:rPr>
              <a:t>Haga clic para modificar el estilo de título del patrón</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4"/>
        <p:cNvGrpSpPr/>
        <p:nvPr/>
      </p:nvGrpSpPr>
      <p:grpSpPr>
        <a:xfrm>
          <a:off x="0" y="0"/>
          <a:ext cx="0" cy="0"/>
          <a:chOff x="0" y="0"/>
          <a:chExt cx="0" cy="0"/>
        </a:xfrm>
      </p:grpSpPr>
      <p:sp>
        <p:nvSpPr>
          <p:cNvPr id="55" name="Google Shape;55;p67"/>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2800"/>
              <a:buFont typeface="Consola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7" name="Google Shape;57;p6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8" name="Google Shape;58;p6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9" name="Google Shape;59;p6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60" name="Google Shape;6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63"/>
        <p:cNvGrpSpPr/>
        <p:nvPr/>
      </p:nvGrpSpPr>
      <p:grpSpPr>
        <a:xfrm>
          <a:off x="0" y="0"/>
          <a:ext cx="0" cy="0"/>
          <a:chOff x="0" y="0"/>
          <a:chExt cx="0" cy="0"/>
        </a:xfrm>
      </p:grpSpPr>
      <p:sp>
        <p:nvSpPr>
          <p:cNvPr id="64" name="Google Shape;64;p68"/>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8"/>
        <p:cNvGrpSpPr/>
        <p:nvPr/>
      </p:nvGrpSpPr>
      <p:grpSpPr>
        <a:xfrm>
          <a:off x="0" y="0"/>
          <a:ext cx="0" cy="0"/>
          <a:chOff x="0" y="0"/>
          <a:chExt cx="0" cy="0"/>
        </a:xfrm>
      </p:grpSpPr>
      <p:sp>
        <p:nvSpPr>
          <p:cNvPr id="69" name="Google Shape;69;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2"/>
        <p:cNvGrpSpPr/>
        <p:nvPr/>
      </p:nvGrpSpPr>
      <p:grpSpPr>
        <a:xfrm>
          <a:off x="0" y="0"/>
          <a:ext cx="0" cy="0"/>
          <a:chOff x="0" y="0"/>
          <a:chExt cx="0" cy="0"/>
        </a:xfrm>
      </p:grpSpPr>
      <p:sp>
        <p:nvSpPr>
          <p:cNvPr id="73" name="Google Shape;73;p7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onsolas"/>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7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75" name="Google Shape;75;p7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6" name="Google Shape;76;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9"/>
        <p:cNvGrpSpPr/>
        <p:nvPr/>
      </p:nvGrpSpPr>
      <p:grpSpPr>
        <a:xfrm>
          <a:off x="0" y="0"/>
          <a:ext cx="0" cy="0"/>
          <a:chOff x="0" y="0"/>
          <a:chExt cx="0" cy="0"/>
        </a:xfrm>
      </p:grpSpPr>
      <p:sp>
        <p:nvSpPr>
          <p:cNvPr id="80" name="Google Shape;80;p7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onsolas"/>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71"/>
          <p:cNvSpPr>
            <a:spLocks noGrp="1"/>
          </p:cNvSpPr>
          <p:nvPr>
            <p:ph type="pic" idx="2"/>
          </p:nvPr>
        </p:nvSpPr>
        <p:spPr>
          <a:xfrm>
            <a:off x="1792288" y="612775"/>
            <a:ext cx="5486400" cy="4114800"/>
          </a:xfrm>
          <a:prstGeom prst="rect">
            <a:avLst/>
          </a:prstGeom>
          <a:noFill/>
          <a:ln>
            <a:noFill/>
          </a:ln>
        </p:spPr>
      </p:sp>
      <p:sp>
        <p:nvSpPr>
          <p:cNvPr id="82" name="Google Shape;82;p7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83" name="Google Shape;83;p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6"/>
        <p:cNvGrpSpPr/>
        <p:nvPr/>
      </p:nvGrpSpPr>
      <p:grpSpPr>
        <a:xfrm>
          <a:off x="0" y="0"/>
          <a:ext cx="0" cy="0"/>
          <a:chOff x="0" y="0"/>
          <a:chExt cx="0" cy="0"/>
        </a:xfrm>
      </p:grpSpPr>
      <p:sp>
        <p:nvSpPr>
          <p:cNvPr id="87" name="Google Shape;87;p72"/>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72"/>
          <p:cNvSpPr txBox="1">
            <a:spLocks noGrp="1"/>
          </p:cNvSpPr>
          <p:nvPr>
            <p:ph type="body" idx="1"/>
          </p:nvPr>
        </p:nvSpPr>
        <p:spPr>
          <a:xfrm rot="5400000">
            <a:off x="2467335" y="-93303"/>
            <a:ext cx="420933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9" name="Google Shape;89;p7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7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7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92"/>
        <p:cNvGrpSpPr/>
        <p:nvPr/>
      </p:nvGrpSpPr>
      <p:grpSpPr>
        <a:xfrm>
          <a:off x="0" y="0"/>
          <a:ext cx="0" cy="0"/>
          <a:chOff x="0" y="0"/>
          <a:chExt cx="0" cy="0"/>
        </a:xfrm>
      </p:grpSpPr>
      <p:sp>
        <p:nvSpPr>
          <p:cNvPr id="93" name="Google Shape;93;p7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7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5" name="Google Shape;95;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2800"/>
              <a:buFont typeface="Consolas"/>
              <a:buNone/>
              <a:defRPr sz="2800" b="0" i="0" u="none" strike="noStrike" cap="none">
                <a:solidFill>
                  <a:schemeClr val="dk1"/>
                </a:solidFill>
                <a:latin typeface="Consolas"/>
                <a:ea typeface="Consolas"/>
                <a:cs typeface="Consolas"/>
                <a:sym typeface="Consola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1"/>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00000"/>
              </a:lnSpc>
              <a:spcBef>
                <a:spcPts val="400"/>
              </a:spcBef>
              <a:spcAft>
                <a:spcPts val="0"/>
              </a:spcAft>
              <a:buClr>
                <a:schemeClr val="dk1"/>
              </a:buClr>
              <a:buSzPts val="2000"/>
              <a:buFont typeface="Arial"/>
              <a:buChar char="•"/>
              <a:defRPr sz="2000" b="1" i="0" u="sng" strike="noStrike" cap="none">
                <a:solidFill>
                  <a:schemeClr val="dk1"/>
                </a:solidFill>
                <a:latin typeface="Consolas"/>
                <a:ea typeface="Consolas"/>
                <a:cs typeface="Consolas"/>
                <a:sym typeface="Consolas"/>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onsolas"/>
                <a:ea typeface="Consolas"/>
                <a:cs typeface="Consolas"/>
                <a:sym typeface="Consolas"/>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onsolas"/>
                <a:ea typeface="Consolas"/>
                <a:cs typeface="Consolas"/>
                <a:sym typeface="Consolas"/>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onsolas"/>
                <a:ea typeface="Consolas"/>
                <a:cs typeface="Consolas"/>
                <a:sym typeface="Consolas"/>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onsolas"/>
                <a:ea typeface="Consolas"/>
                <a:cs typeface="Consolas"/>
                <a:sym typeface="Consola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pic>
        <p:nvPicPr>
          <p:cNvPr id="15" name="Google Shape;15;p61"/>
          <p:cNvPicPr preferRelativeResize="0"/>
          <p:nvPr/>
        </p:nvPicPr>
        <p:blipFill rotWithShape="1">
          <a:blip r:embed="rId14">
            <a:alphaModFix/>
          </a:blip>
          <a:srcRect/>
          <a:stretch/>
        </p:blipFill>
        <p:spPr>
          <a:xfrm>
            <a:off x="469099" y="196256"/>
            <a:ext cx="1831796" cy="464222"/>
          </a:xfrm>
          <a:prstGeom prst="rect">
            <a:avLst/>
          </a:prstGeom>
          <a:noFill/>
          <a:ln>
            <a:noFill/>
          </a:ln>
        </p:spPr>
      </p:pic>
      <p:pic>
        <p:nvPicPr>
          <p:cNvPr id="16" name="Google Shape;16;p61"/>
          <p:cNvPicPr preferRelativeResize="0"/>
          <p:nvPr/>
        </p:nvPicPr>
        <p:blipFill rotWithShape="1">
          <a:blip r:embed="rId15">
            <a:alphaModFix/>
          </a:blip>
          <a:srcRect/>
          <a:stretch/>
        </p:blipFill>
        <p:spPr>
          <a:xfrm>
            <a:off x="2297265" y="196255"/>
            <a:ext cx="2634775" cy="451676"/>
          </a:xfrm>
          <a:prstGeom prst="rect">
            <a:avLst/>
          </a:prstGeom>
          <a:noFill/>
          <a:ln>
            <a:noFill/>
          </a:ln>
        </p:spPr>
      </p:pic>
      <p:pic>
        <p:nvPicPr>
          <p:cNvPr id="17" name="Google Shape;17;p61"/>
          <p:cNvPicPr preferRelativeResize="0"/>
          <p:nvPr/>
        </p:nvPicPr>
        <p:blipFill rotWithShape="1">
          <a:blip r:embed="rId16">
            <a:alphaModFix/>
          </a:blip>
          <a:srcRect t="20458" b="20398"/>
          <a:stretch/>
        </p:blipFill>
        <p:spPr>
          <a:xfrm>
            <a:off x="6228184" y="-27384"/>
            <a:ext cx="2520280" cy="867911"/>
          </a:xfrm>
          <a:prstGeom prst="rect">
            <a:avLst/>
          </a:prstGeom>
          <a:noFill/>
          <a:ln>
            <a:noFill/>
          </a:ln>
        </p:spPr>
      </p:pic>
      <p:sp>
        <p:nvSpPr>
          <p:cNvPr id="18" name="Google Shape;18;p61"/>
          <p:cNvSpPr/>
          <p:nvPr/>
        </p:nvSpPr>
        <p:spPr>
          <a:xfrm>
            <a:off x="0" y="1152525"/>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100"/>
              <a:buFont typeface="Calibri"/>
              <a:buNone/>
            </a:pPr>
            <a:r>
              <a:rPr lang="es-ES" sz="11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19" name="Google Shape;19;p61"/>
          <p:cNvSpPr/>
          <p:nvPr/>
        </p:nvSpPr>
        <p:spPr>
          <a:xfrm>
            <a:off x="673894" y="1493863"/>
            <a:ext cx="8470106" cy="134937"/>
          </a:xfrm>
          <a:prstGeom prst="rect">
            <a:avLst/>
          </a:prstGeom>
          <a:gradFill>
            <a:gsLst>
              <a:gs pos="0">
                <a:srgbClr val="2D5C97"/>
              </a:gs>
              <a:gs pos="80000">
                <a:srgbClr val="3C7AC5"/>
              </a:gs>
              <a:gs pos="100000">
                <a:srgbClr val="397BC9"/>
              </a:gs>
            </a:gsLst>
            <a:lin ang="16200000" scaled="0"/>
          </a:gradFill>
          <a:ln w="9525" cap="flat" cmpd="sng">
            <a:solidFill>
              <a:srgbClr val="4A7DBA"/>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425EA9"/>
              </a:solidFill>
              <a:latin typeface="Arial"/>
              <a:ea typeface="Arial"/>
              <a:cs typeface="Arial"/>
              <a:sym typeface="Arial"/>
            </a:endParaRPr>
          </a:p>
        </p:txBody>
      </p:sp>
      <p:sp>
        <p:nvSpPr>
          <p:cNvPr id="20" name="Google Shape;20;p61"/>
          <p:cNvSpPr/>
          <p:nvPr/>
        </p:nvSpPr>
        <p:spPr>
          <a:xfrm>
            <a:off x="0" y="1493863"/>
            <a:ext cx="557213" cy="134937"/>
          </a:xfrm>
          <a:prstGeom prst="rect">
            <a:avLst/>
          </a:prstGeom>
          <a:gradFill>
            <a:gsLst>
              <a:gs pos="0">
                <a:srgbClr val="29859E"/>
              </a:gs>
              <a:gs pos="80000">
                <a:srgbClr val="36B0D0"/>
              </a:gs>
              <a:gs pos="100000">
                <a:srgbClr val="33B3D5"/>
              </a:gs>
            </a:gsLst>
            <a:lin ang="16200000" scaled="0"/>
          </a:gradFill>
          <a:ln w="9525" cap="flat" cmpd="sng">
            <a:solidFill>
              <a:srgbClr val="45A9C4"/>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425EA9"/>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8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8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p:nvPr/>
        </p:nvSpPr>
        <p:spPr>
          <a:xfrm>
            <a:off x="0" y="1052736"/>
            <a:ext cx="9144000" cy="4968552"/>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 name="Google Shape;104;p1"/>
          <p:cNvSpPr txBox="1">
            <a:spLocks noGrp="1"/>
          </p:cNvSpPr>
          <p:nvPr>
            <p:ph type="subTitle" idx="1"/>
          </p:nvPr>
        </p:nvSpPr>
        <p:spPr>
          <a:xfrm>
            <a:off x="1142999" y="4551104"/>
            <a:ext cx="6858000" cy="8664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1800"/>
              <a:buNone/>
            </a:pPr>
            <a:r>
              <a:rPr lang="es-ES"/>
              <a:t>BU-ISCIII</a:t>
            </a:r>
            <a:endParaRPr/>
          </a:p>
          <a:p>
            <a:pPr marL="0" lvl="0" indent="0" algn="ctr" rtl="0">
              <a:lnSpc>
                <a:spcPct val="100000"/>
              </a:lnSpc>
              <a:spcBef>
                <a:spcPts val="360"/>
              </a:spcBef>
              <a:spcAft>
                <a:spcPts val="0"/>
              </a:spcAft>
              <a:buClr>
                <a:schemeClr val="dk1"/>
              </a:buClr>
              <a:buSzPts val="1800"/>
              <a:buNone/>
            </a:pPr>
            <a:r>
              <a:rPr lang="es-ES"/>
              <a:t>Unidades Comunes Científico Técnicas – SGSAFI-ISCIII</a:t>
            </a:r>
            <a:endParaRPr/>
          </a:p>
        </p:txBody>
      </p:sp>
      <p:sp>
        <p:nvSpPr>
          <p:cNvPr id="105" name="Google Shape;105;p1"/>
          <p:cNvSpPr txBox="1">
            <a:spLocks noGrp="1"/>
          </p:cNvSpPr>
          <p:nvPr>
            <p:ph type="body" idx="2"/>
          </p:nvPr>
        </p:nvSpPr>
        <p:spPr>
          <a:xfrm>
            <a:off x="1825823" y="4049033"/>
            <a:ext cx="5492400" cy="5637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1800"/>
              <a:buNone/>
            </a:pPr>
            <a:r>
              <a:rPr lang="es-ES"/>
              <a:t>Sarai Varona</a:t>
            </a:r>
            <a:endParaRPr/>
          </a:p>
        </p:txBody>
      </p:sp>
      <p:sp>
        <p:nvSpPr>
          <p:cNvPr id="106" name="Google Shape;106;p1"/>
          <p:cNvSpPr txBox="1">
            <a:spLocks noGrp="1"/>
          </p:cNvSpPr>
          <p:nvPr>
            <p:ph type="body" idx="3"/>
          </p:nvPr>
        </p:nvSpPr>
        <p:spPr>
          <a:xfrm>
            <a:off x="1600200" y="2209800"/>
            <a:ext cx="6055500" cy="1370400"/>
          </a:xfrm>
          <a:prstGeom prst="rect">
            <a:avLst/>
          </a:prstGeom>
          <a:gradFill>
            <a:gsLst>
              <a:gs pos="0">
                <a:srgbClr val="2D5C97"/>
              </a:gs>
              <a:gs pos="80000">
                <a:srgbClr val="3C7AC5"/>
              </a:gs>
              <a:gs pos="100000">
                <a:srgbClr val="397BC9"/>
              </a:gs>
            </a:gsLst>
            <a:lin ang="16200000" scaled="0"/>
          </a:gradFill>
          <a:ln w="9525" cap="flat" cmpd="sng">
            <a:solidFill>
              <a:srgbClr val="4A7DBA"/>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lt1"/>
              </a:buClr>
              <a:buSzPts val="2800"/>
              <a:buNone/>
            </a:pPr>
            <a:r>
              <a:rPr lang="es-ES" sz="3600" u="none"/>
              <a:t>Introduction to Linux environment</a:t>
            </a:r>
            <a:endParaRPr sz="2800"/>
          </a:p>
        </p:txBody>
      </p:sp>
      <p:sp>
        <p:nvSpPr>
          <p:cNvPr id="107" name="Google Shape;107;p1"/>
          <p:cNvSpPr txBox="1"/>
          <p:nvPr/>
        </p:nvSpPr>
        <p:spPr>
          <a:xfrm>
            <a:off x="2372415" y="5466050"/>
            <a:ext cx="4511100" cy="646500"/>
          </a:xfrm>
          <a:prstGeom prst="rect">
            <a:avLst/>
          </a:prstGeom>
          <a:noFill/>
          <a:ln>
            <a:noFill/>
          </a:ln>
        </p:spPr>
        <p:txBody>
          <a:bodyPr spcFirstLastPara="1" wrap="square" lIns="91425" tIns="45700" rIns="91425" bIns="45700" anchor="t" anchorCtr="0">
            <a:spAutoFit/>
          </a:bodyPr>
          <a:lstStyle/>
          <a:p>
            <a:pPr algn="ctr">
              <a:buSzPts val="1800"/>
            </a:pPr>
            <a:r>
              <a:rPr lang="es-ES" sz="1800">
                <a:solidFill>
                  <a:schemeClr val="dk1"/>
                </a:solidFill>
                <a:latin typeface="Calibri"/>
                <a:ea typeface="Calibri"/>
                <a:cs typeface="Calibri"/>
                <a:sym typeface="Calibri"/>
              </a:rPr>
              <a:t>19</a:t>
            </a:r>
            <a:r>
              <a:rPr lang="es-ES" sz="1800" b="0" i="0" u="none" strike="noStrike" cap="none">
                <a:solidFill>
                  <a:schemeClr val="dk1"/>
                </a:solidFill>
                <a:latin typeface="Calibri"/>
                <a:ea typeface="Calibri"/>
                <a:cs typeface="Calibri"/>
                <a:sym typeface="Calibri"/>
              </a:rPr>
              <a:t> Octubre - </a:t>
            </a:r>
            <a:r>
              <a:rPr lang="es-ES" sz="1800">
                <a:solidFill>
                  <a:schemeClr val="dk1"/>
                </a:solidFill>
                <a:latin typeface="Calibri"/>
                <a:ea typeface="Calibri"/>
                <a:cs typeface="Calibri"/>
                <a:sym typeface="Calibri"/>
              </a:rPr>
              <a:t>23</a:t>
            </a:r>
            <a:r>
              <a:rPr lang="es-ES" sz="1800" b="0" i="0" u="none" strike="noStrike" cap="none">
                <a:solidFill>
                  <a:schemeClr val="dk1"/>
                </a:solidFill>
                <a:latin typeface="Calibri"/>
                <a:ea typeface="Calibri"/>
                <a:cs typeface="Calibri"/>
                <a:sym typeface="Calibri"/>
              </a:rPr>
              <a:t> </a:t>
            </a:r>
            <a:r>
              <a:rPr lang="es-ES" sz="1800">
                <a:solidFill>
                  <a:schemeClr val="dk1"/>
                </a:solidFill>
                <a:latin typeface="Calibri"/>
                <a:ea typeface="Calibri"/>
                <a:cs typeface="Calibri"/>
                <a:sym typeface="Calibri"/>
              </a:rPr>
              <a:t>Octubre 2026</a:t>
            </a:r>
            <a:r>
              <a:rPr lang="es-ES" sz="1800" b="0" i="0" u="none" strike="noStrike" cap="none">
                <a:solidFill>
                  <a:schemeClr val="dk1"/>
                </a:solidFill>
                <a:latin typeface="Calibri"/>
                <a:ea typeface="Calibri"/>
                <a:cs typeface="Calibri"/>
                <a:sym typeface="Calibri"/>
              </a:rPr>
              <a:t>, </a:t>
            </a:r>
            <a:r>
              <a:rPr lang="es-ES" sz="1800">
                <a:solidFill>
                  <a:schemeClr val="dk1"/>
                </a:solidFill>
                <a:latin typeface="Calibri"/>
                <a:ea typeface="Calibri"/>
                <a:cs typeface="Calibri"/>
                <a:sym typeface="Calibri"/>
              </a:rPr>
              <a:t>2ª</a:t>
            </a:r>
            <a:r>
              <a:rPr lang="es-ES" sz="1800" b="0" i="0" u="none" strike="noStrike" cap="none">
                <a:solidFill>
                  <a:schemeClr val="dk1"/>
                </a:solidFill>
                <a:latin typeface="Calibri"/>
                <a:ea typeface="Calibri"/>
                <a:cs typeface="Calibri"/>
                <a:sym typeface="Calibri"/>
              </a:rPr>
              <a:t> Edición</a:t>
            </a:r>
            <a:endParaRPr sz="14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Programa Formación Continua, ISCIII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Overview</a:t>
            </a:r>
            <a:endParaRPr/>
          </a:p>
        </p:txBody>
      </p:sp>
      <p:sp>
        <p:nvSpPr>
          <p:cNvPr id="114" name="Google Shape;114;p2"/>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400"/>
              </a:spcBef>
              <a:spcAft>
                <a:spcPts val="0"/>
              </a:spcAft>
              <a:buSzPts val="1800"/>
              <a:buAutoNum type="arabicPeriod"/>
            </a:pPr>
            <a:r>
              <a:rPr lang="es-ES" b="0" u="none"/>
              <a:t>Linux OS</a:t>
            </a:r>
            <a:endParaRPr/>
          </a:p>
          <a:p>
            <a:pPr marL="457200" lvl="0" indent="-342900" algn="l" rtl="0">
              <a:lnSpc>
                <a:spcPct val="150000"/>
              </a:lnSpc>
              <a:spcBef>
                <a:spcPts val="0"/>
              </a:spcBef>
              <a:spcAft>
                <a:spcPts val="0"/>
              </a:spcAft>
              <a:buSzPts val="1800"/>
              <a:buAutoNum type="arabicPeriod"/>
            </a:pPr>
            <a:r>
              <a:rPr lang="es-ES" b="0" u="none"/>
              <a:t>Linux file system</a:t>
            </a:r>
            <a:endParaRPr/>
          </a:p>
          <a:p>
            <a:pPr marL="457200" lvl="0" indent="-342900" algn="l" rtl="0">
              <a:lnSpc>
                <a:spcPct val="150000"/>
              </a:lnSpc>
              <a:spcBef>
                <a:spcPts val="0"/>
              </a:spcBef>
              <a:spcAft>
                <a:spcPts val="0"/>
              </a:spcAft>
              <a:buSzPts val="1800"/>
              <a:buAutoNum type="arabicPeriod"/>
            </a:pPr>
            <a:r>
              <a:rPr lang="es-ES" b="0" u="none"/>
              <a:t>Basic commands</a:t>
            </a:r>
            <a:endParaRPr/>
          </a:p>
          <a:p>
            <a:pPr marL="457200" lvl="0" indent="-342900" algn="l" rtl="0">
              <a:lnSpc>
                <a:spcPct val="150000"/>
              </a:lnSpc>
              <a:spcBef>
                <a:spcPts val="0"/>
              </a:spcBef>
              <a:spcAft>
                <a:spcPts val="0"/>
              </a:spcAft>
              <a:buSzPts val="1800"/>
              <a:buAutoNum type="arabicPeriod"/>
            </a:pPr>
            <a:r>
              <a:rPr lang="es-ES" b="0" u="none"/>
              <a:t>Command line syntax</a:t>
            </a:r>
            <a:endParaRPr/>
          </a:p>
          <a:p>
            <a:pPr marL="457200" lvl="0" indent="-342900" algn="l" rtl="0">
              <a:lnSpc>
                <a:spcPct val="150000"/>
              </a:lnSpc>
              <a:spcBef>
                <a:spcPts val="0"/>
              </a:spcBef>
              <a:spcAft>
                <a:spcPts val="0"/>
              </a:spcAft>
              <a:buSzPts val="1800"/>
              <a:buAutoNum type="arabicPeriod"/>
            </a:pPr>
            <a:r>
              <a:rPr lang="es-ES" b="0" u="none"/>
              <a:t>Linux users and privileges</a:t>
            </a:r>
            <a:endParaRPr/>
          </a:p>
        </p:txBody>
      </p:sp>
      <p:sp>
        <p:nvSpPr>
          <p:cNvPr id="115" name="Google Shape;11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3"/>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Overview</a:t>
            </a:r>
            <a:endParaRPr/>
          </a:p>
        </p:txBody>
      </p:sp>
      <p:sp>
        <p:nvSpPr>
          <p:cNvPr id="122" name="Google Shape;122;p3"/>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400"/>
              </a:spcBef>
              <a:spcAft>
                <a:spcPts val="0"/>
              </a:spcAft>
              <a:buSzPts val="1800"/>
              <a:buAutoNum type="arabicPeriod"/>
            </a:pPr>
            <a:r>
              <a:rPr lang="es-ES" b="0" u="none"/>
              <a:t>Linux OS</a:t>
            </a:r>
            <a:endParaRPr/>
          </a:p>
          <a:p>
            <a:pPr marL="457200" lvl="0" indent="-342900" algn="l" rtl="0">
              <a:lnSpc>
                <a:spcPct val="150000"/>
              </a:lnSpc>
              <a:spcBef>
                <a:spcPts val="0"/>
              </a:spcBef>
              <a:spcAft>
                <a:spcPts val="0"/>
              </a:spcAft>
              <a:buSzPts val="1800"/>
              <a:buAutoNum type="arabicPeriod"/>
            </a:pPr>
            <a:r>
              <a:rPr lang="es-ES" b="0" u="none"/>
              <a:t>Linux file system</a:t>
            </a:r>
            <a:endParaRPr b="0" u="none"/>
          </a:p>
          <a:p>
            <a:pPr marL="457200" lvl="0" indent="-342900" algn="l" rtl="0">
              <a:lnSpc>
                <a:spcPct val="150000"/>
              </a:lnSpc>
              <a:spcBef>
                <a:spcPts val="0"/>
              </a:spcBef>
              <a:spcAft>
                <a:spcPts val="0"/>
              </a:spcAft>
              <a:buSzPts val="1800"/>
              <a:buAutoNum type="arabicPeriod"/>
            </a:pPr>
            <a:r>
              <a:rPr lang="es-ES" b="0" u="none"/>
              <a:t>Basic commands</a:t>
            </a:r>
            <a:endParaRPr/>
          </a:p>
          <a:p>
            <a:pPr marL="457200" lvl="0" indent="-342900" algn="l" rtl="0">
              <a:lnSpc>
                <a:spcPct val="150000"/>
              </a:lnSpc>
              <a:spcBef>
                <a:spcPts val="0"/>
              </a:spcBef>
              <a:spcAft>
                <a:spcPts val="0"/>
              </a:spcAft>
              <a:buSzPts val="1800"/>
              <a:buAutoNum type="arabicPeriod"/>
            </a:pPr>
            <a:r>
              <a:rPr lang="es-ES" b="0" u="none"/>
              <a:t>Command line syntax</a:t>
            </a:r>
            <a:endParaRPr b="0" u="none"/>
          </a:p>
          <a:p>
            <a:pPr marL="457200" lvl="0" indent="-342900" algn="l" rtl="0">
              <a:lnSpc>
                <a:spcPct val="150000"/>
              </a:lnSpc>
              <a:spcBef>
                <a:spcPts val="0"/>
              </a:spcBef>
              <a:spcAft>
                <a:spcPts val="0"/>
              </a:spcAft>
              <a:buSzPts val="1800"/>
              <a:buAutoNum type="arabicPeriod"/>
            </a:pPr>
            <a:r>
              <a:rPr lang="es-ES" b="0" u="none"/>
              <a:t>Linux users and privileges</a:t>
            </a:r>
            <a:endParaRPr/>
          </a:p>
          <a:p>
            <a:pPr marL="0" lvl="0" indent="0" algn="l" rtl="0">
              <a:lnSpc>
                <a:spcPct val="150000"/>
              </a:lnSpc>
              <a:spcBef>
                <a:spcPts val="400"/>
              </a:spcBef>
              <a:spcAft>
                <a:spcPts val="0"/>
              </a:spcAft>
              <a:buSzPts val="1800"/>
              <a:buNone/>
            </a:pPr>
            <a:endParaRPr b="0" u="none"/>
          </a:p>
        </p:txBody>
      </p:sp>
      <p:sp>
        <p:nvSpPr>
          <p:cNvPr id="123" name="Google Shape;123;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a:t>
            </a:fld>
            <a:endParaRPr/>
          </a:p>
        </p:txBody>
      </p:sp>
      <p:sp>
        <p:nvSpPr>
          <p:cNvPr id="124" name="Google Shape;124;p3"/>
          <p:cNvSpPr/>
          <p:nvPr/>
        </p:nvSpPr>
        <p:spPr>
          <a:xfrm>
            <a:off x="457200" y="1969155"/>
            <a:ext cx="2026500" cy="5040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 Linux Operating System (OS)</a:t>
            </a:r>
            <a:endParaRPr/>
          </a:p>
        </p:txBody>
      </p:sp>
      <p:sp>
        <p:nvSpPr>
          <p:cNvPr id="131" name="Google Shape;131;p4"/>
          <p:cNvSpPr txBox="1">
            <a:spLocks noGrp="1"/>
          </p:cNvSpPr>
          <p:nvPr>
            <p:ph type="body" idx="1"/>
          </p:nvPr>
        </p:nvSpPr>
        <p:spPr>
          <a:xfrm>
            <a:off x="755576" y="1916832"/>
            <a:ext cx="8229600" cy="4209331"/>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1800"/>
              <a:buNone/>
            </a:pPr>
            <a:r>
              <a:rPr lang="es-ES" sz="2200"/>
              <a:t>Features:</a:t>
            </a:r>
            <a:endParaRPr/>
          </a:p>
          <a:p>
            <a:pPr marL="342900" lvl="0" indent="-342900" algn="l" rtl="0">
              <a:lnSpc>
                <a:spcPct val="150000"/>
              </a:lnSpc>
              <a:spcBef>
                <a:spcPts val="400"/>
              </a:spcBef>
              <a:spcAft>
                <a:spcPts val="0"/>
              </a:spcAft>
              <a:buSzPts val="2000"/>
              <a:buAutoNum type="arabicPeriod"/>
            </a:pPr>
            <a:r>
              <a:rPr lang="es-ES" b="0" u="none"/>
              <a:t>Operating System</a:t>
            </a:r>
            <a:endParaRPr/>
          </a:p>
          <a:p>
            <a:pPr marL="342900" lvl="0" indent="-342900" algn="l" rtl="0">
              <a:lnSpc>
                <a:spcPct val="150000"/>
              </a:lnSpc>
              <a:spcBef>
                <a:spcPts val="400"/>
              </a:spcBef>
              <a:spcAft>
                <a:spcPts val="0"/>
              </a:spcAft>
              <a:buSzPts val="2000"/>
              <a:buAutoNum type="arabicPeriod"/>
            </a:pPr>
            <a:r>
              <a:rPr lang="es-ES" b="0" u="none"/>
              <a:t>Open source</a:t>
            </a:r>
            <a:endParaRPr b="0" u="none"/>
          </a:p>
          <a:p>
            <a:pPr marL="342900" lvl="0" indent="-330200" algn="l" rtl="0">
              <a:lnSpc>
                <a:spcPct val="150000"/>
              </a:lnSpc>
              <a:spcBef>
                <a:spcPts val="400"/>
              </a:spcBef>
              <a:spcAft>
                <a:spcPts val="0"/>
              </a:spcAft>
              <a:buSzPts val="1800"/>
              <a:buAutoNum type="arabicPeriod"/>
            </a:pPr>
            <a:r>
              <a:rPr lang="es-ES" b="0" u="none"/>
              <a:t>Linux distributions</a:t>
            </a:r>
            <a:endParaRPr b="0" u="none"/>
          </a:p>
          <a:p>
            <a:pPr marL="342900" lvl="0" indent="-342900" algn="l" rtl="0">
              <a:lnSpc>
                <a:spcPct val="150000"/>
              </a:lnSpc>
              <a:spcBef>
                <a:spcPts val="400"/>
              </a:spcBef>
              <a:spcAft>
                <a:spcPts val="0"/>
              </a:spcAft>
              <a:buSzPts val="2000"/>
              <a:buAutoNum type="arabicPeriod"/>
            </a:pPr>
            <a:r>
              <a:rPr lang="es-ES" b="0" u="none"/>
              <a:t>Multitasking</a:t>
            </a:r>
            <a:endParaRPr/>
          </a:p>
          <a:p>
            <a:pPr marL="342900" lvl="0" indent="-342900" algn="l" rtl="0">
              <a:lnSpc>
                <a:spcPct val="150000"/>
              </a:lnSpc>
              <a:spcBef>
                <a:spcPts val="400"/>
              </a:spcBef>
              <a:spcAft>
                <a:spcPts val="0"/>
              </a:spcAft>
              <a:buSzPts val="2000"/>
              <a:buAutoNum type="arabicPeriod"/>
            </a:pPr>
            <a:r>
              <a:rPr lang="es-ES" b="0" u="none"/>
              <a:t>Multi-user</a:t>
            </a:r>
            <a:endParaRPr sz="2200"/>
          </a:p>
        </p:txBody>
      </p:sp>
      <p:sp>
        <p:nvSpPr>
          <p:cNvPr id="132" name="Google Shape;1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4</a:t>
            </a:fld>
            <a:endParaRPr/>
          </a:p>
        </p:txBody>
      </p:sp>
      <p:pic>
        <p:nvPicPr>
          <p:cNvPr id="133" name="Google Shape;133;p4" descr="https://aety.io/wp-content/uploads/2016/11/linux-logo-2.png"/>
          <p:cNvPicPr preferRelativeResize="0"/>
          <p:nvPr/>
        </p:nvPicPr>
        <p:blipFill rotWithShape="1">
          <a:blip r:embed="rId3">
            <a:alphaModFix/>
          </a:blip>
          <a:srcRect l="26303" t="6803" r="26863" b="4002"/>
          <a:stretch/>
        </p:blipFill>
        <p:spPr>
          <a:xfrm>
            <a:off x="4355976" y="1700808"/>
            <a:ext cx="4104000" cy="424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 Linux Operating System (OS)</a:t>
            </a:r>
            <a:endParaRPr/>
          </a:p>
        </p:txBody>
      </p:sp>
      <p:sp>
        <p:nvSpPr>
          <p:cNvPr id="140" name="Google Shape;140;p5"/>
          <p:cNvSpPr txBox="1">
            <a:spLocks noGrp="1"/>
          </p:cNvSpPr>
          <p:nvPr>
            <p:ph type="body" idx="1"/>
          </p:nvPr>
        </p:nvSpPr>
        <p:spPr>
          <a:xfrm>
            <a:off x="755576" y="1916832"/>
            <a:ext cx="8229600" cy="4209331"/>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200"/>
              <a:buNone/>
            </a:pPr>
            <a:r>
              <a:rPr lang="es-ES" sz="2200"/>
              <a:t>Features:</a:t>
            </a:r>
            <a:endParaRPr/>
          </a:p>
          <a:p>
            <a:pPr marL="342900" lvl="0" indent="-342900" algn="l" rtl="0">
              <a:lnSpc>
                <a:spcPct val="150000"/>
              </a:lnSpc>
              <a:spcBef>
                <a:spcPts val="400"/>
              </a:spcBef>
              <a:spcAft>
                <a:spcPts val="0"/>
              </a:spcAft>
              <a:buClr>
                <a:schemeClr val="dk1"/>
              </a:buClr>
              <a:buSzPts val="2000"/>
              <a:buAutoNum type="arabicPeriod"/>
            </a:pPr>
            <a:r>
              <a:rPr lang="es-ES" b="0" u="none"/>
              <a:t>Operating System</a:t>
            </a:r>
            <a:endParaRPr/>
          </a:p>
          <a:p>
            <a:pPr marL="342900" lvl="0" indent="-342900" algn="l" rtl="0">
              <a:lnSpc>
                <a:spcPct val="150000"/>
              </a:lnSpc>
              <a:spcBef>
                <a:spcPts val="400"/>
              </a:spcBef>
              <a:spcAft>
                <a:spcPts val="0"/>
              </a:spcAft>
              <a:buClr>
                <a:schemeClr val="dk1"/>
              </a:buClr>
              <a:buSzPts val="2000"/>
              <a:buAutoNum type="arabicPeriod"/>
            </a:pPr>
            <a:r>
              <a:rPr lang="es-ES" b="0" u="none"/>
              <a:t>Open source</a:t>
            </a:r>
            <a:endParaRPr b="0" u="none"/>
          </a:p>
          <a:p>
            <a:pPr marL="342900" lvl="0" indent="-330200" algn="l" rtl="0">
              <a:lnSpc>
                <a:spcPct val="150000"/>
              </a:lnSpc>
              <a:spcBef>
                <a:spcPts val="400"/>
              </a:spcBef>
              <a:spcAft>
                <a:spcPts val="0"/>
              </a:spcAft>
              <a:buSzPts val="1800"/>
              <a:buAutoNum type="arabicPeriod"/>
            </a:pPr>
            <a:r>
              <a:rPr lang="es-ES" b="0" u="none"/>
              <a:t>Linux distributions</a:t>
            </a:r>
            <a:endParaRPr b="0" u="none"/>
          </a:p>
          <a:p>
            <a:pPr marL="342900" lvl="0" indent="-342900" algn="l" rtl="0">
              <a:lnSpc>
                <a:spcPct val="150000"/>
              </a:lnSpc>
              <a:spcBef>
                <a:spcPts val="400"/>
              </a:spcBef>
              <a:spcAft>
                <a:spcPts val="0"/>
              </a:spcAft>
              <a:buClr>
                <a:schemeClr val="dk1"/>
              </a:buClr>
              <a:buSzPts val="2000"/>
              <a:buAutoNum type="arabicPeriod"/>
            </a:pPr>
            <a:r>
              <a:rPr lang="es-ES" b="0" u="none"/>
              <a:t>Multitasking</a:t>
            </a:r>
            <a:endParaRPr/>
          </a:p>
          <a:p>
            <a:pPr marL="342900" lvl="0" indent="-342900" algn="l" rtl="0">
              <a:lnSpc>
                <a:spcPct val="150000"/>
              </a:lnSpc>
              <a:spcBef>
                <a:spcPts val="400"/>
              </a:spcBef>
              <a:spcAft>
                <a:spcPts val="0"/>
              </a:spcAft>
              <a:buClr>
                <a:schemeClr val="dk1"/>
              </a:buClr>
              <a:buSzPts val="2000"/>
              <a:buAutoNum type="arabicPeriod"/>
            </a:pPr>
            <a:r>
              <a:rPr lang="es-ES" b="0" u="none"/>
              <a:t>Multi-user</a:t>
            </a:r>
            <a:endParaRPr/>
          </a:p>
        </p:txBody>
      </p:sp>
      <p:sp>
        <p:nvSpPr>
          <p:cNvPr id="141" name="Google Shape;141;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5</a:t>
            </a:fld>
            <a:endParaRPr/>
          </a:p>
        </p:txBody>
      </p:sp>
      <p:pic>
        <p:nvPicPr>
          <p:cNvPr id="142" name="Google Shape;142;p5" descr="https://aety.io/wp-content/uploads/2016/11/linux-logo-2.png"/>
          <p:cNvPicPr preferRelativeResize="0"/>
          <p:nvPr/>
        </p:nvPicPr>
        <p:blipFill rotWithShape="1">
          <a:blip r:embed="rId3">
            <a:alphaModFix/>
          </a:blip>
          <a:srcRect l="26303" t="6803" r="26863" b="4002"/>
          <a:stretch/>
        </p:blipFill>
        <p:spPr>
          <a:xfrm>
            <a:off x="4355976" y="1700808"/>
            <a:ext cx="4104000" cy="4248000"/>
          </a:xfrm>
          <a:prstGeom prst="rect">
            <a:avLst/>
          </a:prstGeom>
          <a:noFill/>
          <a:ln>
            <a:noFill/>
          </a:ln>
        </p:spPr>
      </p:pic>
      <p:sp>
        <p:nvSpPr>
          <p:cNvPr id="143" name="Google Shape;143;p5"/>
          <p:cNvSpPr/>
          <p:nvPr/>
        </p:nvSpPr>
        <p:spPr>
          <a:xfrm>
            <a:off x="684024" y="2535826"/>
            <a:ext cx="2880000" cy="5040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7"/>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1.1. Operating System</a:t>
            </a:r>
            <a:endParaRPr/>
          </a:p>
        </p:txBody>
      </p:sp>
      <p:sp>
        <p:nvSpPr>
          <p:cNvPr id="150" name="Google Shape;150;p7"/>
          <p:cNvSpPr txBox="1">
            <a:spLocks noGrp="1"/>
          </p:cNvSpPr>
          <p:nvPr>
            <p:ph type="body" idx="1"/>
          </p:nvPr>
        </p:nvSpPr>
        <p:spPr>
          <a:xfrm>
            <a:off x="467548" y="1916825"/>
            <a:ext cx="3439200" cy="420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a:t>Operating System (OS):</a:t>
            </a:r>
            <a:endParaRPr/>
          </a:p>
          <a:p>
            <a:pPr marL="342900" lvl="0" indent="-342900" algn="l" rtl="0">
              <a:lnSpc>
                <a:spcPct val="100000"/>
              </a:lnSpc>
              <a:spcBef>
                <a:spcPts val="400"/>
              </a:spcBef>
              <a:spcAft>
                <a:spcPts val="0"/>
              </a:spcAft>
              <a:buClr>
                <a:schemeClr val="dk1"/>
              </a:buClr>
              <a:buSzPts val="2000"/>
              <a:buChar char="•"/>
            </a:pPr>
            <a:r>
              <a:rPr lang="es-ES"/>
              <a:t>Software </a:t>
            </a:r>
            <a:r>
              <a:rPr lang="es-ES" b="0" u="none"/>
              <a:t>that manages computer hardware and software resources and provides common services for computer programs</a:t>
            </a:r>
            <a:endParaRPr/>
          </a:p>
          <a:p>
            <a:pPr marL="0" lvl="0" indent="0" algn="l" rtl="0">
              <a:lnSpc>
                <a:spcPct val="100000"/>
              </a:lnSpc>
              <a:spcBef>
                <a:spcPts val="400"/>
              </a:spcBef>
              <a:spcAft>
                <a:spcPts val="0"/>
              </a:spcAft>
              <a:buClr>
                <a:schemeClr val="dk1"/>
              </a:buClr>
              <a:buSzPts val="2000"/>
              <a:buNone/>
            </a:pPr>
            <a:endParaRPr b="0" u="none"/>
          </a:p>
        </p:txBody>
      </p:sp>
      <p:sp>
        <p:nvSpPr>
          <p:cNvPr id="151" name="Google Shape;151;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6</a:t>
            </a:fld>
            <a:endParaRPr/>
          </a:p>
        </p:txBody>
      </p:sp>
      <p:pic>
        <p:nvPicPr>
          <p:cNvPr id="152" name="Google Shape;152;p7" descr="Resultado de imagen de operative system"/>
          <p:cNvPicPr preferRelativeResize="0"/>
          <p:nvPr/>
        </p:nvPicPr>
        <p:blipFill rotWithShape="1">
          <a:blip r:embed="rId3">
            <a:alphaModFix/>
          </a:blip>
          <a:srcRect/>
          <a:stretch/>
        </p:blipFill>
        <p:spPr>
          <a:xfrm>
            <a:off x="5831166" y="1916832"/>
            <a:ext cx="2773282" cy="4104456"/>
          </a:xfrm>
          <a:prstGeom prst="rect">
            <a:avLst/>
          </a:prstGeom>
          <a:noFill/>
          <a:ln>
            <a:noFill/>
          </a:ln>
        </p:spPr>
      </p:pic>
      <p:pic>
        <p:nvPicPr>
          <p:cNvPr id="153" name="Google Shape;153;p7"/>
          <p:cNvPicPr preferRelativeResize="0"/>
          <p:nvPr/>
        </p:nvPicPr>
        <p:blipFill rotWithShape="1">
          <a:blip r:embed="rId4">
            <a:alphaModFix/>
          </a:blip>
          <a:srcRect/>
          <a:stretch/>
        </p:blipFill>
        <p:spPr>
          <a:xfrm>
            <a:off x="3906750" y="4836125"/>
            <a:ext cx="1753826" cy="1885350"/>
          </a:xfrm>
          <a:prstGeom prst="rect">
            <a:avLst/>
          </a:prstGeom>
          <a:noFill/>
          <a:ln>
            <a:noFill/>
          </a:ln>
        </p:spPr>
      </p:pic>
      <p:pic>
        <p:nvPicPr>
          <p:cNvPr id="154" name="Google Shape;154;p7"/>
          <p:cNvPicPr preferRelativeResize="0"/>
          <p:nvPr/>
        </p:nvPicPr>
        <p:blipFill rotWithShape="1">
          <a:blip r:embed="rId5">
            <a:alphaModFix/>
          </a:blip>
          <a:srcRect/>
          <a:stretch/>
        </p:blipFill>
        <p:spPr>
          <a:xfrm>
            <a:off x="5244566" y="3217316"/>
            <a:ext cx="644600" cy="644625"/>
          </a:xfrm>
          <a:prstGeom prst="rect">
            <a:avLst/>
          </a:prstGeom>
          <a:noFill/>
          <a:ln>
            <a:noFill/>
          </a:ln>
        </p:spPr>
      </p:pic>
      <p:pic>
        <p:nvPicPr>
          <p:cNvPr id="155" name="Google Shape;155;p7"/>
          <p:cNvPicPr preferRelativeResize="0"/>
          <p:nvPr/>
        </p:nvPicPr>
        <p:blipFill rotWithShape="1">
          <a:blip r:embed="rId6">
            <a:alphaModFix/>
          </a:blip>
          <a:srcRect/>
          <a:stretch/>
        </p:blipFill>
        <p:spPr>
          <a:xfrm>
            <a:off x="4330774" y="3217324"/>
            <a:ext cx="692143" cy="644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1.1. Operating System</a:t>
            </a:r>
            <a:endParaRPr/>
          </a:p>
        </p:txBody>
      </p:sp>
      <p:sp>
        <p:nvSpPr>
          <p:cNvPr id="162" name="Google Shape;162;p8"/>
          <p:cNvSpPr txBox="1">
            <a:spLocks noGrp="1"/>
          </p:cNvSpPr>
          <p:nvPr>
            <p:ph type="body" idx="1"/>
          </p:nvPr>
        </p:nvSpPr>
        <p:spPr>
          <a:xfrm>
            <a:off x="467550" y="1916824"/>
            <a:ext cx="5363700" cy="4941300"/>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100000"/>
              </a:lnSpc>
              <a:spcBef>
                <a:spcPts val="0"/>
              </a:spcBef>
              <a:spcAft>
                <a:spcPts val="0"/>
              </a:spcAft>
              <a:buClr>
                <a:schemeClr val="dk1"/>
              </a:buClr>
              <a:buSzPts val="2000"/>
              <a:buNone/>
            </a:pPr>
            <a:r>
              <a:rPr lang="es-ES"/>
              <a:t>Operating System (OS):</a:t>
            </a:r>
            <a:endParaRPr/>
          </a:p>
          <a:p>
            <a:pPr marL="342900" lvl="0" indent="-342900" algn="l" rtl="0">
              <a:lnSpc>
                <a:spcPct val="100000"/>
              </a:lnSpc>
              <a:spcBef>
                <a:spcPts val="400"/>
              </a:spcBef>
              <a:spcAft>
                <a:spcPts val="0"/>
              </a:spcAft>
              <a:buClr>
                <a:schemeClr val="dk1"/>
              </a:buClr>
              <a:buSzPts val="2000"/>
              <a:buChar char="•"/>
            </a:pPr>
            <a:r>
              <a:rPr lang="es-ES" b="0" u="none"/>
              <a:t>Software that manages</a:t>
            </a:r>
            <a:endParaRPr b="0" u="none"/>
          </a:p>
          <a:p>
            <a:pPr marL="0" lvl="0" indent="0" algn="l" rtl="0">
              <a:lnSpc>
                <a:spcPct val="100000"/>
              </a:lnSpc>
              <a:spcBef>
                <a:spcPts val="400"/>
              </a:spcBef>
              <a:spcAft>
                <a:spcPts val="0"/>
              </a:spcAft>
              <a:buSzPts val="1800"/>
              <a:buNone/>
            </a:pPr>
            <a:endParaRPr b="0" u="none"/>
          </a:p>
          <a:p>
            <a:pPr marL="0" lvl="0" indent="0" algn="l" rtl="0">
              <a:lnSpc>
                <a:spcPct val="100000"/>
              </a:lnSpc>
              <a:spcBef>
                <a:spcPts val="400"/>
              </a:spcBef>
              <a:spcAft>
                <a:spcPts val="0"/>
              </a:spcAft>
              <a:buClr>
                <a:schemeClr val="dk1"/>
              </a:buClr>
              <a:buSzPts val="2000"/>
              <a:buNone/>
            </a:pPr>
            <a:r>
              <a:rPr lang="es-ES"/>
              <a:t>Functions:</a:t>
            </a:r>
            <a:endParaRPr/>
          </a:p>
          <a:p>
            <a:pPr marL="342900" lvl="0" indent="-342900" algn="l" rtl="0">
              <a:lnSpc>
                <a:spcPct val="100000"/>
              </a:lnSpc>
              <a:spcBef>
                <a:spcPts val="400"/>
              </a:spcBef>
              <a:spcAft>
                <a:spcPts val="0"/>
              </a:spcAft>
              <a:buClr>
                <a:schemeClr val="dk1"/>
              </a:buClr>
              <a:buSzPts val="2000"/>
              <a:buChar char="•"/>
            </a:pPr>
            <a:r>
              <a:rPr lang="es-ES" b="0" u="none"/>
              <a:t>Program execution and control (launch, manage, and supervises running programs)</a:t>
            </a:r>
            <a:endParaRPr/>
          </a:p>
          <a:p>
            <a:pPr marL="342900" lvl="0" indent="-342900" algn="l" rtl="0">
              <a:lnSpc>
                <a:spcPct val="100000"/>
              </a:lnSpc>
              <a:spcBef>
                <a:spcPts val="400"/>
              </a:spcBef>
              <a:spcAft>
                <a:spcPts val="0"/>
              </a:spcAft>
              <a:buClr>
                <a:schemeClr val="dk1"/>
              </a:buClr>
              <a:buSzPts val="2000"/>
              <a:buChar char="•"/>
            </a:pPr>
            <a:r>
              <a:rPr lang="es-ES" b="0" u="none"/>
              <a:t>Peripheral management (controls devices like keyboard, mouse, screen, printer, USB…)</a:t>
            </a:r>
            <a:endParaRPr/>
          </a:p>
          <a:p>
            <a:pPr marL="342900" lvl="0" indent="-342900" algn="l" rtl="0">
              <a:lnSpc>
                <a:spcPct val="100000"/>
              </a:lnSpc>
              <a:spcBef>
                <a:spcPts val="400"/>
              </a:spcBef>
              <a:spcAft>
                <a:spcPts val="0"/>
              </a:spcAft>
              <a:buClr>
                <a:schemeClr val="dk1"/>
              </a:buClr>
              <a:buSzPts val="2000"/>
              <a:buChar char="•"/>
            </a:pPr>
            <a:r>
              <a:rPr lang="es-ES" b="0" u="none"/>
              <a:t>User and permission management (creates users, assigns roles, and controls access to files and system functions)</a:t>
            </a:r>
            <a:endParaRPr/>
          </a:p>
          <a:p>
            <a:pPr marL="342900" lvl="0" indent="-342900" algn="l" rtl="0">
              <a:lnSpc>
                <a:spcPct val="100000"/>
              </a:lnSpc>
              <a:spcBef>
                <a:spcPts val="400"/>
              </a:spcBef>
              <a:spcAft>
                <a:spcPts val="0"/>
              </a:spcAft>
              <a:buClr>
                <a:schemeClr val="dk1"/>
              </a:buClr>
              <a:buSzPts val="2000"/>
              <a:buChar char="•"/>
            </a:pPr>
            <a:r>
              <a:rPr lang="es-ES" b="0" u="none"/>
              <a:t>Error and security management (detects system or hardware failures and protects against unauthorized access)</a:t>
            </a:r>
            <a:endParaRPr/>
          </a:p>
        </p:txBody>
      </p:sp>
      <p:sp>
        <p:nvSpPr>
          <p:cNvPr id="163" name="Google Shape;16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7</a:t>
            </a:fld>
            <a:endParaRPr/>
          </a:p>
        </p:txBody>
      </p:sp>
      <p:pic>
        <p:nvPicPr>
          <p:cNvPr id="164" name="Google Shape;164;p8" descr="Resultado de imagen de operative system"/>
          <p:cNvPicPr preferRelativeResize="0"/>
          <p:nvPr/>
        </p:nvPicPr>
        <p:blipFill rotWithShape="1">
          <a:blip r:embed="rId3">
            <a:alphaModFix/>
          </a:blip>
          <a:srcRect/>
          <a:stretch/>
        </p:blipFill>
        <p:spPr>
          <a:xfrm>
            <a:off x="5831166" y="1916832"/>
            <a:ext cx="2773282" cy="41044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9"/>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1.1. Operating System</a:t>
            </a:r>
            <a:endParaRPr/>
          </a:p>
        </p:txBody>
      </p:sp>
      <p:sp>
        <p:nvSpPr>
          <p:cNvPr id="171" name="Google Shape;171;p9"/>
          <p:cNvSpPr txBox="1">
            <a:spLocks noGrp="1"/>
          </p:cNvSpPr>
          <p:nvPr>
            <p:ph type="body" idx="1"/>
          </p:nvPr>
        </p:nvSpPr>
        <p:spPr>
          <a:xfrm>
            <a:off x="601216" y="1916832"/>
            <a:ext cx="5050904" cy="420933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a:t>Basic structure of an OS:</a:t>
            </a:r>
            <a:endParaRPr/>
          </a:p>
          <a:p>
            <a:pPr marL="0" lvl="0" indent="0" algn="l" rtl="0">
              <a:lnSpc>
                <a:spcPct val="100000"/>
              </a:lnSpc>
              <a:spcBef>
                <a:spcPts val="400"/>
              </a:spcBef>
              <a:spcAft>
                <a:spcPts val="0"/>
              </a:spcAft>
              <a:buClr>
                <a:schemeClr val="dk1"/>
              </a:buClr>
              <a:buSzPts val="2000"/>
              <a:buNone/>
            </a:pPr>
            <a:endParaRPr b="0" u="none"/>
          </a:p>
        </p:txBody>
      </p:sp>
      <p:sp>
        <p:nvSpPr>
          <p:cNvPr id="172" name="Google Shape;17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8</a:t>
            </a:fld>
            <a:endParaRPr/>
          </a:p>
        </p:txBody>
      </p:sp>
      <p:pic>
        <p:nvPicPr>
          <p:cNvPr id="173" name="Google Shape;173;p9" descr="Resultado de imagen de operative system"/>
          <p:cNvPicPr preferRelativeResize="0"/>
          <p:nvPr/>
        </p:nvPicPr>
        <p:blipFill rotWithShape="1">
          <a:blip r:embed="rId3">
            <a:alphaModFix/>
          </a:blip>
          <a:srcRect/>
          <a:stretch/>
        </p:blipFill>
        <p:spPr>
          <a:xfrm>
            <a:off x="5652120" y="1916832"/>
            <a:ext cx="2773282" cy="4104456"/>
          </a:xfrm>
          <a:prstGeom prst="rect">
            <a:avLst/>
          </a:prstGeom>
          <a:noFill/>
          <a:ln>
            <a:noFill/>
          </a:ln>
        </p:spPr>
      </p:pic>
      <p:sp>
        <p:nvSpPr>
          <p:cNvPr id="174" name="Google Shape;174;p9"/>
          <p:cNvSpPr/>
          <p:nvPr/>
        </p:nvSpPr>
        <p:spPr>
          <a:xfrm>
            <a:off x="766614" y="3645024"/>
            <a:ext cx="3960440" cy="792088"/>
          </a:xfrm>
          <a:prstGeom prst="roundRect">
            <a:avLst>
              <a:gd name="adj" fmla="val 16667"/>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Shell</a:t>
            </a:r>
            <a:endParaRPr sz="1400" b="0" i="0" u="none" strike="noStrike" cap="none">
              <a:solidFill>
                <a:srgbClr val="000000"/>
              </a:solidFill>
              <a:latin typeface="Arial"/>
              <a:ea typeface="Arial"/>
              <a:cs typeface="Arial"/>
              <a:sym typeface="Arial"/>
            </a:endParaRPr>
          </a:p>
        </p:txBody>
      </p:sp>
      <p:sp>
        <p:nvSpPr>
          <p:cNvPr id="175" name="Google Shape;175;p9"/>
          <p:cNvSpPr/>
          <p:nvPr/>
        </p:nvSpPr>
        <p:spPr>
          <a:xfrm>
            <a:off x="755576" y="4661892"/>
            <a:ext cx="1811238" cy="792088"/>
          </a:xfrm>
          <a:prstGeom prst="roundRect">
            <a:avLst>
              <a:gd name="adj" fmla="val 16667"/>
            </a:avLst>
          </a:prstGeom>
          <a:gradFill>
            <a:gsLst>
              <a:gs pos="0">
                <a:srgbClr val="C8B2E9"/>
              </a:gs>
              <a:gs pos="35000">
                <a:srgbClr val="D6CAED"/>
              </a:gs>
              <a:gs pos="100000">
                <a:srgbClr val="EFE8FA"/>
              </a:gs>
            </a:gsLst>
            <a:lin ang="16200000" scaled="0"/>
          </a:gradFill>
          <a:ln w="9525" cap="flat" cmpd="sng">
            <a:solidFill>
              <a:srgbClr val="7C5F9F"/>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File system</a:t>
            </a:r>
            <a:endParaRPr sz="1400" b="0" i="0" u="none" strike="noStrike" cap="none">
              <a:solidFill>
                <a:srgbClr val="000000"/>
              </a:solidFill>
              <a:latin typeface="Arial"/>
              <a:ea typeface="Arial"/>
              <a:cs typeface="Arial"/>
              <a:sym typeface="Arial"/>
            </a:endParaRPr>
          </a:p>
        </p:txBody>
      </p:sp>
      <p:sp>
        <p:nvSpPr>
          <p:cNvPr id="176" name="Google Shape;176;p9"/>
          <p:cNvSpPr/>
          <p:nvPr/>
        </p:nvSpPr>
        <p:spPr>
          <a:xfrm>
            <a:off x="2807804" y="4661892"/>
            <a:ext cx="1919250" cy="792088"/>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Kernel</a:t>
            </a:r>
            <a:endParaRPr sz="1400" b="0" i="0" u="none" strike="noStrike" cap="none">
              <a:solidFill>
                <a:srgbClr val="000000"/>
              </a:solidFill>
              <a:latin typeface="Arial"/>
              <a:ea typeface="Arial"/>
              <a:cs typeface="Arial"/>
              <a:sym typeface="Arial"/>
            </a:endParaRPr>
          </a:p>
        </p:txBody>
      </p:sp>
      <p:sp>
        <p:nvSpPr>
          <p:cNvPr id="177" name="Google Shape;177;p9"/>
          <p:cNvSpPr/>
          <p:nvPr/>
        </p:nvSpPr>
        <p:spPr>
          <a:xfrm>
            <a:off x="4871070" y="3429000"/>
            <a:ext cx="781050" cy="2304256"/>
          </a:xfrm>
          <a:prstGeom prst="rightBrace">
            <a:avLst>
              <a:gd name="adj1" fmla="val 8333"/>
              <a:gd name="adj2" fmla="val 50000"/>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1.1. Operating System</a:t>
            </a:r>
            <a:endParaRPr/>
          </a:p>
        </p:txBody>
      </p:sp>
      <p:sp>
        <p:nvSpPr>
          <p:cNvPr id="184" name="Google Shape;18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a:t>
            </a:fld>
            <a:endParaRPr/>
          </a:p>
        </p:txBody>
      </p:sp>
      <p:sp>
        <p:nvSpPr>
          <p:cNvPr id="185" name="Google Shape;185;p10"/>
          <p:cNvSpPr/>
          <p:nvPr/>
        </p:nvSpPr>
        <p:spPr>
          <a:xfrm>
            <a:off x="3563888" y="4221088"/>
            <a:ext cx="1919250" cy="792088"/>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Kernel</a:t>
            </a:r>
            <a:endParaRPr sz="1400" b="0" i="0" u="none" strike="noStrike" cap="none">
              <a:solidFill>
                <a:srgbClr val="000000"/>
              </a:solidFill>
              <a:latin typeface="Arial"/>
              <a:ea typeface="Arial"/>
              <a:cs typeface="Arial"/>
              <a:sym typeface="Arial"/>
            </a:endParaRPr>
          </a:p>
        </p:txBody>
      </p:sp>
      <p:sp>
        <p:nvSpPr>
          <p:cNvPr id="186" name="Google Shape;186;p10"/>
          <p:cNvSpPr txBox="1"/>
          <p:nvPr/>
        </p:nvSpPr>
        <p:spPr>
          <a:xfrm>
            <a:off x="766614" y="5051792"/>
            <a:ext cx="7837834" cy="96949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es-ES" sz="1900" b="0" i="0" u="none" strike="noStrike" cap="none">
                <a:solidFill>
                  <a:schemeClr val="dk1"/>
                </a:solidFill>
                <a:latin typeface="Consolas"/>
                <a:ea typeface="Consolas"/>
                <a:cs typeface="Consolas"/>
                <a:sym typeface="Consolas"/>
              </a:rPr>
              <a:t>It is the foundational layer of an OS. It functions at a basic level, communicating with hardware and managing resources.</a:t>
            </a:r>
            <a:endParaRPr sz="1900" b="0" i="0" u="none" strike="noStrike" cap="none">
              <a:solidFill>
                <a:schemeClr val="dk1"/>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44e220f39a_1_2"/>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1.1. Operating System</a:t>
            </a:r>
            <a:endParaRPr/>
          </a:p>
        </p:txBody>
      </p:sp>
      <p:sp>
        <p:nvSpPr>
          <p:cNvPr id="193" name="Google Shape;193;g344e220f39a_1_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a:t>
            </a:fld>
            <a:endParaRPr/>
          </a:p>
        </p:txBody>
      </p:sp>
      <p:sp>
        <p:nvSpPr>
          <p:cNvPr id="194" name="Google Shape;194;g344e220f39a_1_2"/>
          <p:cNvSpPr/>
          <p:nvPr/>
        </p:nvSpPr>
        <p:spPr>
          <a:xfrm>
            <a:off x="5929114" y="2060848"/>
            <a:ext cx="1811100" cy="792000"/>
          </a:xfrm>
          <a:prstGeom prst="roundRect">
            <a:avLst>
              <a:gd name="adj" fmla="val 16667"/>
            </a:avLst>
          </a:prstGeom>
          <a:gradFill>
            <a:gsLst>
              <a:gs pos="0">
                <a:srgbClr val="C8B2E9"/>
              </a:gs>
              <a:gs pos="35000">
                <a:srgbClr val="D6CAED"/>
              </a:gs>
              <a:gs pos="100000">
                <a:srgbClr val="EFE8FA"/>
              </a:gs>
            </a:gsLst>
            <a:lin ang="16200038" scaled="0"/>
          </a:gradFill>
          <a:ln w="9525" cap="flat" cmpd="sng">
            <a:solidFill>
              <a:srgbClr val="7C5F9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File system</a:t>
            </a:r>
            <a:endParaRPr sz="1400" b="0" i="0" u="none" strike="noStrike" cap="none">
              <a:solidFill>
                <a:srgbClr val="000000"/>
              </a:solidFill>
              <a:latin typeface="Arial"/>
              <a:ea typeface="Arial"/>
              <a:cs typeface="Arial"/>
              <a:sym typeface="Arial"/>
            </a:endParaRPr>
          </a:p>
        </p:txBody>
      </p:sp>
      <p:sp>
        <p:nvSpPr>
          <p:cNvPr id="195" name="Google Shape;195;g344e220f39a_1_2"/>
          <p:cNvSpPr/>
          <p:nvPr/>
        </p:nvSpPr>
        <p:spPr>
          <a:xfrm>
            <a:off x="3563888" y="4221088"/>
            <a:ext cx="1919400" cy="792000"/>
          </a:xfrm>
          <a:prstGeom prst="roundRect">
            <a:avLst>
              <a:gd name="adj" fmla="val 16667"/>
            </a:avLst>
          </a:prstGeom>
          <a:gradFill>
            <a:gsLst>
              <a:gs pos="0">
                <a:srgbClr val="FFA09D"/>
              </a:gs>
              <a:gs pos="35000">
                <a:srgbClr val="FFBCBC"/>
              </a:gs>
              <a:gs pos="100000">
                <a:srgbClr val="FFE2E2"/>
              </a:gs>
            </a:gsLst>
            <a:lin ang="16200038"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Kernel</a:t>
            </a:r>
            <a:endParaRPr sz="1400" b="0" i="0" u="none" strike="noStrike" cap="none">
              <a:solidFill>
                <a:srgbClr val="000000"/>
              </a:solidFill>
              <a:latin typeface="Arial"/>
              <a:ea typeface="Arial"/>
              <a:cs typeface="Arial"/>
              <a:sym typeface="Arial"/>
            </a:endParaRPr>
          </a:p>
        </p:txBody>
      </p:sp>
      <p:sp>
        <p:nvSpPr>
          <p:cNvPr id="196" name="Google Shape;196;g344e220f39a_1_2"/>
          <p:cNvSpPr txBox="1"/>
          <p:nvPr/>
        </p:nvSpPr>
        <p:spPr>
          <a:xfrm>
            <a:off x="5292080" y="3068959"/>
            <a:ext cx="3312300" cy="969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900"/>
              <a:buFont typeface="Arial"/>
              <a:buNone/>
            </a:pPr>
            <a:r>
              <a:rPr lang="es-ES" sz="1900" b="0" i="0" u="none" strike="noStrike" cap="none">
                <a:solidFill>
                  <a:schemeClr val="dk1"/>
                </a:solidFill>
                <a:latin typeface="Consolas"/>
                <a:ea typeface="Consolas"/>
                <a:cs typeface="Consolas"/>
                <a:sym typeface="Consolas"/>
              </a:rPr>
              <a:t>It controls how data is stored, manipulated and retrieved. (Part 2)</a:t>
            </a:r>
            <a:endParaRPr sz="1900" b="0" i="0" u="none" strike="noStrike" cap="none">
              <a:solidFill>
                <a:schemeClr val="dk1"/>
              </a:solidFill>
              <a:latin typeface="Consolas"/>
              <a:ea typeface="Consolas"/>
              <a:cs typeface="Consolas"/>
              <a:sym typeface="Consolas"/>
            </a:endParaRPr>
          </a:p>
        </p:txBody>
      </p:sp>
      <p:sp>
        <p:nvSpPr>
          <p:cNvPr id="197" name="Google Shape;197;g344e220f39a_1_2"/>
          <p:cNvSpPr txBox="1"/>
          <p:nvPr/>
        </p:nvSpPr>
        <p:spPr>
          <a:xfrm>
            <a:off x="766614" y="5051792"/>
            <a:ext cx="7837800" cy="969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es-ES" sz="1900" b="0" i="0" u="none" strike="noStrike" cap="none">
                <a:solidFill>
                  <a:schemeClr val="dk1"/>
                </a:solidFill>
                <a:latin typeface="Consolas"/>
                <a:ea typeface="Consolas"/>
                <a:cs typeface="Consolas"/>
                <a:sym typeface="Consolas"/>
              </a:rPr>
              <a:t>It is the foundational layer of an operating system (OS). It functions at a basic level, communicating with hardware and managing resources.</a:t>
            </a:r>
            <a:endParaRPr sz="1900" b="0" i="0" u="none" strike="noStrike" cap="none">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44e220f39a_1_16"/>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1.1. Operating System</a:t>
            </a:r>
            <a:endParaRPr/>
          </a:p>
        </p:txBody>
      </p:sp>
      <p:sp>
        <p:nvSpPr>
          <p:cNvPr id="204" name="Google Shape;204;g344e220f39a_1_16"/>
          <p:cNvSpPr txBox="1">
            <a:spLocks noGrp="1"/>
          </p:cNvSpPr>
          <p:nvPr>
            <p:ph type="body" idx="1"/>
          </p:nvPr>
        </p:nvSpPr>
        <p:spPr>
          <a:xfrm>
            <a:off x="601216" y="2996951"/>
            <a:ext cx="4330800" cy="11520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000"/>
              <a:buNone/>
            </a:pPr>
            <a:r>
              <a:rPr lang="es-ES"/>
              <a:t>Program </a:t>
            </a:r>
            <a:r>
              <a:rPr lang="es-ES" b="0" u="none"/>
              <a:t>that provides the traditional, text-only user interface. (Part 3)</a:t>
            </a:r>
            <a:endParaRPr b="0" u="none"/>
          </a:p>
        </p:txBody>
      </p:sp>
      <p:sp>
        <p:nvSpPr>
          <p:cNvPr id="205" name="Google Shape;205;g344e220f39a_1_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11</a:t>
            </a:fld>
            <a:endParaRPr/>
          </a:p>
        </p:txBody>
      </p:sp>
      <p:sp>
        <p:nvSpPr>
          <p:cNvPr id="206" name="Google Shape;206;g344e220f39a_1_16"/>
          <p:cNvSpPr/>
          <p:nvPr/>
        </p:nvSpPr>
        <p:spPr>
          <a:xfrm>
            <a:off x="766614" y="2060848"/>
            <a:ext cx="3960300" cy="792000"/>
          </a:xfrm>
          <a:prstGeom prst="roundRect">
            <a:avLst>
              <a:gd name="adj" fmla="val 16667"/>
            </a:avLst>
          </a:prstGeom>
          <a:gradFill>
            <a:gsLst>
              <a:gs pos="0">
                <a:srgbClr val="9FC3FF"/>
              </a:gs>
              <a:gs pos="35000">
                <a:srgbClr val="BDD5FF"/>
              </a:gs>
              <a:gs pos="100000">
                <a:srgbClr val="E4EEFF"/>
              </a:gs>
            </a:gsLst>
            <a:lin ang="16200038" scaled="0"/>
          </a:gradFill>
          <a:ln w="9525" cap="flat" cmpd="sng">
            <a:solidFill>
              <a:srgbClr val="4A7DBA"/>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Shell</a:t>
            </a:r>
            <a:endParaRPr sz="1400" b="0" i="0" u="none" strike="noStrike" cap="none">
              <a:solidFill>
                <a:srgbClr val="000000"/>
              </a:solidFill>
              <a:latin typeface="Arial"/>
              <a:ea typeface="Arial"/>
              <a:cs typeface="Arial"/>
              <a:sym typeface="Arial"/>
            </a:endParaRPr>
          </a:p>
        </p:txBody>
      </p:sp>
      <p:sp>
        <p:nvSpPr>
          <p:cNvPr id="207" name="Google Shape;207;g344e220f39a_1_16"/>
          <p:cNvSpPr/>
          <p:nvPr/>
        </p:nvSpPr>
        <p:spPr>
          <a:xfrm>
            <a:off x="5929114" y="2060848"/>
            <a:ext cx="1811100" cy="792000"/>
          </a:xfrm>
          <a:prstGeom prst="roundRect">
            <a:avLst>
              <a:gd name="adj" fmla="val 16667"/>
            </a:avLst>
          </a:prstGeom>
          <a:gradFill>
            <a:gsLst>
              <a:gs pos="0">
                <a:srgbClr val="C8B2E9"/>
              </a:gs>
              <a:gs pos="35000">
                <a:srgbClr val="D6CAED"/>
              </a:gs>
              <a:gs pos="100000">
                <a:srgbClr val="EFE8FA"/>
              </a:gs>
            </a:gsLst>
            <a:lin ang="16200038" scaled="0"/>
          </a:gradFill>
          <a:ln w="9525" cap="flat" cmpd="sng">
            <a:solidFill>
              <a:srgbClr val="7C5F9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File system</a:t>
            </a:r>
            <a:endParaRPr sz="1400" b="0" i="0" u="none" strike="noStrike" cap="none">
              <a:solidFill>
                <a:srgbClr val="000000"/>
              </a:solidFill>
              <a:latin typeface="Arial"/>
              <a:ea typeface="Arial"/>
              <a:cs typeface="Arial"/>
              <a:sym typeface="Arial"/>
            </a:endParaRPr>
          </a:p>
        </p:txBody>
      </p:sp>
      <p:sp>
        <p:nvSpPr>
          <p:cNvPr id="208" name="Google Shape;208;g344e220f39a_1_16"/>
          <p:cNvSpPr/>
          <p:nvPr/>
        </p:nvSpPr>
        <p:spPr>
          <a:xfrm>
            <a:off x="3563888" y="4221088"/>
            <a:ext cx="1919400" cy="792000"/>
          </a:xfrm>
          <a:prstGeom prst="roundRect">
            <a:avLst>
              <a:gd name="adj" fmla="val 16667"/>
            </a:avLst>
          </a:prstGeom>
          <a:gradFill>
            <a:gsLst>
              <a:gs pos="0">
                <a:srgbClr val="FFA09D"/>
              </a:gs>
              <a:gs pos="35000">
                <a:srgbClr val="FFBCBC"/>
              </a:gs>
              <a:gs pos="100000">
                <a:srgbClr val="FFE2E2"/>
              </a:gs>
            </a:gsLst>
            <a:lin ang="16200038" scaled="0"/>
          </a:gradFill>
          <a:ln w="9525" cap="flat" cmpd="sng">
            <a:solidFill>
              <a:srgbClr val="BD4B48"/>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Kernel</a:t>
            </a:r>
            <a:endParaRPr sz="1400" b="0" i="0" u="none" strike="noStrike" cap="none">
              <a:solidFill>
                <a:srgbClr val="000000"/>
              </a:solidFill>
              <a:latin typeface="Arial"/>
              <a:ea typeface="Arial"/>
              <a:cs typeface="Arial"/>
              <a:sym typeface="Arial"/>
            </a:endParaRPr>
          </a:p>
        </p:txBody>
      </p:sp>
      <p:sp>
        <p:nvSpPr>
          <p:cNvPr id="209" name="Google Shape;209;g344e220f39a_1_16"/>
          <p:cNvSpPr txBox="1"/>
          <p:nvPr/>
        </p:nvSpPr>
        <p:spPr>
          <a:xfrm>
            <a:off x="5292080" y="3068959"/>
            <a:ext cx="3312300" cy="969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900"/>
              <a:buFont typeface="Arial"/>
              <a:buNone/>
            </a:pPr>
            <a:r>
              <a:rPr lang="es-ES" sz="1900" b="0" i="0" u="none" strike="noStrike" cap="none">
                <a:solidFill>
                  <a:schemeClr val="dk1"/>
                </a:solidFill>
                <a:latin typeface="Consolas"/>
                <a:ea typeface="Consolas"/>
                <a:cs typeface="Consolas"/>
                <a:sym typeface="Consolas"/>
              </a:rPr>
              <a:t>It controls how data is stored, manipulated and retrieved. (Part 2)</a:t>
            </a:r>
            <a:endParaRPr sz="1900" b="0" i="0" u="none" strike="noStrike" cap="none">
              <a:solidFill>
                <a:schemeClr val="dk1"/>
              </a:solidFill>
              <a:latin typeface="Consolas"/>
              <a:ea typeface="Consolas"/>
              <a:cs typeface="Consolas"/>
              <a:sym typeface="Consolas"/>
            </a:endParaRPr>
          </a:p>
        </p:txBody>
      </p:sp>
      <p:sp>
        <p:nvSpPr>
          <p:cNvPr id="210" name="Google Shape;210;g344e220f39a_1_16"/>
          <p:cNvSpPr txBox="1"/>
          <p:nvPr/>
        </p:nvSpPr>
        <p:spPr>
          <a:xfrm>
            <a:off x="766614" y="5051792"/>
            <a:ext cx="7837800" cy="969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es-ES" sz="1900" b="0" i="0" u="none" strike="noStrike" cap="none">
                <a:solidFill>
                  <a:schemeClr val="dk1"/>
                </a:solidFill>
                <a:latin typeface="Consolas"/>
                <a:ea typeface="Consolas"/>
                <a:cs typeface="Consolas"/>
                <a:sym typeface="Consolas"/>
              </a:rPr>
              <a:t>It is the foundational layer of an operating system (OS). It functions at a basic level, communicating with hardware and managing resources.</a:t>
            </a:r>
            <a:endParaRPr sz="1900" b="0" i="0" u="none" strike="noStrike" cap="none">
              <a:solidFill>
                <a:schemeClr val="dk1"/>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44e220f39a_2_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1.1. Operating System</a:t>
            </a:r>
            <a:endParaRPr/>
          </a:p>
        </p:txBody>
      </p:sp>
      <p:sp>
        <p:nvSpPr>
          <p:cNvPr id="217" name="Google Shape;217;g344e220f39a_2_0"/>
          <p:cNvSpPr txBox="1">
            <a:spLocks noGrp="1"/>
          </p:cNvSpPr>
          <p:nvPr>
            <p:ph type="body" idx="1"/>
          </p:nvPr>
        </p:nvSpPr>
        <p:spPr>
          <a:xfrm>
            <a:off x="467544" y="1916832"/>
            <a:ext cx="5363700" cy="420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a:t>Operating System (OS):</a:t>
            </a:r>
            <a:endParaRPr/>
          </a:p>
        </p:txBody>
      </p:sp>
      <p:sp>
        <p:nvSpPr>
          <p:cNvPr id="218" name="Google Shape;218;g344e220f39a_2_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12</a:t>
            </a:fld>
            <a:endParaRPr/>
          </a:p>
        </p:txBody>
      </p:sp>
      <p:pic>
        <p:nvPicPr>
          <p:cNvPr id="219" name="Google Shape;219;g344e220f39a_2_0" descr="How to Reinstall Windows 10 and Keep Your Files"/>
          <p:cNvPicPr preferRelativeResize="0"/>
          <p:nvPr/>
        </p:nvPicPr>
        <p:blipFill rotWithShape="1">
          <a:blip r:embed="rId3">
            <a:alphaModFix/>
          </a:blip>
          <a:srcRect t="24802" b="26198"/>
          <a:stretch/>
        </p:blipFill>
        <p:spPr>
          <a:xfrm>
            <a:off x="340729" y="2662122"/>
            <a:ext cx="4932039" cy="1359376"/>
          </a:xfrm>
          <a:prstGeom prst="rect">
            <a:avLst/>
          </a:prstGeom>
          <a:noFill/>
          <a:ln>
            <a:noFill/>
          </a:ln>
        </p:spPr>
      </p:pic>
      <p:sp>
        <p:nvSpPr>
          <p:cNvPr id="220" name="Google Shape;220;g344e220f39a_2_0" descr="Mac OS Logo Vector – Brands Logos"/>
          <p:cNvSpPr/>
          <p:nvPr/>
        </p:nvSpPr>
        <p:spPr>
          <a:xfrm>
            <a:off x="4419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1" name="Google Shape;221;g344e220f39a_2_0" descr="Mac OS Logo Vector – Brands Logos"/>
          <p:cNvSpPr/>
          <p:nvPr/>
        </p:nvSpPr>
        <p:spPr>
          <a:xfrm>
            <a:off x="4572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22" name="Google Shape;222;g344e220f39a_2_0"/>
          <p:cNvPicPr preferRelativeResize="0"/>
          <p:nvPr/>
        </p:nvPicPr>
        <p:blipFill rotWithShape="1">
          <a:blip r:embed="rId4">
            <a:alphaModFix/>
          </a:blip>
          <a:srcRect/>
          <a:stretch/>
        </p:blipFill>
        <p:spPr>
          <a:xfrm>
            <a:off x="5957981" y="2209800"/>
            <a:ext cx="2133600" cy="2133600"/>
          </a:xfrm>
          <a:prstGeom prst="rect">
            <a:avLst/>
          </a:prstGeom>
          <a:noFill/>
          <a:ln>
            <a:noFill/>
          </a:ln>
        </p:spPr>
      </p:pic>
      <p:pic>
        <p:nvPicPr>
          <p:cNvPr id="223" name="Google Shape;223;g344e220f39a_2_0"/>
          <p:cNvPicPr preferRelativeResize="0"/>
          <p:nvPr/>
        </p:nvPicPr>
        <p:blipFill rotWithShape="1">
          <a:blip r:embed="rId5">
            <a:alphaModFix/>
          </a:blip>
          <a:srcRect/>
          <a:stretch/>
        </p:blipFill>
        <p:spPr>
          <a:xfrm>
            <a:off x="3532684" y="3994394"/>
            <a:ext cx="1866900" cy="2122735"/>
          </a:xfrm>
          <a:prstGeom prst="rect">
            <a:avLst/>
          </a:prstGeom>
          <a:noFill/>
          <a:ln>
            <a:noFill/>
          </a:ln>
        </p:spPr>
      </p:pic>
      <p:sp>
        <p:nvSpPr>
          <p:cNvPr id="224" name="Google Shape;224;g344e220f39a_2_0"/>
          <p:cNvSpPr txBox="1"/>
          <p:nvPr/>
        </p:nvSpPr>
        <p:spPr>
          <a:xfrm>
            <a:off x="4980764" y="5218571"/>
            <a:ext cx="1282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GNU/Linux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344e220f39a_2_14"/>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1.1. Operating System</a:t>
            </a:r>
            <a:endParaRPr/>
          </a:p>
        </p:txBody>
      </p:sp>
      <p:sp>
        <p:nvSpPr>
          <p:cNvPr id="231" name="Google Shape;231;g344e220f39a_2_14"/>
          <p:cNvSpPr txBox="1">
            <a:spLocks noGrp="1"/>
          </p:cNvSpPr>
          <p:nvPr>
            <p:ph type="body" idx="1"/>
          </p:nvPr>
        </p:nvSpPr>
        <p:spPr>
          <a:xfrm>
            <a:off x="467551" y="1916825"/>
            <a:ext cx="4854300" cy="42093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ts val="2000"/>
              <a:buNone/>
            </a:pPr>
            <a:r>
              <a:rPr lang="es-ES"/>
              <a:t>GNU/Linux:</a:t>
            </a:r>
            <a:endParaRPr/>
          </a:p>
          <a:p>
            <a:pPr marL="0" lvl="0" indent="0" algn="l" rtl="0">
              <a:lnSpc>
                <a:spcPct val="100000"/>
              </a:lnSpc>
              <a:spcBef>
                <a:spcPts val="0"/>
              </a:spcBef>
              <a:spcAft>
                <a:spcPts val="0"/>
              </a:spcAft>
              <a:buClr>
                <a:schemeClr val="dk1"/>
              </a:buClr>
              <a:buSzPts val="2000"/>
              <a:buNone/>
            </a:pPr>
            <a:endParaRPr/>
          </a:p>
          <a:p>
            <a:pPr marL="0" lvl="0" indent="0" algn="l" rtl="0">
              <a:lnSpc>
                <a:spcPct val="100000"/>
              </a:lnSpc>
              <a:spcBef>
                <a:spcPts val="0"/>
              </a:spcBef>
              <a:spcAft>
                <a:spcPts val="0"/>
              </a:spcAft>
              <a:buClr>
                <a:schemeClr val="dk1"/>
              </a:buClr>
              <a:buSzPts val="2000"/>
              <a:buNone/>
            </a:pPr>
            <a:r>
              <a:rPr lang="es-ES" b="0" u="none"/>
              <a:t>GNU = </a:t>
            </a:r>
            <a:r>
              <a:rPr lang="es-ES" u="none"/>
              <a:t>G</a:t>
            </a:r>
            <a:r>
              <a:rPr lang="es-ES" b="0" u="none"/>
              <a:t>NU’s </a:t>
            </a:r>
            <a:r>
              <a:rPr lang="es-ES" u="none"/>
              <a:t>N</a:t>
            </a:r>
            <a:r>
              <a:rPr lang="es-ES" b="0" u="none"/>
              <a:t>ot </a:t>
            </a:r>
            <a:r>
              <a:rPr lang="es-ES" u="none"/>
              <a:t>U</a:t>
            </a:r>
            <a:r>
              <a:rPr lang="es-ES" b="0" u="none"/>
              <a:t>nix project</a:t>
            </a:r>
            <a:endParaRPr b="0" u="none"/>
          </a:p>
          <a:p>
            <a:pPr marL="0" lvl="0" indent="0" algn="l" rtl="0">
              <a:lnSpc>
                <a:spcPct val="100000"/>
              </a:lnSpc>
              <a:spcBef>
                <a:spcPts val="0"/>
              </a:spcBef>
              <a:spcAft>
                <a:spcPts val="0"/>
              </a:spcAft>
              <a:buClr>
                <a:schemeClr val="dk1"/>
              </a:buClr>
              <a:buSzPts val="2000"/>
              <a:buNone/>
            </a:pPr>
            <a:r>
              <a:rPr lang="es-ES" b="0" u="none"/>
              <a:t>	(Richard Stallman, 1983)</a:t>
            </a:r>
            <a:endParaRPr b="0" u="none"/>
          </a:p>
          <a:p>
            <a:pPr marL="0" lvl="0" indent="0" algn="l" rtl="0">
              <a:lnSpc>
                <a:spcPct val="100000"/>
              </a:lnSpc>
              <a:spcBef>
                <a:spcPts val="0"/>
              </a:spcBef>
              <a:spcAft>
                <a:spcPts val="0"/>
              </a:spcAft>
              <a:buClr>
                <a:schemeClr val="dk1"/>
              </a:buClr>
              <a:buSzPts val="2000"/>
              <a:buNone/>
            </a:pPr>
            <a:r>
              <a:rPr lang="es-ES" b="0" u="none"/>
              <a:t>	- Shell</a:t>
            </a:r>
            <a:endParaRPr b="0" u="none"/>
          </a:p>
          <a:p>
            <a:pPr marL="0" lvl="0" indent="0" algn="l" rtl="0">
              <a:lnSpc>
                <a:spcPct val="100000"/>
              </a:lnSpc>
              <a:spcBef>
                <a:spcPts val="0"/>
              </a:spcBef>
              <a:spcAft>
                <a:spcPts val="0"/>
              </a:spcAft>
              <a:buClr>
                <a:schemeClr val="dk1"/>
              </a:buClr>
              <a:buSzPts val="2000"/>
              <a:buNone/>
            </a:pPr>
            <a:r>
              <a:rPr lang="es-ES" b="0" u="none"/>
              <a:t>	- Compiler</a:t>
            </a:r>
            <a:endParaRPr b="0" u="none"/>
          </a:p>
          <a:p>
            <a:pPr marL="0" lvl="0" indent="0" algn="l" rtl="0">
              <a:lnSpc>
                <a:spcPct val="100000"/>
              </a:lnSpc>
              <a:spcBef>
                <a:spcPts val="0"/>
              </a:spcBef>
              <a:spcAft>
                <a:spcPts val="0"/>
              </a:spcAft>
              <a:buClr>
                <a:schemeClr val="dk1"/>
              </a:buClr>
              <a:buSzPts val="2000"/>
              <a:buNone/>
            </a:pPr>
            <a:r>
              <a:rPr lang="es-ES" b="0" u="none"/>
              <a:t>	- Libraries</a:t>
            </a:r>
            <a:endParaRPr b="0" u="none"/>
          </a:p>
          <a:p>
            <a:pPr marL="0" lvl="0" indent="0" algn="l" rtl="0">
              <a:lnSpc>
                <a:spcPct val="100000"/>
              </a:lnSpc>
              <a:spcBef>
                <a:spcPts val="0"/>
              </a:spcBef>
              <a:spcAft>
                <a:spcPts val="0"/>
              </a:spcAft>
              <a:buClr>
                <a:schemeClr val="dk1"/>
              </a:buClr>
              <a:buSzPts val="2000"/>
              <a:buNone/>
            </a:pPr>
            <a:r>
              <a:rPr lang="es-ES" b="0" u="none"/>
              <a:t>	- Other utils</a:t>
            </a:r>
            <a:endParaRPr b="0" u="none"/>
          </a:p>
          <a:p>
            <a:pPr marL="0" lvl="0" indent="0" algn="l" rtl="0">
              <a:lnSpc>
                <a:spcPct val="100000"/>
              </a:lnSpc>
              <a:spcBef>
                <a:spcPts val="0"/>
              </a:spcBef>
              <a:spcAft>
                <a:spcPts val="0"/>
              </a:spcAft>
              <a:buClr>
                <a:schemeClr val="dk1"/>
              </a:buClr>
              <a:buSzPts val="2000"/>
              <a:buNone/>
            </a:pPr>
            <a:endParaRPr b="0" u="none"/>
          </a:p>
          <a:p>
            <a:pPr marL="0" lvl="0" indent="0" algn="l" rtl="0">
              <a:lnSpc>
                <a:spcPct val="100000"/>
              </a:lnSpc>
              <a:spcBef>
                <a:spcPts val="0"/>
              </a:spcBef>
              <a:spcAft>
                <a:spcPts val="0"/>
              </a:spcAft>
              <a:buClr>
                <a:schemeClr val="dk1"/>
              </a:buClr>
              <a:buSzPts val="2000"/>
              <a:buNone/>
            </a:pPr>
            <a:endParaRPr b="0" u="none"/>
          </a:p>
          <a:p>
            <a:pPr marL="0" lvl="0" indent="0" algn="l" rtl="0">
              <a:lnSpc>
                <a:spcPct val="100000"/>
              </a:lnSpc>
              <a:spcBef>
                <a:spcPts val="0"/>
              </a:spcBef>
              <a:spcAft>
                <a:spcPts val="0"/>
              </a:spcAft>
              <a:buClr>
                <a:schemeClr val="dk1"/>
              </a:buClr>
              <a:buSzPts val="2000"/>
              <a:buNone/>
            </a:pPr>
            <a:endParaRPr b="0" u="none"/>
          </a:p>
          <a:p>
            <a:pPr marL="0" lvl="0" indent="0" algn="l" rtl="0">
              <a:lnSpc>
                <a:spcPct val="100000"/>
              </a:lnSpc>
              <a:spcBef>
                <a:spcPts val="0"/>
              </a:spcBef>
              <a:spcAft>
                <a:spcPts val="0"/>
              </a:spcAft>
              <a:buClr>
                <a:schemeClr val="dk1"/>
              </a:buClr>
              <a:buSzPts val="2000"/>
              <a:buNone/>
            </a:pPr>
            <a:r>
              <a:rPr lang="es-ES" b="0" u="none"/>
              <a:t>Kernel (Linus Torvalds, 1991)</a:t>
            </a:r>
            <a:endParaRPr b="0" u="none"/>
          </a:p>
          <a:p>
            <a:pPr marL="0" lvl="0" indent="0" algn="l" rtl="0">
              <a:lnSpc>
                <a:spcPct val="100000"/>
              </a:lnSpc>
              <a:spcBef>
                <a:spcPts val="0"/>
              </a:spcBef>
              <a:spcAft>
                <a:spcPts val="0"/>
              </a:spcAft>
              <a:buClr>
                <a:schemeClr val="dk1"/>
              </a:buClr>
              <a:buSzPts val="2000"/>
              <a:buNone/>
            </a:pPr>
            <a:endParaRPr b="0" u="none"/>
          </a:p>
          <a:p>
            <a:pPr marL="0" lvl="0" indent="0" algn="l" rtl="0">
              <a:lnSpc>
                <a:spcPct val="100000"/>
              </a:lnSpc>
              <a:spcBef>
                <a:spcPts val="0"/>
              </a:spcBef>
              <a:spcAft>
                <a:spcPts val="0"/>
              </a:spcAft>
              <a:buClr>
                <a:schemeClr val="dk1"/>
              </a:buClr>
              <a:buSzPts val="2000"/>
              <a:buNone/>
            </a:pPr>
            <a:endParaRPr b="0" u="none"/>
          </a:p>
          <a:p>
            <a:pPr marL="0" lvl="0" indent="0" algn="l" rtl="0">
              <a:lnSpc>
                <a:spcPct val="100000"/>
              </a:lnSpc>
              <a:spcBef>
                <a:spcPts val="0"/>
              </a:spcBef>
              <a:spcAft>
                <a:spcPts val="0"/>
              </a:spcAft>
              <a:buClr>
                <a:schemeClr val="dk1"/>
              </a:buClr>
              <a:buSzPts val="2000"/>
              <a:buNone/>
            </a:pPr>
            <a:endParaRPr b="0" u="none"/>
          </a:p>
        </p:txBody>
      </p:sp>
      <p:sp>
        <p:nvSpPr>
          <p:cNvPr id="232" name="Google Shape;232;g344e220f39a_2_1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13</a:t>
            </a:fld>
            <a:endParaRPr/>
          </a:p>
        </p:txBody>
      </p:sp>
      <p:pic>
        <p:nvPicPr>
          <p:cNvPr id="233" name="Google Shape;233;g344e220f39a_2_14"/>
          <p:cNvPicPr preferRelativeResize="0"/>
          <p:nvPr/>
        </p:nvPicPr>
        <p:blipFill rotWithShape="1">
          <a:blip r:embed="rId3">
            <a:alphaModFix/>
          </a:blip>
          <a:srcRect/>
          <a:stretch/>
        </p:blipFill>
        <p:spPr>
          <a:xfrm>
            <a:off x="5742484" y="2089394"/>
            <a:ext cx="1866900" cy="2122735"/>
          </a:xfrm>
          <a:prstGeom prst="rect">
            <a:avLst/>
          </a:prstGeom>
          <a:noFill/>
          <a:ln>
            <a:noFill/>
          </a:ln>
        </p:spPr>
      </p:pic>
      <p:sp>
        <p:nvSpPr>
          <p:cNvPr id="234" name="Google Shape;234;g344e220f39a_2_14"/>
          <p:cNvSpPr txBox="1"/>
          <p:nvPr/>
        </p:nvSpPr>
        <p:spPr>
          <a:xfrm>
            <a:off x="7190564" y="3313571"/>
            <a:ext cx="1282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GNU/Linux </a:t>
            </a:r>
            <a:endParaRPr sz="1400" b="0" i="0" u="none" strike="noStrike" cap="none">
              <a:solidFill>
                <a:srgbClr val="000000"/>
              </a:solidFill>
              <a:latin typeface="Arial"/>
              <a:ea typeface="Arial"/>
              <a:cs typeface="Arial"/>
              <a:sym typeface="Arial"/>
            </a:endParaRPr>
          </a:p>
        </p:txBody>
      </p:sp>
      <p:sp>
        <p:nvSpPr>
          <p:cNvPr id="235" name="Google Shape;235;g344e220f39a_2_14"/>
          <p:cNvSpPr/>
          <p:nvPr/>
        </p:nvSpPr>
        <p:spPr>
          <a:xfrm>
            <a:off x="5409625" y="2039375"/>
            <a:ext cx="3063900" cy="22485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6" name="Google Shape;236;g344e220f39a_2_14"/>
          <p:cNvSpPr/>
          <p:nvPr/>
        </p:nvSpPr>
        <p:spPr>
          <a:xfrm>
            <a:off x="2288625" y="4150000"/>
            <a:ext cx="677400" cy="673800"/>
          </a:xfrm>
          <a:prstGeom prst="mathPlus">
            <a:avLst>
              <a:gd name="adj1" fmla="val 23520"/>
            </a:avLst>
          </a:prstGeom>
          <a:solidFill>
            <a:srgbClr val="4A7DB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70c1eac3df_0_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 Linux Operating System (OS)</a:t>
            </a:r>
            <a:endParaRPr/>
          </a:p>
        </p:txBody>
      </p:sp>
      <p:sp>
        <p:nvSpPr>
          <p:cNvPr id="243" name="Google Shape;243;g370c1eac3df_0_0"/>
          <p:cNvSpPr txBox="1">
            <a:spLocks noGrp="1"/>
          </p:cNvSpPr>
          <p:nvPr>
            <p:ph type="body" idx="1"/>
          </p:nvPr>
        </p:nvSpPr>
        <p:spPr>
          <a:xfrm>
            <a:off x="755576"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200"/>
              <a:buNone/>
            </a:pPr>
            <a:r>
              <a:rPr lang="es-ES" sz="2200"/>
              <a:t>Features:</a:t>
            </a:r>
            <a:endParaRPr/>
          </a:p>
          <a:p>
            <a:pPr marL="342900" lvl="0" indent="-342900" algn="l" rtl="0">
              <a:lnSpc>
                <a:spcPct val="150000"/>
              </a:lnSpc>
              <a:spcBef>
                <a:spcPts val="400"/>
              </a:spcBef>
              <a:spcAft>
                <a:spcPts val="0"/>
              </a:spcAft>
              <a:buClr>
                <a:schemeClr val="dk1"/>
              </a:buClr>
              <a:buSzPts val="2000"/>
              <a:buAutoNum type="arabicPeriod"/>
            </a:pPr>
            <a:r>
              <a:rPr lang="es-ES" b="0" u="none"/>
              <a:t>Operating System</a:t>
            </a:r>
            <a:endParaRPr/>
          </a:p>
          <a:p>
            <a:pPr marL="342900" lvl="0" indent="-342900" algn="l" rtl="0">
              <a:lnSpc>
                <a:spcPct val="150000"/>
              </a:lnSpc>
              <a:spcBef>
                <a:spcPts val="400"/>
              </a:spcBef>
              <a:spcAft>
                <a:spcPts val="0"/>
              </a:spcAft>
              <a:buClr>
                <a:schemeClr val="dk1"/>
              </a:buClr>
              <a:buSzPts val="2000"/>
              <a:buAutoNum type="arabicPeriod"/>
            </a:pPr>
            <a:r>
              <a:rPr lang="es-ES" b="0" u="none"/>
              <a:t>Open source</a:t>
            </a:r>
            <a:endParaRPr b="0" u="none"/>
          </a:p>
          <a:p>
            <a:pPr marL="342900" lvl="0" indent="-330200" algn="l" rtl="0">
              <a:lnSpc>
                <a:spcPct val="150000"/>
              </a:lnSpc>
              <a:spcBef>
                <a:spcPts val="400"/>
              </a:spcBef>
              <a:spcAft>
                <a:spcPts val="0"/>
              </a:spcAft>
              <a:buSzPts val="1800"/>
              <a:buAutoNum type="arabicPeriod"/>
            </a:pPr>
            <a:r>
              <a:rPr lang="es-ES" b="0" u="none"/>
              <a:t>Linux distributions</a:t>
            </a:r>
            <a:endParaRPr b="0" u="none"/>
          </a:p>
          <a:p>
            <a:pPr marL="342900" lvl="0" indent="-342900" algn="l" rtl="0">
              <a:lnSpc>
                <a:spcPct val="150000"/>
              </a:lnSpc>
              <a:spcBef>
                <a:spcPts val="400"/>
              </a:spcBef>
              <a:spcAft>
                <a:spcPts val="0"/>
              </a:spcAft>
              <a:buClr>
                <a:schemeClr val="dk1"/>
              </a:buClr>
              <a:buSzPts val="2000"/>
              <a:buAutoNum type="arabicPeriod"/>
            </a:pPr>
            <a:r>
              <a:rPr lang="es-ES" b="0" u="none"/>
              <a:t>Multitasking</a:t>
            </a:r>
            <a:endParaRPr/>
          </a:p>
          <a:p>
            <a:pPr marL="342900" lvl="0" indent="-342900" algn="l" rtl="0">
              <a:lnSpc>
                <a:spcPct val="150000"/>
              </a:lnSpc>
              <a:spcBef>
                <a:spcPts val="400"/>
              </a:spcBef>
              <a:spcAft>
                <a:spcPts val="0"/>
              </a:spcAft>
              <a:buClr>
                <a:schemeClr val="dk1"/>
              </a:buClr>
              <a:buSzPts val="2000"/>
              <a:buAutoNum type="arabicPeriod"/>
            </a:pPr>
            <a:r>
              <a:rPr lang="es-ES" b="0" u="none"/>
              <a:t>Multi-user</a:t>
            </a:r>
            <a:endParaRPr/>
          </a:p>
        </p:txBody>
      </p:sp>
      <p:sp>
        <p:nvSpPr>
          <p:cNvPr id="244" name="Google Shape;244;g370c1eac3df_0_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14</a:t>
            </a:fld>
            <a:endParaRPr/>
          </a:p>
        </p:txBody>
      </p:sp>
      <p:pic>
        <p:nvPicPr>
          <p:cNvPr id="245" name="Google Shape;245;g370c1eac3df_0_0" descr="https://aety.io/wp-content/uploads/2016/11/linux-logo-2.png"/>
          <p:cNvPicPr preferRelativeResize="0"/>
          <p:nvPr/>
        </p:nvPicPr>
        <p:blipFill rotWithShape="1">
          <a:blip r:embed="rId3">
            <a:alphaModFix/>
          </a:blip>
          <a:srcRect l="26300" t="6805" r="26863" b="3996"/>
          <a:stretch/>
        </p:blipFill>
        <p:spPr>
          <a:xfrm>
            <a:off x="4355976" y="1700808"/>
            <a:ext cx="4104000" cy="4248000"/>
          </a:xfrm>
          <a:prstGeom prst="rect">
            <a:avLst/>
          </a:prstGeom>
          <a:noFill/>
          <a:ln>
            <a:noFill/>
          </a:ln>
        </p:spPr>
      </p:pic>
      <p:sp>
        <p:nvSpPr>
          <p:cNvPr id="246" name="Google Shape;246;g370c1eac3df_0_0"/>
          <p:cNvSpPr/>
          <p:nvPr/>
        </p:nvSpPr>
        <p:spPr>
          <a:xfrm>
            <a:off x="684024" y="3013849"/>
            <a:ext cx="2880000" cy="5040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2"/>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 Open source</a:t>
            </a:r>
            <a:endParaRPr/>
          </a:p>
        </p:txBody>
      </p:sp>
      <p:sp>
        <p:nvSpPr>
          <p:cNvPr id="253" name="Google Shape;253;p12"/>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ts val="2000"/>
              <a:buNone/>
            </a:pPr>
            <a:r>
              <a:rPr lang="es-ES"/>
              <a:t>The distribution terms of open-source software must comply with the following criteria:</a:t>
            </a:r>
            <a:endParaRPr/>
          </a:p>
          <a:p>
            <a:pPr marL="342900" lvl="0" indent="-342900" algn="l" rtl="0">
              <a:lnSpc>
                <a:spcPct val="100000"/>
              </a:lnSpc>
              <a:spcBef>
                <a:spcPts val="400"/>
              </a:spcBef>
              <a:spcAft>
                <a:spcPts val="0"/>
              </a:spcAft>
              <a:buClr>
                <a:schemeClr val="dk1"/>
              </a:buClr>
              <a:buSzPts val="2000"/>
              <a:buAutoNum type="arabicPeriod"/>
            </a:pPr>
            <a:r>
              <a:rPr lang="es-ES" b="0" u="none"/>
              <a:t>Free Redistribution</a:t>
            </a:r>
            <a:endParaRPr/>
          </a:p>
          <a:p>
            <a:pPr marL="342900" lvl="0" indent="-342900" algn="l" rtl="0">
              <a:lnSpc>
                <a:spcPct val="100000"/>
              </a:lnSpc>
              <a:spcBef>
                <a:spcPts val="400"/>
              </a:spcBef>
              <a:spcAft>
                <a:spcPts val="0"/>
              </a:spcAft>
              <a:buClr>
                <a:schemeClr val="dk1"/>
              </a:buClr>
              <a:buSzPts val="2000"/>
              <a:buAutoNum type="arabicPeriod"/>
            </a:pPr>
            <a:r>
              <a:rPr lang="es-ES" b="0" u="none"/>
              <a:t>Source Code</a:t>
            </a:r>
            <a:endParaRPr/>
          </a:p>
          <a:p>
            <a:pPr marL="342900" lvl="0" indent="-342900" algn="l" rtl="0">
              <a:lnSpc>
                <a:spcPct val="100000"/>
              </a:lnSpc>
              <a:spcBef>
                <a:spcPts val="400"/>
              </a:spcBef>
              <a:spcAft>
                <a:spcPts val="0"/>
              </a:spcAft>
              <a:buClr>
                <a:schemeClr val="dk1"/>
              </a:buClr>
              <a:buSzPts val="2000"/>
              <a:buAutoNum type="arabicPeriod"/>
            </a:pPr>
            <a:r>
              <a:rPr lang="es-ES" b="0" u="none"/>
              <a:t>Derived Works</a:t>
            </a:r>
            <a:endParaRPr/>
          </a:p>
          <a:p>
            <a:pPr marL="342900" lvl="0" indent="-342900" algn="l" rtl="0">
              <a:lnSpc>
                <a:spcPct val="100000"/>
              </a:lnSpc>
              <a:spcBef>
                <a:spcPts val="400"/>
              </a:spcBef>
              <a:spcAft>
                <a:spcPts val="0"/>
              </a:spcAft>
              <a:buClr>
                <a:schemeClr val="dk1"/>
              </a:buClr>
              <a:buSzPts val="2000"/>
              <a:buAutoNum type="arabicPeriod"/>
            </a:pPr>
            <a:r>
              <a:rPr lang="es-ES" b="0" u="none"/>
              <a:t>Integrity of the Author’s Source Code</a:t>
            </a:r>
            <a:endParaRPr/>
          </a:p>
          <a:p>
            <a:pPr marL="342900" lvl="0" indent="-342900" algn="l" rtl="0">
              <a:lnSpc>
                <a:spcPct val="100000"/>
              </a:lnSpc>
              <a:spcBef>
                <a:spcPts val="400"/>
              </a:spcBef>
              <a:spcAft>
                <a:spcPts val="0"/>
              </a:spcAft>
              <a:buClr>
                <a:schemeClr val="dk1"/>
              </a:buClr>
              <a:buSzPts val="2000"/>
              <a:buAutoNum type="arabicPeriod"/>
            </a:pPr>
            <a:r>
              <a:rPr lang="es-ES" b="0" u="none"/>
              <a:t>No Discrimination Against Persons or Groups</a:t>
            </a:r>
            <a:endParaRPr/>
          </a:p>
          <a:p>
            <a:pPr marL="342900" lvl="0" indent="-342900" algn="l" rtl="0">
              <a:lnSpc>
                <a:spcPct val="100000"/>
              </a:lnSpc>
              <a:spcBef>
                <a:spcPts val="400"/>
              </a:spcBef>
              <a:spcAft>
                <a:spcPts val="0"/>
              </a:spcAft>
              <a:buClr>
                <a:schemeClr val="dk1"/>
              </a:buClr>
              <a:buSzPts val="2000"/>
              <a:buAutoNum type="arabicPeriod"/>
            </a:pPr>
            <a:r>
              <a:rPr lang="es-ES" b="0" u="none"/>
              <a:t>No Discrimination Against Fields of Endeavour</a:t>
            </a:r>
            <a:endParaRPr/>
          </a:p>
          <a:p>
            <a:pPr marL="342900" lvl="0" indent="-342900" algn="l" rtl="0">
              <a:lnSpc>
                <a:spcPct val="100000"/>
              </a:lnSpc>
              <a:spcBef>
                <a:spcPts val="400"/>
              </a:spcBef>
              <a:spcAft>
                <a:spcPts val="0"/>
              </a:spcAft>
              <a:buClr>
                <a:schemeClr val="dk1"/>
              </a:buClr>
              <a:buSzPts val="2000"/>
              <a:buAutoNum type="arabicPeriod"/>
            </a:pPr>
            <a:r>
              <a:rPr lang="es-ES" b="0" u="none"/>
              <a:t>Distribution of license</a:t>
            </a:r>
            <a:endParaRPr/>
          </a:p>
          <a:p>
            <a:pPr marL="342900" lvl="0" indent="-342900" algn="l" rtl="0">
              <a:lnSpc>
                <a:spcPct val="100000"/>
              </a:lnSpc>
              <a:spcBef>
                <a:spcPts val="400"/>
              </a:spcBef>
              <a:spcAft>
                <a:spcPts val="0"/>
              </a:spcAft>
              <a:buClr>
                <a:schemeClr val="dk1"/>
              </a:buClr>
              <a:buSzPts val="2000"/>
              <a:buAutoNum type="arabicPeriod"/>
            </a:pPr>
            <a:r>
              <a:rPr lang="es-ES" b="0" u="none"/>
              <a:t>License Must Not Be Specific to a Product</a:t>
            </a:r>
            <a:endParaRPr/>
          </a:p>
          <a:p>
            <a:pPr marL="342900" lvl="0" indent="-342900" algn="l" rtl="0">
              <a:lnSpc>
                <a:spcPct val="100000"/>
              </a:lnSpc>
              <a:spcBef>
                <a:spcPts val="400"/>
              </a:spcBef>
              <a:spcAft>
                <a:spcPts val="0"/>
              </a:spcAft>
              <a:buClr>
                <a:schemeClr val="dk1"/>
              </a:buClr>
              <a:buSzPts val="2000"/>
              <a:buAutoNum type="arabicPeriod"/>
            </a:pPr>
            <a:r>
              <a:rPr lang="es-ES" b="0" u="none"/>
              <a:t>License Must not Restrict Other Software</a:t>
            </a:r>
            <a:endParaRPr/>
          </a:p>
          <a:p>
            <a:pPr marL="342900" lvl="0" indent="-342900" algn="l" rtl="0">
              <a:lnSpc>
                <a:spcPct val="100000"/>
              </a:lnSpc>
              <a:spcBef>
                <a:spcPts val="400"/>
              </a:spcBef>
              <a:spcAft>
                <a:spcPts val="0"/>
              </a:spcAft>
              <a:buClr>
                <a:schemeClr val="dk1"/>
              </a:buClr>
              <a:buSzPts val="2000"/>
              <a:buAutoNum type="arabicPeriod"/>
            </a:pPr>
            <a:r>
              <a:rPr lang="es-ES" b="0" u="none"/>
              <a:t>License Must Be Technology-Neutral</a:t>
            </a:r>
            <a:endParaRPr b="0" u="none"/>
          </a:p>
        </p:txBody>
      </p:sp>
      <p:sp>
        <p:nvSpPr>
          <p:cNvPr id="254" name="Google Shape;25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15</a:t>
            </a:fld>
            <a:endParaRPr/>
          </a:p>
        </p:txBody>
      </p:sp>
      <p:sp>
        <p:nvSpPr>
          <p:cNvPr id="255" name="Google Shape;255;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s-ES"/>
              <a:t>Curso Análisis datos NGS</a:t>
            </a:r>
            <a:endParaRPr/>
          </a:p>
        </p:txBody>
      </p:sp>
      <p:sp>
        <p:nvSpPr>
          <p:cNvPr id="256" name="Google Shape;25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s-ES"/>
              <a:t>09/06/2025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370c1eac3df_0_11"/>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 Linux Operating System (OS)</a:t>
            </a:r>
            <a:endParaRPr/>
          </a:p>
        </p:txBody>
      </p:sp>
      <p:sp>
        <p:nvSpPr>
          <p:cNvPr id="263" name="Google Shape;263;g370c1eac3df_0_11"/>
          <p:cNvSpPr txBox="1">
            <a:spLocks noGrp="1"/>
          </p:cNvSpPr>
          <p:nvPr>
            <p:ph type="body" idx="1"/>
          </p:nvPr>
        </p:nvSpPr>
        <p:spPr>
          <a:xfrm>
            <a:off x="755576"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200"/>
              <a:buNone/>
            </a:pPr>
            <a:r>
              <a:rPr lang="es-ES" sz="2200"/>
              <a:t>Features:</a:t>
            </a:r>
            <a:endParaRPr/>
          </a:p>
          <a:p>
            <a:pPr marL="342900" lvl="0" indent="-342900" algn="l" rtl="0">
              <a:lnSpc>
                <a:spcPct val="150000"/>
              </a:lnSpc>
              <a:spcBef>
                <a:spcPts val="400"/>
              </a:spcBef>
              <a:spcAft>
                <a:spcPts val="0"/>
              </a:spcAft>
              <a:buClr>
                <a:schemeClr val="dk1"/>
              </a:buClr>
              <a:buSzPts val="2000"/>
              <a:buAutoNum type="arabicPeriod"/>
            </a:pPr>
            <a:r>
              <a:rPr lang="es-ES" b="0" u="none"/>
              <a:t>Operating System</a:t>
            </a:r>
            <a:endParaRPr/>
          </a:p>
          <a:p>
            <a:pPr marL="342900" lvl="0" indent="-342900" algn="l" rtl="0">
              <a:lnSpc>
                <a:spcPct val="150000"/>
              </a:lnSpc>
              <a:spcBef>
                <a:spcPts val="400"/>
              </a:spcBef>
              <a:spcAft>
                <a:spcPts val="0"/>
              </a:spcAft>
              <a:buClr>
                <a:schemeClr val="dk1"/>
              </a:buClr>
              <a:buSzPts val="2000"/>
              <a:buAutoNum type="arabicPeriod"/>
            </a:pPr>
            <a:r>
              <a:rPr lang="es-ES" b="0" u="none"/>
              <a:t>Open source</a:t>
            </a:r>
            <a:endParaRPr b="0" u="none"/>
          </a:p>
          <a:p>
            <a:pPr marL="342900" lvl="0" indent="-330200" algn="l" rtl="0">
              <a:lnSpc>
                <a:spcPct val="150000"/>
              </a:lnSpc>
              <a:spcBef>
                <a:spcPts val="400"/>
              </a:spcBef>
              <a:spcAft>
                <a:spcPts val="0"/>
              </a:spcAft>
              <a:buSzPts val="1800"/>
              <a:buAutoNum type="arabicPeriod"/>
            </a:pPr>
            <a:r>
              <a:rPr lang="es-ES" b="0" u="none"/>
              <a:t>Linux distributions</a:t>
            </a:r>
            <a:endParaRPr b="0" u="none"/>
          </a:p>
          <a:p>
            <a:pPr marL="342900" lvl="0" indent="-342900" algn="l" rtl="0">
              <a:lnSpc>
                <a:spcPct val="150000"/>
              </a:lnSpc>
              <a:spcBef>
                <a:spcPts val="400"/>
              </a:spcBef>
              <a:spcAft>
                <a:spcPts val="0"/>
              </a:spcAft>
              <a:buClr>
                <a:schemeClr val="dk1"/>
              </a:buClr>
              <a:buSzPts val="2000"/>
              <a:buAutoNum type="arabicPeriod"/>
            </a:pPr>
            <a:r>
              <a:rPr lang="es-ES" b="0" u="none"/>
              <a:t>Multitasking</a:t>
            </a:r>
            <a:endParaRPr/>
          </a:p>
          <a:p>
            <a:pPr marL="342900" lvl="0" indent="-342900" algn="l" rtl="0">
              <a:lnSpc>
                <a:spcPct val="150000"/>
              </a:lnSpc>
              <a:spcBef>
                <a:spcPts val="400"/>
              </a:spcBef>
              <a:spcAft>
                <a:spcPts val="0"/>
              </a:spcAft>
              <a:buClr>
                <a:schemeClr val="dk1"/>
              </a:buClr>
              <a:buSzPts val="2000"/>
              <a:buAutoNum type="arabicPeriod"/>
            </a:pPr>
            <a:r>
              <a:rPr lang="es-ES" b="0" u="none"/>
              <a:t>Multi-user</a:t>
            </a:r>
            <a:endParaRPr/>
          </a:p>
        </p:txBody>
      </p:sp>
      <p:sp>
        <p:nvSpPr>
          <p:cNvPr id="264" name="Google Shape;264;g370c1eac3df_0_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16</a:t>
            </a:fld>
            <a:endParaRPr/>
          </a:p>
        </p:txBody>
      </p:sp>
      <p:pic>
        <p:nvPicPr>
          <p:cNvPr id="265" name="Google Shape;265;g370c1eac3df_0_11" descr="https://aety.io/wp-content/uploads/2016/11/linux-logo-2.png"/>
          <p:cNvPicPr preferRelativeResize="0"/>
          <p:nvPr/>
        </p:nvPicPr>
        <p:blipFill rotWithShape="1">
          <a:blip r:embed="rId3">
            <a:alphaModFix/>
          </a:blip>
          <a:srcRect l="26300" t="6805" r="26863" b="3996"/>
          <a:stretch/>
        </p:blipFill>
        <p:spPr>
          <a:xfrm>
            <a:off x="4355976" y="1700808"/>
            <a:ext cx="4104000" cy="4248000"/>
          </a:xfrm>
          <a:prstGeom prst="rect">
            <a:avLst/>
          </a:prstGeom>
          <a:noFill/>
          <a:ln>
            <a:noFill/>
          </a:ln>
        </p:spPr>
      </p:pic>
      <p:sp>
        <p:nvSpPr>
          <p:cNvPr id="266" name="Google Shape;266;g370c1eac3df_0_11"/>
          <p:cNvSpPr/>
          <p:nvPr/>
        </p:nvSpPr>
        <p:spPr>
          <a:xfrm>
            <a:off x="684025" y="3498376"/>
            <a:ext cx="3183900" cy="521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3"/>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3. Linux Distributions</a:t>
            </a:r>
            <a:endParaRPr/>
          </a:p>
        </p:txBody>
      </p:sp>
      <p:sp>
        <p:nvSpPr>
          <p:cNvPr id="273" name="Google Shape;273;p13"/>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0"/>
              </a:spcBef>
              <a:spcAft>
                <a:spcPts val="0"/>
              </a:spcAft>
              <a:buClr>
                <a:schemeClr val="dk1"/>
              </a:buClr>
              <a:buSzPct val="100000"/>
              <a:buNone/>
            </a:pPr>
            <a:r>
              <a:rPr lang="es-ES"/>
              <a:t>Linux Distributions</a:t>
            </a:r>
            <a:endParaRPr/>
          </a:p>
          <a:p>
            <a:pPr marL="0" lvl="0" indent="0" algn="l" rtl="0">
              <a:lnSpc>
                <a:spcPct val="100000"/>
              </a:lnSpc>
              <a:spcBef>
                <a:spcPts val="92"/>
              </a:spcBef>
              <a:spcAft>
                <a:spcPts val="0"/>
              </a:spcAft>
              <a:buClr>
                <a:schemeClr val="dk1"/>
              </a:buClr>
              <a:buSzPct val="100000"/>
              <a:buNone/>
            </a:pPr>
            <a:endParaRPr sz="500" b="0" u="none"/>
          </a:p>
          <a:p>
            <a:pPr marL="342900" lvl="0" indent="-342900" algn="just" rtl="0">
              <a:lnSpc>
                <a:spcPct val="100000"/>
              </a:lnSpc>
              <a:spcBef>
                <a:spcPts val="370"/>
              </a:spcBef>
              <a:spcAft>
                <a:spcPts val="0"/>
              </a:spcAft>
              <a:buClr>
                <a:schemeClr val="dk1"/>
              </a:buClr>
              <a:buSzPct val="100000"/>
              <a:buChar char="•"/>
            </a:pPr>
            <a:r>
              <a:rPr lang="es-ES" b="0" u="none"/>
              <a:t>A distro is a Linux kernel based operating system made from a software collection and sometimes a package management system. </a:t>
            </a:r>
            <a:endParaRPr/>
          </a:p>
          <a:p>
            <a:pPr marL="342900" lvl="0" indent="-342900" algn="just" rtl="0">
              <a:lnSpc>
                <a:spcPct val="100000"/>
              </a:lnSpc>
              <a:spcBef>
                <a:spcPts val="370"/>
              </a:spcBef>
              <a:spcAft>
                <a:spcPts val="0"/>
              </a:spcAft>
              <a:buClr>
                <a:schemeClr val="dk1"/>
              </a:buClr>
              <a:buSzPct val="100000"/>
              <a:buChar char="•"/>
            </a:pPr>
            <a:r>
              <a:rPr lang="es-ES" b="0" u="none"/>
              <a:t>There are distros for a wide variety of platforms.</a:t>
            </a:r>
            <a:endParaRPr/>
          </a:p>
          <a:p>
            <a:pPr marL="342900" lvl="0" indent="-342900" algn="just" rtl="0">
              <a:lnSpc>
                <a:spcPct val="100000"/>
              </a:lnSpc>
              <a:spcBef>
                <a:spcPts val="370"/>
              </a:spcBef>
              <a:spcAft>
                <a:spcPts val="0"/>
              </a:spcAft>
              <a:buClr>
                <a:schemeClr val="dk1"/>
              </a:buClr>
              <a:buSzPct val="100000"/>
              <a:buChar char="•"/>
            </a:pPr>
            <a:r>
              <a:rPr lang="es-ES" b="0" u="none"/>
              <a:t>A typical Linux distro comprises a Linux kernel, GNU tools and libraries, additional software, documentation, a window system, a window manager, and a desktop environment. </a:t>
            </a:r>
            <a:endParaRPr/>
          </a:p>
          <a:p>
            <a:pPr marL="342900" lvl="0" indent="-342900" algn="just" rtl="0">
              <a:lnSpc>
                <a:spcPct val="100000"/>
              </a:lnSpc>
              <a:spcBef>
                <a:spcPts val="370"/>
              </a:spcBef>
              <a:spcAft>
                <a:spcPts val="0"/>
              </a:spcAft>
              <a:buClr>
                <a:schemeClr val="dk1"/>
              </a:buClr>
              <a:buSzPct val="100000"/>
              <a:buChar char="•"/>
            </a:pPr>
            <a:r>
              <a:rPr lang="es-ES" b="0" u="none"/>
              <a:t>Most of the included software is free and open-source software made available both as compiled binaries and in source code form, allowing modifications to the original software. This means that you can see how the software works, and even modify it, which is especially useful in science, where reproducibility is key.</a:t>
            </a:r>
            <a:endParaRPr b="0" u="none"/>
          </a:p>
        </p:txBody>
      </p:sp>
      <p:sp>
        <p:nvSpPr>
          <p:cNvPr id="274" name="Google Shape;27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4"/>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3. Linux Distributions</a:t>
            </a:r>
            <a:endParaRPr/>
          </a:p>
        </p:txBody>
      </p:sp>
      <p:sp>
        <p:nvSpPr>
          <p:cNvPr id="281" name="Google Shape;281;p14"/>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s-ES"/>
              <a:t>“Distro” </a:t>
            </a:r>
            <a:r>
              <a:rPr lang="es-ES" b="0" u="none"/>
              <a:t>- Version Kernel + programs:</a:t>
            </a:r>
            <a:endParaRPr b="0" u="none"/>
          </a:p>
          <a:p>
            <a:pPr marL="0" lvl="0" indent="0" algn="l" rtl="0">
              <a:spcBef>
                <a:spcPts val="100"/>
              </a:spcBef>
              <a:spcAft>
                <a:spcPts val="0"/>
              </a:spcAft>
              <a:buNone/>
            </a:pPr>
            <a:endParaRPr b="0" u="none"/>
          </a:p>
          <a:p>
            <a:pPr marL="457200" lvl="0" indent="-342900" algn="l" rtl="0">
              <a:spcBef>
                <a:spcPts val="100"/>
              </a:spcBef>
              <a:spcAft>
                <a:spcPts val="0"/>
              </a:spcAft>
              <a:buSzPts val="1800"/>
              <a:buChar char="•"/>
            </a:pPr>
            <a:r>
              <a:rPr lang="es-ES" b="0" u="none"/>
              <a:t>Ubuntu: Beginner-friendly.</a:t>
            </a:r>
            <a:endParaRPr b="0" u="none"/>
          </a:p>
          <a:p>
            <a:pPr marL="457200" lvl="0" indent="-342900" algn="l" rtl="0">
              <a:spcBef>
                <a:spcPts val="0"/>
              </a:spcBef>
              <a:spcAft>
                <a:spcPts val="0"/>
              </a:spcAft>
              <a:buSzPts val="1800"/>
              <a:buChar char="•"/>
            </a:pPr>
            <a:r>
              <a:rPr lang="es-ES" b="0" u="none"/>
              <a:t>Debian: Known for its stability.</a:t>
            </a:r>
            <a:endParaRPr b="0" u="none"/>
          </a:p>
          <a:p>
            <a:pPr marL="457200" lvl="0" indent="-342900" algn="l" rtl="0">
              <a:spcBef>
                <a:spcPts val="0"/>
              </a:spcBef>
              <a:spcAft>
                <a:spcPts val="0"/>
              </a:spcAft>
              <a:buSzPts val="1800"/>
              <a:buChar char="•"/>
            </a:pPr>
            <a:r>
              <a:rPr lang="es-ES" b="0" u="none"/>
              <a:t>Fedora: Sponsored by Red Hat, cutting-edge technology.</a:t>
            </a:r>
            <a:endParaRPr b="0" u="none"/>
          </a:p>
          <a:p>
            <a:pPr marL="457200" lvl="0" indent="-342900" algn="l" rtl="0">
              <a:spcBef>
                <a:spcPts val="0"/>
              </a:spcBef>
              <a:spcAft>
                <a:spcPts val="0"/>
              </a:spcAft>
              <a:buSzPts val="1800"/>
              <a:buChar char="•"/>
            </a:pPr>
            <a:r>
              <a:rPr lang="es-ES" b="0" u="none"/>
              <a:t>Arch Linux: Designed for advanced users, full control over system configuration.</a:t>
            </a:r>
            <a:endParaRPr b="0" u="none"/>
          </a:p>
          <a:p>
            <a:pPr marL="457200" lvl="0" indent="-342900" algn="l" rtl="0">
              <a:spcBef>
                <a:spcPts val="0"/>
              </a:spcBef>
              <a:spcAft>
                <a:spcPts val="0"/>
              </a:spcAft>
              <a:buSzPts val="1800"/>
              <a:buChar char="•"/>
            </a:pPr>
            <a:r>
              <a:rPr lang="es-ES" u="none"/>
              <a:t>CentOS </a:t>
            </a:r>
            <a:r>
              <a:rPr lang="es-ES" b="0" u="none"/>
              <a:t>/ Rocky Linux / AlmaLinux: Oriented towards server environments.</a:t>
            </a:r>
            <a:endParaRPr/>
          </a:p>
        </p:txBody>
      </p:sp>
      <p:sp>
        <p:nvSpPr>
          <p:cNvPr id="282" name="Google Shape;28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g370c1eac3df_0_22"/>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3. Linux Distributions</a:t>
            </a:r>
            <a:endParaRPr/>
          </a:p>
        </p:txBody>
      </p:sp>
      <p:sp>
        <p:nvSpPr>
          <p:cNvPr id="289" name="Google Shape;289;g370c1eac3df_0_22"/>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a:t>“Distro” </a:t>
            </a:r>
            <a:r>
              <a:rPr lang="es-ES" b="0" u="none"/>
              <a:t>- Version Kernel + programs:</a:t>
            </a:r>
            <a:endParaRPr b="0" u="none"/>
          </a:p>
          <a:p>
            <a:pPr marL="0" lvl="0" indent="0" algn="l" rtl="0">
              <a:lnSpc>
                <a:spcPct val="100000"/>
              </a:lnSpc>
              <a:spcBef>
                <a:spcPts val="100"/>
              </a:spcBef>
              <a:spcAft>
                <a:spcPts val="0"/>
              </a:spcAft>
              <a:buClr>
                <a:schemeClr val="dk1"/>
              </a:buClr>
              <a:buSzPts val="500"/>
              <a:buNone/>
            </a:pPr>
            <a:endParaRPr b="0" u="none"/>
          </a:p>
          <a:p>
            <a:pPr marL="457200" lvl="0" indent="-342900" algn="l" rtl="0">
              <a:lnSpc>
                <a:spcPct val="100000"/>
              </a:lnSpc>
              <a:spcBef>
                <a:spcPts val="100"/>
              </a:spcBef>
              <a:spcAft>
                <a:spcPts val="0"/>
              </a:spcAft>
              <a:buSzPts val="1800"/>
              <a:buChar char="•"/>
            </a:pPr>
            <a:r>
              <a:rPr lang="es-ES" b="0" u="none"/>
              <a:t>Ubuntu: Beginner-friendly.</a:t>
            </a:r>
            <a:endParaRPr b="0" u="none"/>
          </a:p>
          <a:p>
            <a:pPr marL="457200" lvl="0" indent="-342900" algn="l" rtl="0">
              <a:lnSpc>
                <a:spcPct val="100000"/>
              </a:lnSpc>
              <a:spcBef>
                <a:spcPts val="0"/>
              </a:spcBef>
              <a:spcAft>
                <a:spcPts val="0"/>
              </a:spcAft>
              <a:buSzPts val="1800"/>
              <a:buChar char="•"/>
            </a:pPr>
            <a:r>
              <a:rPr lang="es-ES" b="0" u="none"/>
              <a:t>Debian: Known for its stability.</a:t>
            </a:r>
            <a:endParaRPr b="0" u="none"/>
          </a:p>
          <a:p>
            <a:pPr marL="457200" lvl="0" indent="-342900" algn="l" rtl="0">
              <a:lnSpc>
                <a:spcPct val="100000"/>
              </a:lnSpc>
              <a:spcBef>
                <a:spcPts val="0"/>
              </a:spcBef>
              <a:spcAft>
                <a:spcPts val="0"/>
              </a:spcAft>
              <a:buSzPts val="1800"/>
              <a:buChar char="•"/>
            </a:pPr>
            <a:r>
              <a:rPr lang="es-ES" b="0" u="none"/>
              <a:t>Fedora: Sponsored by Red Hat, cutting-edge technology.</a:t>
            </a:r>
            <a:endParaRPr b="0" u="none"/>
          </a:p>
          <a:p>
            <a:pPr marL="457200" lvl="0" indent="-342900" algn="l" rtl="0">
              <a:lnSpc>
                <a:spcPct val="100000"/>
              </a:lnSpc>
              <a:spcBef>
                <a:spcPts val="0"/>
              </a:spcBef>
              <a:spcAft>
                <a:spcPts val="0"/>
              </a:spcAft>
              <a:buSzPts val="1800"/>
              <a:buChar char="•"/>
            </a:pPr>
            <a:r>
              <a:rPr lang="es-ES" b="0" u="none"/>
              <a:t>Arch Linux: Designed for advanced users, full control over system configuration.</a:t>
            </a:r>
            <a:endParaRPr b="0" u="none"/>
          </a:p>
          <a:p>
            <a:pPr marL="457200" lvl="0" indent="-342900" algn="l" rtl="0">
              <a:lnSpc>
                <a:spcPct val="100000"/>
              </a:lnSpc>
              <a:spcBef>
                <a:spcPts val="0"/>
              </a:spcBef>
              <a:spcAft>
                <a:spcPts val="0"/>
              </a:spcAft>
              <a:buSzPts val="1800"/>
              <a:buChar char="•"/>
            </a:pPr>
            <a:r>
              <a:rPr lang="es-ES" u="none"/>
              <a:t>CentOS </a:t>
            </a:r>
            <a:r>
              <a:rPr lang="es-ES" b="0" u="none"/>
              <a:t>/ Rocky Linux / AlmaLinux: Oriented towards server environments.</a:t>
            </a:r>
            <a:endParaRPr b="0" u="none"/>
          </a:p>
        </p:txBody>
      </p:sp>
      <p:sp>
        <p:nvSpPr>
          <p:cNvPr id="290" name="Google Shape;290;g370c1eac3df_0_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19</a:t>
            </a:fld>
            <a:endParaRPr/>
          </a:p>
        </p:txBody>
      </p:sp>
      <p:pic>
        <p:nvPicPr>
          <p:cNvPr id="291" name="Google Shape;291;g370c1eac3df_0_22"/>
          <p:cNvPicPr preferRelativeResize="0"/>
          <p:nvPr/>
        </p:nvPicPr>
        <p:blipFill rotWithShape="1">
          <a:blip r:embed="rId3">
            <a:alphaModFix/>
          </a:blip>
          <a:srcRect/>
          <a:stretch/>
        </p:blipFill>
        <p:spPr>
          <a:xfrm>
            <a:off x="639050" y="5002988"/>
            <a:ext cx="3028950" cy="1514475"/>
          </a:xfrm>
          <a:prstGeom prst="rect">
            <a:avLst/>
          </a:prstGeom>
          <a:noFill/>
          <a:ln>
            <a:noFill/>
          </a:ln>
        </p:spPr>
      </p:pic>
      <p:sp>
        <p:nvSpPr>
          <p:cNvPr id="292" name="Google Shape;292;g370c1eac3df_0_22"/>
          <p:cNvSpPr txBox="1">
            <a:spLocks noGrp="1"/>
          </p:cNvSpPr>
          <p:nvPr>
            <p:ph type="body" idx="1"/>
          </p:nvPr>
        </p:nvSpPr>
        <p:spPr>
          <a:xfrm>
            <a:off x="3898625" y="5426481"/>
            <a:ext cx="4165200" cy="667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
              </a:spcBef>
              <a:spcAft>
                <a:spcPts val="0"/>
              </a:spcAft>
              <a:buSzPts val="1800"/>
              <a:buNone/>
            </a:pPr>
            <a:r>
              <a:rPr lang="es-ES" sz="2400" u="none"/>
              <a:t>CentOS Stream release 8</a:t>
            </a:r>
            <a:endParaRPr sz="2400" u="non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370c1eac3df_0_29"/>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 Linux Operating System (OS)</a:t>
            </a:r>
            <a:endParaRPr/>
          </a:p>
        </p:txBody>
      </p:sp>
      <p:sp>
        <p:nvSpPr>
          <p:cNvPr id="299" name="Google Shape;299;g370c1eac3df_0_29"/>
          <p:cNvSpPr txBox="1">
            <a:spLocks noGrp="1"/>
          </p:cNvSpPr>
          <p:nvPr>
            <p:ph type="body" idx="1"/>
          </p:nvPr>
        </p:nvSpPr>
        <p:spPr>
          <a:xfrm>
            <a:off x="755576"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200"/>
              <a:buNone/>
            </a:pPr>
            <a:r>
              <a:rPr lang="es-ES" sz="2200"/>
              <a:t>Features:</a:t>
            </a:r>
            <a:endParaRPr/>
          </a:p>
          <a:p>
            <a:pPr marL="342900" lvl="0" indent="-342900" algn="l" rtl="0">
              <a:lnSpc>
                <a:spcPct val="150000"/>
              </a:lnSpc>
              <a:spcBef>
                <a:spcPts val="400"/>
              </a:spcBef>
              <a:spcAft>
                <a:spcPts val="0"/>
              </a:spcAft>
              <a:buClr>
                <a:schemeClr val="dk1"/>
              </a:buClr>
              <a:buSzPts val="2000"/>
              <a:buAutoNum type="arabicPeriod"/>
            </a:pPr>
            <a:r>
              <a:rPr lang="es-ES" b="0" u="none"/>
              <a:t>Operating System</a:t>
            </a:r>
            <a:endParaRPr/>
          </a:p>
          <a:p>
            <a:pPr marL="342900" lvl="0" indent="-342900" algn="l" rtl="0">
              <a:lnSpc>
                <a:spcPct val="150000"/>
              </a:lnSpc>
              <a:spcBef>
                <a:spcPts val="400"/>
              </a:spcBef>
              <a:spcAft>
                <a:spcPts val="0"/>
              </a:spcAft>
              <a:buClr>
                <a:schemeClr val="dk1"/>
              </a:buClr>
              <a:buSzPts val="2000"/>
              <a:buAutoNum type="arabicPeriod"/>
            </a:pPr>
            <a:r>
              <a:rPr lang="es-ES" b="0" u="none"/>
              <a:t>Open source</a:t>
            </a:r>
            <a:endParaRPr b="0" u="none"/>
          </a:p>
          <a:p>
            <a:pPr marL="342900" lvl="0" indent="-330200" algn="l" rtl="0">
              <a:lnSpc>
                <a:spcPct val="150000"/>
              </a:lnSpc>
              <a:spcBef>
                <a:spcPts val="400"/>
              </a:spcBef>
              <a:spcAft>
                <a:spcPts val="0"/>
              </a:spcAft>
              <a:buSzPts val="1800"/>
              <a:buAutoNum type="arabicPeriod"/>
            </a:pPr>
            <a:r>
              <a:rPr lang="es-ES" b="0" u="none"/>
              <a:t>Linux distributions</a:t>
            </a:r>
            <a:endParaRPr b="0" u="none"/>
          </a:p>
          <a:p>
            <a:pPr marL="342900" lvl="0" indent="-342900" algn="l" rtl="0">
              <a:lnSpc>
                <a:spcPct val="150000"/>
              </a:lnSpc>
              <a:spcBef>
                <a:spcPts val="400"/>
              </a:spcBef>
              <a:spcAft>
                <a:spcPts val="0"/>
              </a:spcAft>
              <a:buClr>
                <a:schemeClr val="dk1"/>
              </a:buClr>
              <a:buSzPts val="2000"/>
              <a:buAutoNum type="arabicPeriod"/>
            </a:pPr>
            <a:r>
              <a:rPr lang="es-ES" b="0" u="none"/>
              <a:t>Multitasking</a:t>
            </a:r>
            <a:endParaRPr/>
          </a:p>
          <a:p>
            <a:pPr marL="342900" lvl="0" indent="-342900" algn="l" rtl="0">
              <a:lnSpc>
                <a:spcPct val="150000"/>
              </a:lnSpc>
              <a:spcBef>
                <a:spcPts val="400"/>
              </a:spcBef>
              <a:spcAft>
                <a:spcPts val="0"/>
              </a:spcAft>
              <a:buClr>
                <a:schemeClr val="dk1"/>
              </a:buClr>
              <a:buSzPts val="2000"/>
              <a:buAutoNum type="arabicPeriod"/>
            </a:pPr>
            <a:r>
              <a:rPr lang="es-ES" b="0" u="none"/>
              <a:t>Multi-user</a:t>
            </a:r>
            <a:endParaRPr/>
          </a:p>
        </p:txBody>
      </p:sp>
      <p:sp>
        <p:nvSpPr>
          <p:cNvPr id="300" name="Google Shape;300;g370c1eac3df_0_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20</a:t>
            </a:fld>
            <a:endParaRPr/>
          </a:p>
        </p:txBody>
      </p:sp>
      <p:pic>
        <p:nvPicPr>
          <p:cNvPr id="301" name="Google Shape;301;g370c1eac3df_0_29" descr="https://aety.io/wp-content/uploads/2016/11/linux-logo-2.png"/>
          <p:cNvPicPr preferRelativeResize="0"/>
          <p:nvPr/>
        </p:nvPicPr>
        <p:blipFill rotWithShape="1">
          <a:blip r:embed="rId3">
            <a:alphaModFix/>
          </a:blip>
          <a:srcRect l="26300" t="6805" r="26863" b="3996"/>
          <a:stretch/>
        </p:blipFill>
        <p:spPr>
          <a:xfrm>
            <a:off x="4355976" y="1700808"/>
            <a:ext cx="4104000" cy="4248000"/>
          </a:xfrm>
          <a:prstGeom prst="rect">
            <a:avLst/>
          </a:prstGeom>
          <a:noFill/>
          <a:ln>
            <a:noFill/>
          </a:ln>
        </p:spPr>
      </p:pic>
      <p:sp>
        <p:nvSpPr>
          <p:cNvPr id="302" name="Google Shape;302;g370c1eac3df_0_29"/>
          <p:cNvSpPr/>
          <p:nvPr/>
        </p:nvSpPr>
        <p:spPr>
          <a:xfrm>
            <a:off x="684025" y="3995345"/>
            <a:ext cx="3183900" cy="521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6"/>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 Multi-task</a:t>
            </a:r>
            <a:endParaRPr/>
          </a:p>
        </p:txBody>
      </p:sp>
      <p:sp>
        <p:nvSpPr>
          <p:cNvPr id="309" name="Google Shape;309;p16"/>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endParaRPr/>
          </a:p>
          <a:p>
            <a:pPr marL="0" lvl="0" indent="0" algn="l" rtl="0">
              <a:lnSpc>
                <a:spcPct val="100000"/>
              </a:lnSpc>
              <a:spcBef>
                <a:spcPts val="400"/>
              </a:spcBef>
              <a:spcAft>
                <a:spcPts val="0"/>
              </a:spcAft>
              <a:buClr>
                <a:schemeClr val="dk1"/>
              </a:buClr>
              <a:buSzPts val="2000"/>
              <a:buNone/>
            </a:pPr>
            <a:endParaRPr b="0" u="none"/>
          </a:p>
        </p:txBody>
      </p:sp>
      <p:sp>
        <p:nvSpPr>
          <p:cNvPr id="310" name="Google Shape;31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21</a:t>
            </a:fld>
            <a:endParaRPr/>
          </a:p>
        </p:txBody>
      </p:sp>
      <p:pic>
        <p:nvPicPr>
          <p:cNvPr id="311" name="Google Shape;311;p16" descr="Resultado de imagen de multi task operating system"/>
          <p:cNvPicPr preferRelativeResize="0"/>
          <p:nvPr/>
        </p:nvPicPr>
        <p:blipFill rotWithShape="1">
          <a:blip r:embed="rId3">
            <a:alphaModFix/>
          </a:blip>
          <a:srcRect/>
          <a:stretch/>
        </p:blipFill>
        <p:spPr>
          <a:xfrm>
            <a:off x="4067944" y="1916832"/>
            <a:ext cx="4476750" cy="3990976"/>
          </a:xfrm>
          <a:prstGeom prst="rect">
            <a:avLst/>
          </a:prstGeom>
          <a:noFill/>
          <a:ln>
            <a:noFill/>
          </a:ln>
        </p:spPr>
      </p:pic>
      <p:sp>
        <p:nvSpPr>
          <p:cNvPr id="312" name="Google Shape;312;p16"/>
          <p:cNvSpPr txBox="1"/>
          <p:nvPr/>
        </p:nvSpPr>
        <p:spPr>
          <a:xfrm>
            <a:off x="755576" y="1916650"/>
            <a:ext cx="3096344" cy="42473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onsolas"/>
                <a:ea typeface="Consolas"/>
                <a:cs typeface="Consolas"/>
                <a:sym typeface="Consolas"/>
              </a:rPr>
              <a:t>A multitasking operating systems allows a user to perform more than one computer task (such as the operation of an application program) at a time.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onsolas"/>
                <a:ea typeface="Consolas"/>
                <a:cs typeface="Consolas"/>
                <a:sym typeface="Consolas"/>
              </a:rPr>
              <a:t>The operating system is able to keep track of where you are in these tasks and go from one to the other without losing information.</a:t>
            </a:r>
            <a:endParaRPr sz="1800" b="0" i="0" u="none" strike="noStrike" cap="none">
              <a:solidFill>
                <a:schemeClr val="dk1"/>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g370c1eac3df_0_39"/>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 Linux Operating System (OS)</a:t>
            </a:r>
            <a:endParaRPr/>
          </a:p>
        </p:txBody>
      </p:sp>
      <p:sp>
        <p:nvSpPr>
          <p:cNvPr id="319" name="Google Shape;319;g370c1eac3df_0_39"/>
          <p:cNvSpPr txBox="1">
            <a:spLocks noGrp="1"/>
          </p:cNvSpPr>
          <p:nvPr>
            <p:ph type="body" idx="1"/>
          </p:nvPr>
        </p:nvSpPr>
        <p:spPr>
          <a:xfrm>
            <a:off x="755576"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Clr>
                <a:schemeClr val="dk1"/>
              </a:buClr>
              <a:buSzPts val="2200"/>
              <a:buNone/>
            </a:pPr>
            <a:r>
              <a:rPr lang="es-ES" sz="2200"/>
              <a:t>Features:</a:t>
            </a:r>
            <a:endParaRPr/>
          </a:p>
          <a:p>
            <a:pPr marL="342900" lvl="0" indent="-342900" algn="l" rtl="0">
              <a:lnSpc>
                <a:spcPct val="150000"/>
              </a:lnSpc>
              <a:spcBef>
                <a:spcPts val="400"/>
              </a:spcBef>
              <a:spcAft>
                <a:spcPts val="0"/>
              </a:spcAft>
              <a:buClr>
                <a:schemeClr val="dk1"/>
              </a:buClr>
              <a:buSzPts val="2000"/>
              <a:buAutoNum type="arabicPeriod"/>
            </a:pPr>
            <a:r>
              <a:rPr lang="es-ES" b="0" u="none"/>
              <a:t>Operating System</a:t>
            </a:r>
            <a:endParaRPr/>
          </a:p>
          <a:p>
            <a:pPr marL="342900" lvl="0" indent="-342900" algn="l" rtl="0">
              <a:lnSpc>
                <a:spcPct val="150000"/>
              </a:lnSpc>
              <a:spcBef>
                <a:spcPts val="400"/>
              </a:spcBef>
              <a:spcAft>
                <a:spcPts val="0"/>
              </a:spcAft>
              <a:buClr>
                <a:schemeClr val="dk1"/>
              </a:buClr>
              <a:buSzPts val="2000"/>
              <a:buAutoNum type="arabicPeriod"/>
            </a:pPr>
            <a:r>
              <a:rPr lang="es-ES" b="0" u="none"/>
              <a:t>Open source</a:t>
            </a:r>
            <a:endParaRPr b="0" u="none"/>
          </a:p>
          <a:p>
            <a:pPr marL="342900" lvl="0" indent="-330200" algn="l" rtl="0">
              <a:lnSpc>
                <a:spcPct val="150000"/>
              </a:lnSpc>
              <a:spcBef>
                <a:spcPts val="400"/>
              </a:spcBef>
              <a:spcAft>
                <a:spcPts val="0"/>
              </a:spcAft>
              <a:buSzPts val="1800"/>
              <a:buAutoNum type="arabicPeriod"/>
            </a:pPr>
            <a:r>
              <a:rPr lang="es-ES" b="0" u="none"/>
              <a:t>Linux distributions</a:t>
            </a:r>
            <a:endParaRPr b="0" u="none"/>
          </a:p>
          <a:p>
            <a:pPr marL="342900" lvl="0" indent="-342900" algn="l" rtl="0">
              <a:lnSpc>
                <a:spcPct val="150000"/>
              </a:lnSpc>
              <a:spcBef>
                <a:spcPts val="400"/>
              </a:spcBef>
              <a:spcAft>
                <a:spcPts val="0"/>
              </a:spcAft>
              <a:buClr>
                <a:schemeClr val="dk1"/>
              </a:buClr>
              <a:buSzPts val="2000"/>
              <a:buAutoNum type="arabicPeriod"/>
            </a:pPr>
            <a:r>
              <a:rPr lang="es-ES" b="0" u="none"/>
              <a:t>Multitasking</a:t>
            </a:r>
            <a:endParaRPr/>
          </a:p>
          <a:p>
            <a:pPr marL="342900" lvl="0" indent="-342900" algn="l" rtl="0">
              <a:lnSpc>
                <a:spcPct val="150000"/>
              </a:lnSpc>
              <a:spcBef>
                <a:spcPts val="400"/>
              </a:spcBef>
              <a:spcAft>
                <a:spcPts val="0"/>
              </a:spcAft>
              <a:buClr>
                <a:schemeClr val="dk1"/>
              </a:buClr>
              <a:buSzPts val="2000"/>
              <a:buAutoNum type="arabicPeriod"/>
            </a:pPr>
            <a:r>
              <a:rPr lang="es-ES" b="0" u="none"/>
              <a:t>Multi-user</a:t>
            </a:r>
            <a:endParaRPr/>
          </a:p>
        </p:txBody>
      </p:sp>
      <p:sp>
        <p:nvSpPr>
          <p:cNvPr id="320" name="Google Shape;320;g370c1eac3df_0_3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22</a:t>
            </a:fld>
            <a:endParaRPr/>
          </a:p>
        </p:txBody>
      </p:sp>
      <p:pic>
        <p:nvPicPr>
          <p:cNvPr id="321" name="Google Shape;321;g370c1eac3df_0_39" descr="https://aety.io/wp-content/uploads/2016/11/linux-logo-2.png"/>
          <p:cNvPicPr preferRelativeResize="0"/>
          <p:nvPr/>
        </p:nvPicPr>
        <p:blipFill rotWithShape="1">
          <a:blip r:embed="rId3">
            <a:alphaModFix/>
          </a:blip>
          <a:srcRect l="26300" t="6805" r="26863" b="3996"/>
          <a:stretch/>
        </p:blipFill>
        <p:spPr>
          <a:xfrm>
            <a:off x="4355976" y="1700808"/>
            <a:ext cx="4104000" cy="4248000"/>
          </a:xfrm>
          <a:prstGeom prst="rect">
            <a:avLst/>
          </a:prstGeom>
          <a:noFill/>
          <a:ln>
            <a:noFill/>
          </a:ln>
        </p:spPr>
      </p:pic>
      <p:sp>
        <p:nvSpPr>
          <p:cNvPr id="322" name="Google Shape;322;g370c1eac3df_0_39"/>
          <p:cNvSpPr/>
          <p:nvPr/>
        </p:nvSpPr>
        <p:spPr>
          <a:xfrm>
            <a:off x="684025" y="4519638"/>
            <a:ext cx="3183900" cy="521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8"/>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 Multi-user</a:t>
            </a:r>
            <a:endParaRPr/>
          </a:p>
        </p:txBody>
      </p:sp>
      <p:sp>
        <p:nvSpPr>
          <p:cNvPr id="329" name="Google Shape;329;p18"/>
          <p:cNvSpPr txBox="1">
            <a:spLocks noGrp="1"/>
          </p:cNvSpPr>
          <p:nvPr>
            <p:ph type="body" idx="1"/>
          </p:nvPr>
        </p:nvSpPr>
        <p:spPr>
          <a:xfrm>
            <a:off x="395536" y="2060848"/>
            <a:ext cx="3394719" cy="4209331"/>
          </a:xfrm>
          <a:prstGeom prst="rect">
            <a:avLst/>
          </a:prstGeom>
          <a:noFill/>
          <a:ln>
            <a:noFill/>
          </a:ln>
        </p:spPr>
        <p:txBody>
          <a:bodyPr spcFirstLastPara="1" wrap="square" lIns="91425" tIns="45700" rIns="91425" bIns="45700" anchor="t" anchorCtr="0">
            <a:normAutofit lnSpcReduction="20000"/>
          </a:bodyPr>
          <a:lstStyle/>
          <a:p>
            <a:pPr marL="342900" lvl="0" indent="-342900" algn="l" rtl="0">
              <a:lnSpc>
                <a:spcPct val="100000"/>
              </a:lnSpc>
              <a:spcBef>
                <a:spcPts val="0"/>
              </a:spcBef>
              <a:spcAft>
                <a:spcPts val="0"/>
              </a:spcAft>
              <a:buClr>
                <a:schemeClr val="dk1"/>
              </a:buClr>
              <a:buSzPts val="2000"/>
              <a:buChar char="•"/>
            </a:pPr>
            <a:r>
              <a:rPr lang="es-ES" b="0" u="none"/>
              <a:t>A multi-user operating system is software that allows access by multiple users of a computer.</a:t>
            </a:r>
            <a:endParaRPr/>
          </a:p>
          <a:p>
            <a:pPr marL="342900" lvl="0" indent="-225425" algn="l" rtl="0">
              <a:lnSpc>
                <a:spcPct val="100000"/>
              </a:lnSpc>
              <a:spcBef>
                <a:spcPts val="370"/>
              </a:spcBef>
              <a:spcAft>
                <a:spcPts val="0"/>
              </a:spcAft>
              <a:buClr>
                <a:schemeClr val="dk1"/>
              </a:buClr>
              <a:buSzPts val="2000"/>
              <a:buNone/>
            </a:pPr>
            <a:endParaRPr b="0" u="none"/>
          </a:p>
          <a:p>
            <a:pPr marL="342900" lvl="0" indent="-342900" algn="l" rtl="0">
              <a:lnSpc>
                <a:spcPct val="100000"/>
              </a:lnSpc>
              <a:spcBef>
                <a:spcPts val="370"/>
              </a:spcBef>
              <a:spcAft>
                <a:spcPts val="0"/>
              </a:spcAft>
              <a:buClr>
                <a:schemeClr val="dk1"/>
              </a:buClr>
              <a:buSzPts val="2000"/>
              <a:buChar char="•"/>
            </a:pPr>
            <a:r>
              <a:rPr lang="es-ES" b="0" u="none"/>
              <a:t>An example is a server where multiple remote users have access (such as via a serial port or Secure Shell) to the Unix shell prompt at the same time.</a:t>
            </a:r>
            <a:endParaRPr b="0" u="none"/>
          </a:p>
        </p:txBody>
      </p:sp>
      <p:sp>
        <p:nvSpPr>
          <p:cNvPr id="330" name="Google Shape;33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23</a:t>
            </a:fld>
            <a:endParaRPr/>
          </a:p>
        </p:txBody>
      </p:sp>
      <p:pic>
        <p:nvPicPr>
          <p:cNvPr id="331" name="Google Shape;331;p18" descr="Resultado de imagen de multi user operating system"/>
          <p:cNvPicPr preferRelativeResize="0"/>
          <p:nvPr/>
        </p:nvPicPr>
        <p:blipFill rotWithShape="1">
          <a:blip r:embed="rId3">
            <a:alphaModFix/>
          </a:blip>
          <a:srcRect/>
          <a:stretch/>
        </p:blipFill>
        <p:spPr>
          <a:xfrm>
            <a:off x="3995935" y="2636912"/>
            <a:ext cx="4756203" cy="28083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370c1eac3df_0_48"/>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Overview</a:t>
            </a:r>
            <a:endParaRPr/>
          </a:p>
        </p:txBody>
      </p:sp>
      <p:sp>
        <p:nvSpPr>
          <p:cNvPr id="338" name="Google Shape;338;g370c1eac3df_0_48"/>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400"/>
              </a:spcBef>
              <a:spcAft>
                <a:spcPts val="0"/>
              </a:spcAft>
              <a:buSzPts val="1800"/>
              <a:buAutoNum type="arabicPeriod"/>
            </a:pPr>
            <a:r>
              <a:rPr lang="es-ES" b="0" u="none"/>
              <a:t>Linux OS</a:t>
            </a:r>
            <a:endParaRPr/>
          </a:p>
          <a:p>
            <a:pPr marL="457200" lvl="0" indent="-342900" algn="l" rtl="0">
              <a:lnSpc>
                <a:spcPct val="150000"/>
              </a:lnSpc>
              <a:spcBef>
                <a:spcPts val="0"/>
              </a:spcBef>
              <a:spcAft>
                <a:spcPts val="0"/>
              </a:spcAft>
              <a:buSzPts val="1800"/>
              <a:buAutoNum type="arabicPeriod"/>
            </a:pPr>
            <a:r>
              <a:rPr lang="es-ES" b="0" u="none"/>
              <a:t>Linux file system</a:t>
            </a:r>
            <a:endParaRPr b="0" u="none"/>
          </a:p>
          <a:p>
            <a:pPr marL="457200" lvl="0" indent="-342900" algn="l" rtl="0">
              <a:lnSpc>
                <a:spcPct val="150000"/>
              </a:lnSpc>
              <a:spcBef>
                <a:spcPts val="0"/>
              </a:spcBef>
              <a:spcAft>
                <a:spcPts val="0"/>
              </a:spcAft>
              <a:buSzPts val="1800"/>
              <a:buAutoNum type="arabicPeriod"/>
            </a:pPr>
            <a:r>
              <a:rPr lang="es-ES" b="0" u="none"/>
              <a:t>Basic commands</a:t>
            </a:r>
            <a:endParaRPr/>
          </a:p>
          <a:p>
            <a:pPr marL="457200" lvl="0" indent="-342900" algn="l" rtl="0">
              <a:lnSpc>
                <a:spcPct val="150000"/>
              </a:lnSpc>
              <a:spcBef>
                <a:spcPts val="0"/>
              </a:spcBef>
              <a:spcAft>
                <a:spcPts val="0"/>
              </a:spcAft>
              <a:buSzPts val="1800"/>
              <a:buAutoNum type="arabicPeriod"/>
            </a:pPr>
            <a:r>
              <a:rPr lang="es-ES" b="0" u="none"/>
              <a:t>Command line syntax</a:t>
            </a:r>
            <a:endParaRPr b="0" u="none"/>
          </a:p>
          <a:p>
            <a:pPr marL="457200" lvl="0" indent="-342900" algn="l" rtl="0">
              <a:lnSpc>
                <a:spcPct val="150000"/>
              </a:lnSpc>
              <a:spcBef>
                <a:spcPts val="0"/>
              </a:spcBef>
              <a:spcAft>
                <a:spcPts val="0"/>
              </a:spcAft>
              <a:buSzPts val="1800"/>
              <a:buAutoNum type="arabicPeriod"/>
            </a:pPr>
            <a:r>
              <a:rPr lang="es-ES" b="0" u="none"/>
              <a:t>Linux users and privileges</a:t>
            </a:r>
            <a:endParaRPr/>
          </a:p>
          <a:p>
            <a:pPr marL="0" lvl="0" indent="0" algn="l" rtl="0">
              <a:lnSpc>
                <a:spcPct val="150000"/>
              </a:lnSpc>
              <a:spcBef>
                <a:spcPts val="400"/>
              </a:spcBef>
              <a:spcAft>
                <a:spcPts val="0"/>
              </a:spcAft>
              <a:buSzPts val="1800"/>
              <a:buNone/>
            </a:pPr>
            <a:endParaRPr b="0" u="none"/>
          </a:p>
        </p:txBody>
      </p:sp>
      <p:sp>
        <p:nvSpPr>
          <p:cNvPr id="339" name="Google Shape;339;g370c1eac3df_0_4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24</a:t>
            </a:fld>
            <a:endParaRPr/>
          </a:p>
        </p:txBody>
      </p:sp>
      <p:sp>
        <p:nvSpPr>
          <p:cNvPr id="340" name="Google Shape;340;g370c1eac3df_0_48"/>
          <p:cNvSpPr/>
          <p:nvPr/>
        </p:nvSpPr>
        <p:spPr>
          <a:xfrm>
            <a:off x="457200" y="2424009"/>
            <a:ext cx="3097800" cy="506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3"/>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1.1. Operating System</a:t>
            </a:r>
            <a:endParaRPr/>
          </a:p>
        </p:txBody>
      </p:sp>
      <p:sp>
        <p:nvSpPr>
          <p:cNvPr id="347" name="Google Shape;347;p23"/>
          <p:cNvSpPr txBox="1">
            <a:spLocks noGrp="1"/>
          </p:cNvSpPr>
          <p:nvPr>
            <p:ph type="body" idx="1"/>
          </p:nvPr>
        </p:nvSpPr>
        <p:spPr>
          <a:xfrm>
            <a:off x="601216" y="1916832"/>
            <a:ext cx="5050800" cy="420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a:t>Basic structure of an OS:</a:t>
            </a:r>
            <a:endParaRPr/>
          </a:p>
          <a:p>
            <a:pPr marL="0" lvl="0" indent="0" algn="l" rtl="0">
              <a:lnSpc>
                <a:spcPct val="100000"/>
              </a:lnSpc>
              <a:spcBef>
                <a:spcPts val="400"/>
              </a:spcBef>
              <a:spcAft>
                <a:spcPts val="0"/>
              </a:spcAft>
              <a:buClr>
                <a:schemeClr val="dk1"/>
              </a:buClr>
              <a:buSzPts val="2000"/>
              <a:buNone/>
            </a:pPr>
            <a:endParaRPr b="0" u="none"/>
          </a:p>
        </p:txBody>
      </p:sp>
      <p:sp>
        <p:nvSpPr>
          <p:cNvPr id="348" name="Google Shape;348;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25</a:t>
            </a:fld>
            <a:endParaRPr/>
          </a:p>
        </p:txBody>
      </p:sp>
      <p:pic>
        <p:nvPicPr>
          <p:cNvPr id="349" name="Google Shape;349;p23" descr="Resultado de imagen de operative system"/>
          <p:cNvPicPr preferRelativeResize="0"/>
          <p:nvPr/>
        </p:nvPicPr>
        <p:blipFill rotWithShape="1">
          <a:blip r:embed="rId3">
            <a:alphaModFix/>
          </a:blip>
          <a:srcRect/>
          <a:stretch/>
        </p:blipFill>
        <p:spPr>
          <a:xfrm>
            <a:off x="5652120" y="1916832"/>
            <a:ext cx="2773282" cy="4104456"/>
          </a:xfrm>
          <a:prstGeom prst="rect">
            <a:avLst/>
          </a:prstGeom>
          <a:noFill/>
          <a:ln>
            <a:noFill/>
          </a:ln>
        </p:spPr>
      </p:pic>
      <p:sp>
        <p:nvSpPr>
          <p:cNvPr id="350" name="Google Shape;350;p23"/>
          <p:cNvSpPr/>
          <p:nvPr/>
        </p:nvSpPr>
        <p:spPr>
          <a:xfrm>
            <a:off x="766614" y="3645024"/>
            <a:ext cx="3960440" cy="792088"/>
          </a:xfrm>
          <a:prstGeom prst="roundRect">
            <a:avLst>
              <a:gd name="adj" fmla="val 16667"/>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Shell</a:t>
            </a:r>
            <a:endParaRPr sz="1400" b="0" i="0" u="none" strike="noStrike" cap="none">
              <a:solidFill>
                <a:srgbClr val="000000"/>
              </a:solidFill>
              <a:latin typeface="Arial"/>
              <a:ea typeface="Arial"/>
              <a:cs typeface="Arial"/>
              <a:sym typeface="Arial"/>
            </a:endParaRPr>
          </a:p>
        </p:txBody>
      </p:sp>
      <p:sp>
        <p:nvSpPr>
          <p:cNvPr id="351" name="Google Shape;351;p23"/>
          <p:cNvSpPr/>
          <p:nvPr/>
        </p:nvSpPr>
        <p:spPr>
          <a:xfrm>
            <a:off x="755576" y="4661892"/>
            <a:ext cx="1811238" cy="792088"/>
          </a:xfrm>
          <a:prstGeom prst="roundRect">
            <a:avLst>
              <a:gd name="adj" fmla="val 16667"/>
            </a:avLst>
          </a:prstGeom>
          <a:gradFill>
            <a:gsLst>
              <a:gs pos="0">
                <a:srgbClr val="C8B2E9"/>
              </a:gs>
              <a:gs pos="35000">
                <a:srgbClr val="D6CAED"/>
              </a:gs>
              <a:gs pos="100000">
                <a:srgbClr val="EFE8FA"/>
              </a:gs>
            </a:gsLst>
            <a:lin ang="16200000" scaled="0"/>
          </a:gradFill>
          <a:ln w="9525" cap="flat" cmpd="sng">
            <a:solidFill>
              <a:srgbClr val="7C5F9F"/>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File system</a:t>
            </a:r>
            <a:endParaRPr sz="1400" b="0" i="0" u="none" strike="noStrike" cap="none">
              <a:solidFill>
                <a:srgbClr val="000000"/>
              </a:solidFill>
              <a:latin typeface="Arial"/>
              <a:ea typeface="Arial"/>
              <a:cs typeface="Arial"/>
              <a:sym typeface="Arial"/>
            </a:endParaRPr>
          </a:p>
        </p:txBody>
      </p:sp>
      <p:sp>
        <p:nvSpPr>
          <p:cNvPr id="352" name="Google Shape;352;p23"/>
          <p:cNvSpPr/>
          <p:nvPr/>
        </p:nvSpPr>
        <p:spPr>
          <a:xfrm>
            <a:off x="2807804" y="4661892"/>
            <a:ext cx="1919250" cy="792088"/>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Kernel</a:t>
            </a:r>
            <a:endParaRPr sz="1400" b="0" i="0" u="none" strike="noStrike" cap="none">
              <a:solidFill>
                <a:srgbClr val="000000"/>
              </a:solidFill>
              <a:latin typeface="Arial"/>
              <a:ea typeface="Arial"/>
              <a:cs typeface="Arial"/>
              <a:sym typeface="Arial"/>
            </a:endParaRPr>
          </a:p>
        </p:txBody>
      </p:sp>
      <p:sp>
        <p:nvSpPr>
          <p:cNvPr id="353" name="Google Shape;353;p23"/>
          <p:cNvSpPr/>
          <p:nvPr/>
        </p:nvSpPr>
        <p:spPr>
          <a:xfrm>
            <a:off x="4871070" y="3429000"/>
            <a:ext cx="781050" cy="2304256"/>
          </a:xfrm>
          <a:prstGeom prst="rightBrace">
            <a:avLst>
              <a:gd name="adj1" fmla="val 8333"/>
              <a:gd name="adj2" fmla="val 50000"/>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4" name="Google Shape;354;p23"/>
          <p:cNvSpPr/>
          <p:nvPr/>
        </p:nvSpPr>
        <p:spPr>
          <a:xfrm>
            <a:off x="601216" y="4553880"/>
            <a:ext cx="2062572" cy="103536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4"/>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 Linux File System</a:t>
            </a:r>
            <a:endParaRPr/>
          </a:p>
        </p:txBody>
      </p:sp>
      <p:sp>
        <p:nvSpPr>
          <p:cNvPr id="361" name="Google Shape;361;p24"/>
          <p:cNvSpPr txBox="1">
            <a:spLocks noGrp="1"/>
          </p:cNvSpPr>
          <p:nvPr>
            <p:ph type="body" idx="1"/>
          </p:nvPr>
        </p:nvSpPr>
        <p:spPr>
          <a:xfrm>
            <a:off x="457200" y="1916832"/>
            <a:ext cx="8686800" cy="4209331"/>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400"/>
              </a:spcBef>
              <a:spcAft>
                <a:spcPts val="0"/>
              </a:spcAft>
              <a:buClr>
                <a:schemeClr val="dk1"/>
              </a:buClr>
              <a:buSzPts val="2000"/>
              <a:buAutoNum type="arabicPeriod"/>
            </a:pPr>
            <a:r>
              <a:rPr lang="es-ES" b="0" u="none"/>
              <a:t>Features</a:t>
            </a:r>
            <a:endParaRPr b="0" u="none"/>
          </a:p>
          <a:p>
            <a:pPr marL="342900" lvl="0" indent="-330200" algn="l" rtl="0">
              <a:lnSpc>
                <a:spcPct val="150000"/>
              </a:lnSpc>
              <a:spcBef>
                <a:spcPts val="400"/>
              </a:spcBef>
              <a:spcAft>
                <a:spcPts val="0"/>
              </a:spcAft>
              <a:buSzPts val="1800"/>
              <a:buAutoNum type="arabicPeriod"/>
            </a:pPr>
            <a:r>
              <a:rPr lang="es-ES" b="0" u="none"/>
              <a:t>Structure</a:t>
            </a:r>
            <a:endParaRPr b="0" u="none"/>
          </a:p>
          <a:p>
            <a:pPr marL="342900" lvl="0" indent="-330200" algn="l" rtl="0">
              <a:lnSpc>
                <a:spcPct val="150000"/>
              </a:lnSpc>
              <a:spcBef>
                <a:spcPts val="400"/>
              </a:spcBef>
              <a:spcAft>
                <a:spcPts val="0"/>
              </a:spcAft>
              <a:buSzPts val="1800"/>
              <a:buAutoNum type="arabicPeriod"/>
            </a:pPr>
            <a:r>
              <a:rPr lang="es-ES" b="0" u="none"/>
              <a:t>Comparison with Windows</a:t>
            </a:r>
            <a:endParaRPr b="0" u="none"/>
          </a:p>
          <a:p>
            <a:pPr marL="342900" lvl="0" indent="-330200" algn="l" rtl="0">
              <a:lnSpc>
                <a:spcPct val="150000"/>
              </a:lnSpc>
              <a:spcBef>
                <a:spcPts val="400"/>
              </a:spcBef>
              <a:spcAft>
                <a:spcPts val="0"/>
              </a:spcAft>
              <a:buSzPts val="1800"/>
              <a:buAutoNum type="arabicPeriod"/>
            </a:pPr>
            <a:r>
              <a:rPr lang="es-ES" b="0" u="none"/>
              <a:t>Paths</a:t>
            </a:r>
            <a:endParaRPr b="0" u="none"/>
          </a:p>
        </p:txBody>
      </p:sp>
      <p:sp>
        <p:nvSpPr>
          <p:cNvPr id="362" name="Google Shape;36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26</a:t>
            </a:fld>
            <a:endParaRPr/>
          </a:p>
        </p:txBody>
      </p:sp>
      <p:sp>
        <p:nvSpPr>
          <p:cNvPr id="363" name="Google Shape;363;p24"/>
          <p:cNvSpPr/>
          <p:nvPr/>
        </p:nvSpPr>
        <p:spPr>
          <a:xfrm>
            <a:off x="457200" y="1966809"/>
            <a:ext cx="3097800" cy="506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370c1eac3df_0_56"/>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2.1. Linux File System Features</a:t>
            </a:r>
            <a:endParaRPr/>
          </a:p>
        </p:txBody>
      </p:sp>
      <p:sp>
        <p:nvSpPr>
          <p:cNvPr id="370" name="Google Shape;370;g370c1eac3df_0_56"/>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fontScale="62500" lnSpcReduction="10000"/>
          </a:bodyPr>
          <a:lstStyle/>
          <a:p>
            <a:pPr marL="0" lvl="0" indent="0" algn="l" rtl="0">
              <a:lnSpc>
                <a:spcPct val="150000"/>
              </a:lnSpc>
              <a:spcBef>
                <a:spcPts val="400"/>
              </a:spcBef>
              <a:spcAft>
                <a:spcPts val="0"/>
              </a:spcAft>
              <a:buSzPct val="144000"/>
              <a:buNone/>
            </a:pPr>
            <a:r>
              <a:rPr lang="es-ES" b="0" u="none"/>
              <a:t>The file system is what gives structure to the data. It </a:t>
            </a:r>
            <a:r>
              <a:rPr lang="es-ES"/>
              <a:t>allows</a:t>
            </a:r>
            <a:r>
              <a:rPr lang="es-ES" b="0" u="none"/>
              <a:t>:</a:t>
            </a:r>
            <a:endParaRPr b="0" u="none"/>
          </a:p>
          <a:p>
            <a:pPr marL="342900" lvl="0" indent="-295275" algn="l" rtl="0">
              <a:lnSpc>
                <a:spcPct val="150000"/>
              </a:lnSpc>
              <a:spcBef>
                <a:spcPts val="400"/>
              </a:spcBef>
              <a:spcAft>
                <a:spcPts val="0"/>
              </a:spcAft>
              <a:buClr>
                <a:schemeClr val="dk1"/>
              </a:buClr>
              <a:buSzPct val="100000"/>
              <a:buChar char="•"/>
            </a:pPr>
            <a:r>
              <a:rPr lang="es-ES" b="0" u="none"/>
              <a:t>Storing files and folders in an organized way.</a:t>
            </a:r>
            <a:endParaRPr b="0" u="none"/>
          </a:p>
          <a:p>
            <a:pPr marL="342900" lvl="0" indent="-295275" algn="l" rtl="0">
              <a:lnSpc>
                <a:spcPct val="150000"/>
              </a:lnSpc>
              <a:spcBef>
                <a:spcPts val="400"/>
              </a:spcBef>
              <a:spcAft>
                <a:spcPts val="0"/>
              </a:spcAft>
              <a:buClr>
                <a:schemeClr val="dk1"/>
              </a:buClr>
              <a:buSzPct val="100000"/>
              <a:buChar char="•"/>
            </a:pPr>
            <a:r>
              <a:rPr lang="es-ES" b="0" u="none"/>
              <a:t>Accessing them by name, path, and permissions.</a:t>
            </a:r>
            <a:endParaRPr b="0" u="none"/>
          </a:p>
          <a:p>
            <a:pPr marL="342900" lvl="0" indent="-295275" algn="l" rtl="0">
              <a:lnSpc>
                <a:spcPct val="150000"/>
              </a:lnSpc>
              <a:spcBef>
                <a:spcPts val="400"/>
              </a:spcBef>
              <a:spcAft>
                <a:spcPts val="0"/>
              </a:spcAft>
              <a:buClr>
                <a:schemeClr val="dk1"/>
              </a:buClr>
              <a:buSzPct val="100000"/>
              <a:buChar char="•"/>
            </a:pPr>
            <a:r>
              <a:rPr lang="es-ES" b="0" u="none"/>
              <a:t>Controlling who can read, modify, or execute each file.</a:t>
            </a:r>
            <a:endParaRPr b="0" u="none"/>
          </a:p>
          <a:p>
            <a:pPr marL="0" lvl="0" indent="0" algn="l" rtl="0">
              <a:lnSpc>
                <a:spcPct val="150000"/>
              </a:lnSpc>
              <a:spcBef>
                <a:spcPts val="400"/>
              </a:spcBef>
              <a:spcAft>
                <a:spcPts val="0"/>
              </a:spcAft>
              <a:buSzPct val="144000"/>
              <a:buNone/>
            </a:pPr>
            <a:r>
              <a:rPr lang="es-ES" b="0" u="none"/>
              <a:t>When you </a:t>
            </a:r>
            <a:r>
              <a:rPr lang="es-ES"/>
              <a:t>save a file</a:t>
            </a:r>
            <a:r>
              <a:rPr lang="es-ES" b="0" u="none"/>
              <a:t> the file system:</a:t>
            </a:r>
            <a:endParaRPr b="0" u="none"/>
          </a:p>
          <a:p>
            <a:pPr marL="342900" lvl="0" indent="-295275" algn="l" rtl="0">
              <a:lnSpc>
                <a:spcPct val="150000"/>
              </a:lnSpc>
              <a:spcBef>
                <a:spcPts val="400"/>
              </a:spcBef>
              <a:spcAft>
                <a:spcPts val="0"/>
              </a:spcAft>
              <a:buClr>
                <a:schemeClr val="dk1"/>
              </a:buClr>
              <a:buSzPct val="100000"/>
              <a:buChar char="•"/>
            </a:pPr>
            <a:r>
              <a:rPr lang="es-ES" b="0" u="none"/>
              <a:t>Divides it into physical blocks stored on the disk.</a:t>
            </a:r>
            <a:endParaRPr b="0" u="none"/>
          </a:p>
          <a:p>
            <a:pPr marL="342900" lvl="0" indent="-295275" algn="l" rtl="0">
              <a:lnSpc>
                <a:spcPct val="150000"/>
              </a:lnSpc>
              <a:spcBef>
                <a:spcPts val="400"/>
              </a:spcBef>
              <a:spcAft>
                <a:spcPts val="0"/>
              </a:spcAft>
              <a:buClr>
                <a:schemeClr val="dk1"/>
              </a:buClr>
              <a:buSzPct val="100000"/>
              <a:buChar char="•"/>
            </a:pPr>
            <a:r>
              <a:rPr lang="es-ES" b="0" u="none"/>
              <a:t>Associates metadata (name, date, permissions, size, owner).</a:t>
            </a:r>
            <a:endParaRPr b="0" u="none"/>
          </a:p>
          <a:p>
            <a:pPr marL="342900" lvl="0" indent="-295275" algn="l" rtl="0">
              <a:lnSpc>
                <a:spcPct val="150000"/>
              </a:lnSpc>
              <a:spcBef>
                <a:spcPts val="400"/>
              </a:spcBef>
              <a:spcAft>
                <a:spcPts val="0"/>
              </a:spcAft>
              <a:buClr>
                <a:schemeClr val="dk1"/>
              </a:buClr>
              <a:buSzPct val="100000"/>
              <a:buChar char="•"/>
            </a:pPr>
            <a:r>
              <a:rPr lang="es-ES" b="0" u="none"/>
              <a:t>Places it in a folder hierarchy to make it easier to locate.</a:t>
            </a:r>
            <a:endParaRPr b="0" u="none"/>
          </a:p>
          <a:p>
            <a:pPr marL="0" lvl="0" indent="0" algn="l" rtl="0">
              <a:lnSpc>
                <a:spcPct val="150000"/>
              </a:lnSpc>
              <a:spcBef>
                <a:spcPts val="400"/>
              </a:spcBef>
              <a:spcAft>
                <a:spcPts val="0"/>
              </a:spcAft>
              <a:buSzPct val="144000"/>
              <a:buNone/>
            </a:pPr>
            <a:r>
              <a:rPr lang="es-ES" b="0" u="none"/>
              <a:t>It also </a:t>
            </a:r>
            <a:r>
              <a:rPr lang="es-ES"/>
              <a:t>manages</a:t>
            </a:r>
            <a:r>
              <a:rPr lang="es-ES" b="0" u="none"/>
              <a:t>:</a:t>
            </a:r>
            <a:endParaRPr b="0" u="none"/>
          </a:p>
          <a:p>
            <a:pPr marL="342900" lvl="0" indent="-295275" algn="l" rtl="0">
              <a:lnSpc>
                <a:spcPct val="150000"/>
              </a:lnSpc>
              <a:spcBef>
                <a:spcPts val="400"/>
              </a:spcBef>
              <a:spcAft>
                <a:spcPts val="0"/>
              </a:spcAft>
              <a:buClr>
                <a:schemeClr val="dk1"/>
              </a:buClr>
              <a:buSzPct val="100000"/>
              <a:buChar char="•"/>
            </a:pPr>
            <a:r>
              <a:rPr lang="es-ES" b="0" u="none"/>
              <a:t>Permissions and ownership</a:t>
            </a:r>
            <a:endParaRPr b="0" u="none"/>
          </a:p>
          <a:p>
            <a:pPr marL="342900" lvl="0" indent="-295275" algn="l" rtl="0">
              <a:lnSpc>
                <a:spcPct val="150000"/>
              </a:lnSpc>
              <a:spcBef>
                <a:spcPts val="400"/>
              </a:spcBef>
              <a:spcAft>
                <a:spcPts val="0"/>
              </a:spcAft>
              <a:buClr>
                <a:schemeClr val="dk1"/>
              </a:buClr>
              <a:buSzPct val="100000"/>
              <a:buChar char="•"/>
            </a:pPr>
            <a:r>
              <a:rPr lang="es-ES" b="0" u="none"/>
              <a:t>Access/modification times</a:t>
            </a:r>
            <a:endParaRPr b="0" u="none"/>
          </a:p>
          <a:p>
            <a:pPr marL="342900" lvl="0" indent="-295275" algn="l" rtl="0">
              <a:lnSpc>
                <a:spcPct val="150000"/>
              </a:lnSpc>
              <a:spcBef>
                <a:spcPts val="400"/>
              </a:spcBef>
              <a:spcAft>
                <a:spcPts val="0"/>
              </a:spcAft>
              <a:buClr>
                <a:schemeClr val="dk1"/>
              </a:buClr>
              <a:buSzPct val="100000"/>
              <a:buChar char="•"/>
            </a:pPr>
            <a:r>
              <a:rPr lang="es-ES" b="0" u="none"/>
              <a:t>Free and used disk space</a:t>
            </a:r>
            <a:endParaRPr b="0" u="none"/>
          </a:p>
          <a:p>
            <a:pPr marL="342900" lvl="0" indent="-295275" algn="l" rtl="0">
              <a:lnSpc>
                <a:spcPct val="150000"/>
              </a:lnSpc>
              <a:spcBef>
                <a:spcPts val="400"/>
              </a:spcBef>
              <a:spcAft>
                <a:spcPts val="0"/>
              </a:spcAft>
              <a:buClr>
                <a:schemeClr val="dk1"/>
              </a:buClr>
              <a:buSzPct val="100000"/>
              <a:buChar char="•"/>
            </a:pPr>
            <a:r>
              <a:rPr lang="es-ES" b="0" u="none"/>
              <a:t>Integrity and error recovery</a:t>
            </a:r>
            <a:endParaRPr b="0" u="none"/>
          </a:p>
        </p:txBody>
      </p:sp>
      <p:sp>
        <p:nvSpPr>
          <p:cNvPr id="371" name="Google Shape;371;g370c1eac3df_0_5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344e220f39a_2_35"/>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2.1. Linux File System Features</a:t>
            </a:r>
            <a:endParaRPr/>
          </a:p>
        </p:txBody>
      </p:sp>
      <p:sp>
        <p:nvSpPr>
          <p:cNvPr id="378" name="Google Shape;378;g344e220f39a_2_35"/>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Char char="•"/>
            </a:pPr>
            <a:r>
              <a:rPr lang="es-ES" b="0" u="none"/>
              <a:t>Root directory (/)</a:t>
            </a:r>
            <a:endParaRPr/>
          </a:p>
          <a:p>
            <a:pPr marL="342900" lvl="0" indent="-342900" algn="l" rtl="0">
              <a:lnSpc>
                <a:spcPct val="150000"/>
              </a:lnSpc>
              <a:spcBef>
                <a:spcPts val="400"/>
              </a:spcBef>
              <a:spcAft>
                <a:spcPts val="0"/>
              </a:spcAft>
              <a:buClr>
                <a:schemeClr val="dk1"/>
              </a:buClr>
              <a:buSzPts val="2000"/>
              <a:buChar char="•"/>
            </a:pPr>
            <a:r>
              <a:rPr lang="es-ES" b="0" u="none"/>
              <a:t>Everything is a File (devices, directories, and processes)</a:t>
            </a:r>
            <a:endParaRPr/>
          </a:p>
          <a:p>
            <a:pPr marL="342900" lvl="0" indent="-342900" algn="l" rtl="0">
              <a:lnSpc>
                <a:spcPct val="150000"/>
              </a:lnSpc>
              <a:spcBef>
                <a:spcPts val="400"/>
              </a:spcBef>
              <a:spcAft>
                <a:spcPts val="0"/>
              </a:spcAft>
              <a:buClr>
                <a:schemeClr val="dk1"/>
              </a:buClr>
              <a:buSzPts val="2000"/>
              <a:buChar char="•"/>
            </a:pPr>
            <a:r>
              <a:rPr lang="es-ES" b="0" u="none"/>
              <a:t>Specifying Paths</a:t>
            </a:r>
            <a:endParaRPr/>
          </a:p>
          <a:p>
            <a:pPr marL="342900" lvl="0" indent="-342900" algn="l" rtl="0">
              <a:lnSpc>
                <a:spcPct val="150000"/>
              </a:lnSpc>
              <a:spcBef>
                <a:spcPts val="400"/>
              </a:spcBef>
              <a:spcAft>
                <a:spcPts val="0"/>
              </a:spcAft>
              <a:buClr>
                <a:schemeClr val="dk1"/>
              </a:buClr>
              <a:buSzPts val="2000"/>
              <a:buChar char="•"/>
            </a:pPr>
            <a:r>
              <a:rPr lang="es-ES" b="0" u="none"/>
              <a:t>Case-Sensitive</a:t>
            </a:r>
            <a:endParaRPr/>
          </a:p>
          <a:p>
            <a:pPr marL="342900" lvl="0" indent="-342900" algn="l" rtl="0">
              <a:lnSpc>
                <a:spcPct val="150000"/>
              </a:lnSpc>
              <a:spcBef>
                <a:spcPts val="400"/>
              </a:spcBef>
              <a:spcAft>
                <a:spcPts val="0"/>
              </a:spcAft>
              <a:buClr>
                <a:schemeClr val="dk1"/>
              </a:buClr>
              <a:buSzPts val="2000"/>
              <a:buChar char="•"/>
            </a:pPr>
            <a:r>
              <a:rPr lang="es-ES" b="0" u="none"/>
              <a:t>File Extensions and Hidden Files</a:t>
            </a:r>
            <a:endParaRPr/>
          </a:p>
        </p:txBody>
      </p:sp>
      <p:sp>
        <p:nvSpPr>
          <p:cNvPr id="379" name="Google Shape;379;g344e220f39a_2_3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g370c1eac3df_0_75"/>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 Linux File System</a:t>
            </a:r>
            <a:endParaRPr/>
          </a:p>
        </p:txBody>
      </p:sp>
      <p:sp>
        <p:nvSpPr>
          <p:cNvPr id="386" name="Google Shape;386;g370c1eac3df_0_75"/>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400"/>
              </a:spcBef>
              <a:spcAft>
                <a:spcPts val="0"/>
              </a:spcAft>
              <a:buClr>
                <a:schemeClr val="dk1"/>
              </a:buClr>
              <a:buSzPts val="2000"/>
              <a:buAutoNum type="arabicPeriod"/>
            </a:pPr>
            <a:r>
              <a:rPr lang="es-ES" b="0" u="none"/>
              <a:t>Features</a:t>
            </a:r>
            <a:endParaRPr b="0" u="none"/>
          </a:p>
          <a:p>
            <a:pPr marL="342900" lvl="0" indent="-330200" algn="l" rtl="0">
              <a:lnSpc>
                <a:spcPct val="150000"/>
              </a:lnSpc>
              <a:spcBef>
                <a:spcPts val="400"/>
              </a:spcBef>
              <a:spcAft>
                <a:spcPts val="0"/>
              </a:spcAft>
              <a:buSzPts val="1800"/>
              <a:buAutoNum type="arabicPeriod"/>
            </a:pPr>
            <a:r>
              <a:rPr lang="es-ES" b="0" u="none"/>
              <a:t>Structure</a:t>
            </a:r>
            <a:endParaRPr b="0" u="none"/>
          </a:p>
          <a:p>
            <a:pPr marL="342900" lvl="0" indent="-330200" algn="l" rtl="0">
              <a:lnSpc>
                <a:spcPct val="150000"/>
              </a:lnSpc>
              <a:spcBef>
                <a:spcPts val="400"/>
              </a:spcBef>
              <a:spcAft>
                <a:spcPts val="0"/>
              </a:spcAft>
              <a:buSzPts val="1800"/>
              <a:buAutoNum type="arabicPeriod"/>
            </a:pPr>
            <a:r>
              <a:rPr lang="es-ES" b="0" u="none"/>
              <a:t>Comparison with Windows</a:t>
            </a:r>
            <a:endParaRPr b="0" u="none"/>
          </a:p>
          <a:p>
            <a:pPr marL="342900" lvl="0" indent="-330200" algn="l" rtl="0">
              <a:lnSpc>
                <a:spcPct val="150000"/>
              </a:lnSpc>
              <a:spcBef>
                <a:spcPts val="400"/>
              </a:spcBef>
              <a:spcAft>
                <a:spcPts val="0"/>
              </a:spcAft>
              <a:buSzPts val="1800"/>
              <a:buAutoNum type="arabicPeriod"/>
            </a:pPr>
            <a:r>
              <a:rPr lang="es-ES" b="0" u="none"/>
              <a:t>Paths</a:t>
            </a:r>
            <a:endParaRPr b="0" u="none"/>
          </a:p>
        </p:txBody>
      </p:sp>
      <p:sp>
        <p:nvSpPr>
          <p:cNvPr id="387" name="Google Shape;387;g370c1eac3df_0_7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29</a:t>
            </a:fld>
            <a:endParaRPr/>
          </a:p>
        </p:txBody>
      </p:sp>
      <p:sp>
        <p:nvSpPr>
          <p:cNvPr id="388" name="Google Shape;388;g370c1eac3df_0_75"/>
          <p:cNvSpPr/>
          <p:nvPr/>
        </p:nvSpPr>
        <p:spPr>
          <a:xfrm>
            <a:off x="454943" y="2488321"/>
            <a:ext cx="3097800" cy="506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25" descr="Resultado de imagen de linux file system"/>
          <p:cNvPicPr preferRelativeResize="0"/>
          <p:nvPr/>
        </p:nvPicPr>
        <p:blipFill rotWithShape="1">
          <a:blip r:embed="rId3">
            <a:alphaModFix/>
          </a:blip>
          <a:srcRect/>
          <a:stretch/>
        </p:blipFill>
        <p:spPr>
          <a:xfrm>
            <a:off x="395535" y="1700808"/>
            <a:ext cx="8490737" cy="4680520"/>
          </a:xfrm>
          <a:prstGeom prst="rect">
            <a:avLst/>
          </a:prstGeom>
          <a:noFill/>
          <a:ln>
            <a:noFill/>
          </a:ln>
        </p:spPr>
      </p:pic>
      <p:sp>
        <p:nvSpPr>
          <p:cNvPr id="395" name="Google Shape;395;p25"/>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2.2. Linux File System Structure</a:t>
            </a:r>
            <a:endParaRPr/>
          </a:p>
        </p:txBody>
      </p:sp>
      <p:sp>
        <p:nvSpPr>
          <p:cNvPr id="396" name="Google Shape;396;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31</a:t>
            </a:fld>
            <a:endParaRPr/>
          </a:p>
        </p:txBody>
      </p:sp>
      <p:sp>
        <p:nvSpPr>
          <p:cNvPr id="402" name="Google Shape;402;p26"/>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2.2. Linux File System Structure</a:t>
            </a:r>
            <a:endParaRPr/>
          </a:p>
        </p:txBody>
      </p:sp>
      <p:sp>
        <p:nvSpPr>
          <p:cNvPr id="403" name="Google Shape;403;p26"/>
          <p:cNvSpPr/>
          <p:nvPr/>
        </p:nvSpPr>
        <p:spPr>
          <a:xfrm>
            <a:off x="3581400" y="2209800"/>
            <a:ext cx="3733800" cy="533400"/>
          </a:xfrm>
          <a:prstGeom prst="roundRect">
            <a:avLst>
              <a:gd name="adj" fmla="val 16667"/>
            </a:avLst>
          </a:prstGeom>
          <a:gradFill>
            <a:gsLst>
              <a:gs pos="0">
                <a:srgbClr val="DAFEA4"/>
              </a:gs>
              <a:gs pos="35000">
                <a:srgbClr val="E3FEBF"/>
              </a:gs>
              <a:gs pos="100000">
                <a:srgbClr val="F4FEE6"/>
              </a:gs>
            </a:gsLst>
            <a:lin ang="16200000" scaled="0"/>
          </a:gradFill>
          <a:ln w="9525" cap="flat" cmpd="sng">
            <a:solidFill>
              <a:srgbClr val="97B853"/>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onsolas"/>
                <a:ea typeface="Consolas"/>
                <a:cs typeface="Consolas"/>
                <a:sym typeface="Consolas"/>
              </a:rPr>
              <a:t>User data directory</a:t>
            </a:r>
            <a:endParaRPr sz="1400" b="0" i="0" u="none" strike="noStrike" cap="none">
              <a:solidFill>
                <a:srgbClr val="000000"/>
              </a:solidFill>
              <a:latin typeface="Arial"/>
              <a:ea typeface="Arial"/>
              <a:cs typeface="Arial"/>
              <a:sym typeface="Arial"/>
            </a:endParaRPr>
          </a:p>
        </p:txBody>
      </p:sp>
      <p:sp>
        <p:nvSpPr>
          <p:cNvPr id="404" name="Google Shape;404;p26"/>
          <p:cNvSpPr/>
          <p:nvPr/>
        </p:nvSpPr>
        <p:spPr>
          <a:xfrm>
            <a:off x="3576118" y="2971800"/>
            <a:ext cx="3967681" cy="901771"/>
          </a:xfrm>
          <a:prstGeom prst="roundRect">
            <a:avLst>
              <a:gd name="adj" fmla="val 16667"/>
            </a:avLst>
          </a:prstGeom>
          <a:gradFill>
            <a:gsLst>
              <a:gs pos="0">
                <a:srgbClr val="DAFEA4"/>
              </a:gs>
              <a:gs pos="35000">
                <a:srgbClr val="E3FEBF"/>
              </a:gs>
              <a:gs pos="100000">
                <a:srgbClr val="F4FEE6"/>
              </a:gs>
            </a:gsLst>
            <a:lin ang="16200000" scaled="0"/>
          </a:gradFill>
          <a:ln w="9525" cap="flat" cmpd="sng">
            <a:solidFill>
              <a:srgbClr val="97B853"/>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onsolas"/>
                <a:ea typeface="Consolas"/>
                <a:cs typeface="Consolas"/>
                <a:sym typeface="Consolas"/>
              </a:rPr>
              <a:t>Or /media, directory where external disks are mounted.</a:t>
            </a:r>
            <a:endParaRPr sz="1400" b="0" i="0" u="none" strike="noStrike" cap="none">
              <a:solidFill>
                <a:srgbClr val="000000"/>
              </a:solidFill>
              <a:latin typeface="Arial"/>
              <a:ea typeface="Arial"/>
              <a:cs typeface="Arial"/>
              <a:sym typeface="Arial"/>
            </a:endParaRPr>
          </a:p>
        </p:txBody>
      </p:sp>
      <p:sp>
        <p:nvSpPr>
          <p:cNvPr id="405" name="Google Shape;405;p26"/>
          <p:cNvSpPr/>
          <p:nvPr/>
        </p:nvSpPr>
        <p:spPr>
          <a:xfrm>
            <a:off x="3576118" y="4099092"/>
            <a:ext cx="4120081" cy="1346132"/>
          </a:xfrm>
          <a:prstGeom prst="roundRect">
            <a:avLst>
              <a:gd name="adj" fmla="val 16667"/>
            </a:avLst>
          </a:prstGeom>
          <a:gradFill>
            <a:gsLst>
              <a:gs pos="0">
                <a:srgbClr val="DAFEA4"/>
              </a:gs>
              <a:gs pos="35000">
                <a:srgbClr val="E3FEBF"/>
              </a:gs>
              <a:gs pos="100000">
                <a:srgbClr val="F4FEE6"/>
              </a:gs>
            </a:gsLst>
            <a:lin ang="16200000" scaled="0"/>
          </a:gradFill>
          <a:ln w="9525" cap="flat" cmpd="sng">
            <a:solidFill>
              <a:srgbClr val="97B853"/>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onsolas"/>
                <a:ea typeface="Consolas"/>
                <a:cs typeface="Consolas"/>
                <a:sym typeface="Consolas"/>
              </a:rPr>
              <a:t>Directory containing additional software. In our case is where bioinformatic software is installed.</a:t>
            </a:r>
            <a:endParaRPr sz="1400" b="0" i="0" u="none" strike="noStrike" cap="none">
              <a:solidFill>
                <a:srgbClr val="000000"/>
              </a:solidFill>
              <a:latin typeface="Arial"/>
              <a:ea typeface="Arial"/>
              <a:cs typeface="Arial"/>
              <a:sym typeface="Arial"/>
            </a:endParaRPr>
          </a:p>
        </p:txBody>
      </p:sp>
      <p:cxnSp>
        <p:nvCxnSpPr>
          <p:cNvPr id="406" name="Google Shape;406;p26"/>
          <p:cNvCxnSpPr/>
          <p:nvPr/>
        </p:nvCxnSpPr>
        <p:spPr>
          <a:xfrm rot="10800000">
            <a:off x="2590920" y="2438548"/>
            <a:ext cx="985200" cy="104700"/>
          </a:xfrm>
          <a:prstGeom prst="bentConnector3">
            <a:avLst>
              <a:gd name="adj1" fmla="val 50000"/>
            </a:avLst>
          </a:prstGeom>
          <a:noFill/>
          <a:ln w="28575" cap="flat" cmpd="sng">
            <a:solidFill>
              <a:schemeClr val="dk1"/>
            </a:solidFill>
            <a:prstDash val="solid"/>
            <a:round/>
            <a:headEnd type="oval" w="med" len="med"/>
            <a:tailEnd type="triangle" w="med" len="med"/>
          </a:ln>
        </p:spPr>
      </p:cxnSp>
      <p:cxnSp>
        <p:nvCxnSpPr>
          <p:cNvPr id="407" name="Google Shape;407;p26"/>
          <p:cNvCxnSpPr>
            <a:stCxn id="404" idx="1"/>
          </p:cNvCxnSpPr>
          <p:nvPr/>
        </p:nvCxnSpPr>
        <p:spPr>
          <a:xfrm flipH="1">
            <a:off x="2590918" y="3422686"/>
            <a:ext cx="985200" cy="184200"/>
          </a:xfrm>
          <a:prstGeom prst="bentConnector3">
            <a:avLst>
              <a:gd name="adj1" fmla="val 50000"/>
            </a:avLst>
          </a:prstGeom>
          <a:noFill/>
          <a:ln w="28575" cap="flat" cmpd="sng">
            <a:solidFill>
              <a:schemeClr val="dk1"/>
            </a:solidFill>
            <a:prstDash val="solid"/>
            <a:round/>
            <a:headEnd type="oval" w="med" len="med"/>
            <a:tailEnd type="triangle" w="med" len="med"/>
          </a:ln>
        </p:spPr>
      </p:cxnSp>
      <p:cxnSp>
        <p:nvCxnSpPr>
          <p:cNvPr id="408" name="Google Shape;408;p26"/>
          <p:cNvCxnSpPr/>
          <p:nvPr/>
        </p:nvCxnSpPr>
        <p:spPr>
          <a:xfrm rot="10800000">
            <a:off x="2590919" y="4191000"/>
            <a:ext cx="985200" cy="228600"/>
          </a:xfrm>
          <a:prstGeom prst="bentConnector3">
            <a:avLst>
              <a:gd name="adj1" fmla="val 50000"/>
            </a:avLst>
          </a:prstGeom>
          <a:noFill/>
          <a:ln w="28575" cap="flat" cmpd="sng">
            <a:solidFill>
              <a:schemeClr val="dk1"/>
            </a:solidFill>
            <a:prstDash val="solid"/>
            <a:round/>
            <a:headEnd type="oval" w="med" len="med"/>
            <a:tailEnd type="triangle" w="med" len="med"/>
          </a:ln>
        </p:spPr>
      </p:cxnSp>
      <p:pic>
        <p:nvPicPr>
          <p:cNvPr id="409" name="Google Shape;409;p26" descr="Resultado de imagen de linux file system"/>
          <p:cNvPicPr preferRelativeResize="0"/>
          <p:nvPr/>
        </p:nvPicPr>
        <p:blipFill rotWithShape="1">
          <a:blip r:embed="rId3">
            <a:alphaModFix/>
          </a:blip>
          <a:srcRect l="83112" t="23817" b="14881"/>
          <a:stretch/>
        </p:blipFill>
        <p:spPr>
          <a:xfrm>
            <a:off x="895916" y="2183244"/>
            <a:ext cx="1689602" cy="338065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g370c1eac3df_0_83"/>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 Linux File System</a:t>
            </a:r>
            <a:endParaRPr/>
          </a:p>
        </p:txBody>
      </p:sp>
      <p:sp>
        <p:nvSpPr>
          <p:cNvPr id="416" name="Google Shape;416;g370c1eac3df_0_83"/>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400"/>
              </a:spcBef>
              <a:spcAft>
                <a:spcPts val="0"/>
              </a:spcAft>
              <a:buClr>
                <a:schemeClr val="dk1"/>
              </a:buClr>
              <a:buSzPts val="2000"/>
              <a:buAutoNum type="arabicPeriod"/>
            </a:pPr>
            <a:r>
              <a:rPr lang="es-ES" b="0" u="none"/>
              <a:t>Features</a:t>
            </a:r>
            <a:endParaRPr b="0" u="none"/>
          </a:p>
          <a:p>
            <a:pPr marL="342900" lvl="0" indent="-330200" algn="l" rtl="0">
              <a:lnSpc>
                <a:spcPct val="150000"/>
              </a:lnSpc>
              <a:spcBef>
                <a:spcPts val="400"/>
              </a:spcBef>
              <a:spcAft>
                <a:spcPts val="0"/>
              </a:spcAft>
              <a:buSzPts val="1800"/>
              <a:buAutoNum type="arabicPeriod"/>
            </a:pPr>
            <a:r>
              <a:rPr lang="es-ES" b="0" u="none"/>
              <a:t>Structure</a:t>
            </a:r>
            <a:endParaRPr b="0" u="none"/>
          </a:p>
          <a:p>
            <a:pPr marL="342900" lvl="0" indent="-330200" algn="l" rtl="0">
              <a:lnSpc>
                <a:spcPct val="150000"/>
              </a:lnSpc>
              <a:spcBef>
                <a:spcPts val="400"/>
              </a:spcBef>
              <a:spcAft>
                <a:spcPts val="0"/>
              </a:spcAft>
              <a:buSzPts val="1800"/>
              <a:buAutoNum type="arabicPeriod"/>
            </a:pPr>
            <a:r>
              <a:rPr lang="es-ES" b="0" u="none"/>
              <a:t>Comparison with Windows</a:t>
            </a:r>
            <a:endParaRPr b="0" u="none"/>
          </a:p>
          <a:p>
            <a:pPr marL="342900" lvl="0" indent="-330200" algn="l" rtl="0">
              <a:lnSpc>
                <a:spcPct val="150000"/>
              </a:lnSpc>
              <a:spcBef>
                <a:spcPts val="400"/>
              </a:spcBef>
              <a:spcAft>
                <a:spcPts val="0"/>
              </a:spcAft>
              <a:buSzPts val="1800"/>
              <a:buAutoNum type="arabicPeriod"/>
            </a:pPr>
            <a:r>
              <a:rPr lang="es-ES" b="0" u="none"/>
              <a:t>Paths</a:t>
            </a:r>
            <a:endParaRPr b="0" u="none"/>
          </a:p>
        </p:txBody>
      </p:sp>
      <p:sp>
        <p:nvSpPr>
          <p:cNvPr id="417" name="Google Shape;417;g370c1eac3df_0_8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32</a:t>
            </a:fld>
            <a:endParaRPr/>
          </a:p>
        </p:txBody>
      </p:sp>
      <p:sp>
        <p:nvSpPr>
          <p:cNvPr id="418" name="Google Shape;418;g370c1eac3df_0_83"/>
          <p:cNvSpPr/>
          <p:nvPr/>
        </p:nvSpPr>
        <p:spPr>
          <a:xfrm>
            <a:off x="457200" y="2957409"/>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27"/>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2.3. Linux File System Comparison</a:t>
            </a:r>
            <a:endParaRPr/>
          </a:p>
        </p:txBody>
      </p:sp>
      <p:sp>
        <p:nvSpPr>
          <p:cNvPr id="425" name="Google Shape;425;p27"/>
          <p:cNvSpPr txBox="1">
            <a:spLocks noGrp="1"/>
          </p:cNvSpPr>
          <p:nvPr>
            <p:ph type="body" idx="1"/>
          </p:nvPr>
        </p:nvSpPr>
        <p:spPr>
          <a:xfrm>
            <a:off x="457200" y="2099989"/>
            <a:ext cx="2746648" cy="4209331"/>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2000"/>
              <a:buChar char="•"/>
            </a:pPr>
            <a:r>
              <a:rPr lang="es-ES" b="0" u="none"/>
              <a:t>Everything “hangs” from root</a:t>
            </a:r>
            <a:endParaRPr/>
          </a:p>
          <a:p>
            <a:pPr marL="0" lvl="0" indent="0" algn="l" rtl="0">
              <a:lnSpc>
                <a:spcPct val="100000"/>
              </a:lnSpc>
              <a:spcBef>
                <a:spcPts val="200"/>
              </a:spcBef>
              <a:spcAft>
                <a:spcPts val="0"/>
              </a:spcAft>
              <a:buClr>
                <a:schemeClr val="dk1"/>
              </a:buClr>
              <a:buSzPts val="1000"/>
              <a:buNone/>
            </a:pPr>
            <a:endParaRPr sz="1000" b="0" u="none"/>
          </a:p>
          <a:p>
            <a:pPr marL="342900" lvl="0" indent="-342900" algn="l" rtl="0">
              <a:lnSpc>
                <a:spcPct val="100000"/>
              </a:lnSpc>
              <a:spcBef>
                <a:spcPts val="400"/>
              </a:spcBef>
              <a:spcAft>
                <a:spcPts val="0"/>
              </a:spcAft>
              <a:buClr>
                <a:schemeClr val="dk1"/>
              </a:buClr>
              <a:buSzPts val="2000"/>
              <a:buChar char="•"/>
            </a:pPr>
            <a:r>
              <a:rPr lang="es-ES" b="0" u="none"/>
              <a:t>Files are classified by type / role instead of unit location</a:t>
            </a:r>
            <a:endParaRPr/>
          </a:p>
          <a:p>
            <a:pPr marL="0" lvl="0" indent="0" algn="l" rtl="0">
              <a:lnSpc>
                <a:spcPct val="100000"/>
              </a:lnSpc>
              <a:spcBef>
                <a:spcPts val="200"/>
              </a:spcBef>
              <a:spcAft>
                <a:spcPts val="0"/>
              </a:spcAft>
              <a:buClr>
                <a:schemeClr val="dk1"/>
              </a:buClr>
              <a:buSzPts val="1000"/>
              <a:buNone/>
            </a:pPr>
            <a:endParaRPr sz="1000" b="0" u="none"/>
          </a:p>
          <a:p>
            <a:pPr marL="342900" lvl="0" indent="-342900" algn="l" rtl="0">
              <a:lnSpc>
                <a:spcPct val="100000"/>
              </a:lnSpc>
              <a:spcBef>
                <a:spcPts val="400"/>
              </a:spcBef>
              <a:spcAft>
                <a:spcPts val="0"/>
              </a:spcAft>
              <a:buClr>
                <a:schemeClr val="dk1"/>
              </a:buClr>
              <a:buSzPts val="2000"/>
              <a:buChar char="•"/>
            </a:pPr>
            <a:r>
              <a:rPr lang="es-ES" b="0" u="none"/>
              <a:t>Files locations in disks are invisible for users</a:t>
            </a:r>
            <a:endParaRPr/>
          </a:p>
          <a:p>
            <a:pPr marL="0" lvl="0" indent="0" algn="l" rtl="0">
              <a:lnSpc>
                <a:spcPct val="100000"/>
              </a:lnSpc>
              <a:spcBef>
                <a:spcPts val="400"/>
              </a:spcBef>
              <a:spcAft>
                <a:spcPts val="0"/>
              </a:spcAft>
              <a:buClr>
                <a:schemeClr val="dk1"/>
              </a:buClr>
              <a:buSzPts val="2000"/>
              <a:buNone/>
            </a:pPr>
            <a:endParaRPr b="0" u="none"/>
          </a:p>
        </p:txBody>
      </p:sp>
      <p:sp>
        <p:nvSpPr>
          <p:cNvPr id="426" name="Google Shape;42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33</a:t>
            </a:fld>
            <a:endParaRPr/>
          </a:p>
        </p:txBody>
      </p:sp>
      <p:pic>
        <p:nvPicPr>
          <p:cNvPr id="427" name="Google Shape;427;p27" descr="Resultado de imagen de linux  windows file system"/>
          <p:cNvPicPr preferRelativeResize="0"/>
          <p:nvPr/>
        </p:nvPicPr>
        <p:blipFill rotWithShape="1">
          <a:blip r:embed="rId3">
            <a:alphaModFix/>
          </a:blip>
          <a:srcRect b="13127"/>
          <a:stretch/>
        </p:blipFill>
        <p:spPr>
          <a:xfrm>
            <a:off x="3337763" y="1692348"/>
            <a:ext cx="5626725" cy="45449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g370c1eac3df_0_91"/>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 Linux File System</a:t>
            </a:r>
            <a:endParaRPr/>
          </a:p>
        </p:txBody>
      </p:sp>
      <p:sp>
        <p:nvSpPr>
          <p:cNvPr id="434" name="Google Shape;434;g370c1eac3df_0_91"/>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400"/>
              </a:spcBef>
              <a:spcAft>
                <a:spcPts val="0"/>
              </a:spcAft>
              <a:buClr>
                <a:schemeClr val="dk1"/>
              </a:buClr>
              <a:buSzPts val="2000"/>
              <a:buAutoNum type="arabicPeriod"/>
            </a:pPr>
            <a:r>
              <a:rPr lang="es-ES" b="0" u="none"/>
              <a:t>Features</a:t>
            </a:r>
            <a:endParaRPr b="0" u="none"/>
          </a:p>
          <a:p>
            <a:pPr marL="342900" lvl="0" indent="-330200" algn="l" rtl="0">
              <a:lnSpc>
                <a:spcPct val="150000"/>
              </a:lnSpc>
              <a:spcBef>
                <a:spcPts val="400"/>
              </a:spcBef>
              <a:spcAft>
                <a:spcPts val="0"/>
              </a:spcAft>
              <a:buSzPts val="1800"/>
              <a:buAutoNum type="arabicPeriod"/>
            </a:pPr>
            <a:r>
              <a:rPr lang="es-ES" b="0" u="none"/>
              <a:t>Structure</a:t>
            </a:r>
            <a:endParaRPr b="0" u="none"/>
          </a:p>
          <a:p>
            <a:pPr marL="342900" lvl="0" indent="-330200" algn="l" rtl="0">
              <a:lnSpc>
                <a:spcPct val="150000"/>
              </a:lnSpc>
              <a:spcBef>
                <a:spcPts val="400"/>
              </a:spcBef>
              <a:spcAft>
                <a:spcPts val="0"/>
              </a:spcAft>
              <a:buSzPts val="1800"/>
              <a:buAutoNum type="arabicPeriod"/>
            </a:pPr>
            <a:r>
              <a:rPr lang="es-ES" b="0" u="none"/>
              <a:t>Comparison with Windows</a:t>
            </a:r>
            <a:endParaRPr b="0" u="none"/>
          </a:p>
          <a:p>
            <a:pPr marL="342900" lvl="0" indent="-330200" algn="l" rtl="0">
              <a:lnSpc>
                <a:spcPct val="150000"/>
              </a:lnSpc>
              <a:spcBef>
                <a:spcPts val="400"/>
              </a:spcBef>
              <a:spcAft>
                <a:spcPts val="0"/>
              </a:spcAft>
              <a:buSzPts val="1800"/>
              <a:buAutoNum type="arabicPeriod"/>
            </a:pPr>
            <a:r>
              <a:rPr lang="es-ES" b="0" u="none"/>
              <a:t>Paths</a:t>
            </a:r>
            <a:endParaRPr b="0" u="none"/>
          </a:p>
        </p:txBody>
      </p:sp>
      <p:sp>
        <p:nvSpPr>
          <p:cNvPr id="435" name="Google Shape;435;g370c1eac3df_0_9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34</a:t>
            </a:fld>
            <a:endParaRPr/>
          </a:p>
        </p:txBody>
      </p:sp>
      <p:sp>
        <p:nvSpPr>
          <p:cNvPr id="436" name="Google Shape;436;g370c1eac3df_0_91"/>
          <p:cNvSpPr/>
          <p:nvPr/>
        </p:nvSpPr>
        <p:spPr>
          <a:xfrm>
            <a:off x="457200" y="3490809"/>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28"/>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2.4. Linux File System Paths</a:t>
            </a:r>
            <a:endParaRPr/>
          </a:p>
        </p:txBody>
      </p:sp>
      <p:sp>
        <p:nvSpPr>
          <p:cNvPr id="443" name="Google Shape;443;p28"/>
          <p:cNvSpPr txBox="1">
            <a:spLocks noGrp="1"/>
          </p:cNvSpPr>
          <p:nvPr>
            <p:ph type="body" idx="1"/>
          </p:nvPr>
        </p:nvSpPr>
        <p:spPr>
          <a:xfrm>
            <a:off x="457200" y="1916824"/>
            <a:ext cx="8229600" cy="45990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lnSpc>
                <a:spcPct val="100000"/>
              </a:lnSpc>
              <a:spcBef>
                <a:spcPts val="0"/>
              </a:spcBef>
              <a:spcAft>
                <a:spcPts val="0"/>
              </a:spcAft>
              <a:buClr>
                <a:schemeClr val="dk1"/>
              </a:buClr>
              <a:buSzPct val="100000"/>
              <a:buChar char="•"/>
            </a:pPr>
            <a:r>
              <a:rPr lang="es-ES" b="0" u="none"/>
              <a:t>PATH:</a:t>
            </a:r>
            <a:endParaRPr/>
          </a:p>
          <a:p>
            <a:pPr marL="742950" lvl="1" indent="-285750" algn="l" rtl="0">
              <a:lnSpc>
                <a:spcPct val="100000"/>
              </a:lnSpc>
              <a:spcBef>
                <a:spcPts val="340"/>
              </a:spcBef>
              <a:spcAft>
                <a:spcPts val="0"/>
              </a:spcAft>
              <a:buClr>
                <a:schemeClr val="dk1"/>
              </a:buClr>
              <a:buSzPct val="100000"/>
              <a:buChar char="–"/>
            </a:pPr>
            <a:r>
              <a:rPr lang="es-ES" b="1" u="none"/>
              <a:t>Absolute path:</a:t>
            </a:r>
            <a:endParaRPr b="1"/>
          </a:p>
          <a:p>
            <a:pPr marL="1143000" lvl="2" indent="-228600" algn="l" rtl="0">
              <a:lnSpc>
                <a:spcPct val="100000"/>
              </a:lnSpc>
              <a:spcBef>
                <a:spcPts val="340"/>
              </a:spcBef>
              <a:spcAft>
                <a:spcPts val="0"/>
              </a:spcAft>
              <a:buClr>
                <a:schemeClr val="dk1"/>
              </a:buClr>
              <a:buSzPct val="100000"/>
              <a:buChar char="•"/>
            </a:pPr>
            <a:r>
              <a:rPr lang="es-ES"/>
              <a:t>L</a:t>
            </a:r>
            <a:r>
              <a:rPr lang="es-ES" b="0" u="none"/>
              <a:t>ocation of a file or directory </a:t>
            </a:r>
            <a:r>
              <a:rPr lang="es-ES" u="none"/>
              <a:t>from the root directory (/)</a:t>
            </a:r>
            <a:r>
              <a:rPr lang="es-ES" b="0" u="none"/>
              <a:t>.</a:t>
            </a:r>
            <a:endParaRPr/>
          </a:p>
          <a:p>
            <a:pPr marL="1143000" lvl="2" indent="-228600" algn="l" rtl="0">
              <a:lnSpc>
                <a:spcPct val="100000"/>
              </a:lnSpc>
              <a:spcBef>
                <a:spcPts val="340"/>
              </a:spcBef>
              <a:spcAft>
                <a:spcPts val="0"/>
              </a:spcAft>
              <a:buClr>
                <a:schemeClr val="dk1"/>
              </a:buClr>
              <a:buSzPct val="100000"/>
              <a:buChar char="•"/>
            </a:pPr>
            <a:r>
              <a:rPr lang="es-ES" u="none"/>
              <a:t>Static</a:t>
            </a:r>
            <a:r>
              <a:rPr lang="es-ES" b="0" u="none"/>
              <a:t>.</a:t>
            </a:r>
            <a:endParaRPr/>
          </a:p>
          <a:p>
            <a:pPr marL="1143000" lvl="2" indent="-228600" algn="l" rtl="0">
              <a:lnSpc>
                <a:spcPct val="100000"/>
              </a:lnSpc>
              <a:spcBef>
                <a:spcPts val="340"/>
              </a:spcBef>
              <a:spcAft>
                <a:spcPts val="0"/>
              </a:spcAft>
              <a:buClr>
                <a:schemeClr val="dk1"/>
              </a:buClr>
              <a:buSzPct val="100000"/>
              <a:buChar char="•"/>
            </a:pPr>
            <a:r>
              <a:rPr lang="es-ES"/>
              <a:t>Ej: /home/alumno1/dir1/book.txt</a:t>
            </a:r>
            <a:endParaRPr/>
          </a:p>
          <a:p>
            <a:pPr marL="742950" lvl="1" indent="-285750" algn="l" rtl="0">
              <a:lnSpc>
                <a:spcPct val="100000"/>
              </a:lnSpc>
              <a:spcBef>
                <a:spcPts val="340"/>
              </a:spcBef>
              <a:spcAft>
                <a:spcPts val="0"/>
              </a:spcAft>
              <a:buClr>
                <a:schemeClr val="dk1"/>
              </a:buClr>
              <a:buSzPct val="100000"/>
              <a:buChar char="–"/>
            </a:pPr>
            <a:r>
              <a:rPr lang="es-ES" b="1" u="none"/>
              <a:t>Relative path</a:t>
            </a:r>
            <a:r>
              <a:rPr lang="es-ES" b="0" u="none"/>
              <a:t>:</a:t>
            </a:r>
            <a:endParaRPr/>
          </a:p>
          <a:p>
            <a:pPr marL="1143000" lvl="2" indent="-228600" algn="l" rtl="0">
              <a:lnSpc>
                <a:spcPct val="100000"/>
              </a:lnSpc>
              <a:spcBef>
                <a:spcPts val="340"/>
              </a:spcBef>
              <a:spcAft>
                <a:spcPts val="0"/>
              </a:spcAft>
              <a:buClr>
                <a:schemeClr val="dk1"/>
              </a:buClr>
              <a:buSzPct val="100000"/>
              <a:buChar char="•"/>
            </a:pPr>
            <a:r>
              <a:rPr lang="es-ES" b="0" u="none"/>
              <a:t>Path related to the </a:t>
            </a:r>
            <a:r>
              <a:rPr lang="es-ES" u="none"/>
              <a:t>present working directory (pwd)</a:t>
            </a:r>
            <a:r>
              <a:rPr lang="es-ES" b="0" u="none"/>
              <a:t>.</a:t>
            </a:r>
            <a:endParaRPr/>
          </a:p>
          <a:p>
            <a:pPr marL="1143000" lvl="2" indent="-228600" algn="l" rtl="0">
              <a:lnSpc>
                <a:spcPct val="100000"/>
              </a:lnSpc>
              <a:spcBef>
                <a:spcPts val="340"/>
              </a:spcBef>
              <a:spcAft>
                <a:spcPts val="0"/>
              </a:spcAft>
              <a:buClr>
                <a:schemeClr val="dk1"/>
              </a:buClr>
              <a:buSzPct val="100000"/>
              <a:buChar char="•"/>
            </a:pPr>
            <a:r>
              <a:rPr lang="es-ES" b="0" u="none"/>
              <a:t>Variable</a:t>
            </a:r>
            <a:endParaRPr/>
          </a:p>
          <a:p>
            <a:pPr marL="1143000" lvl="2" indent="-228600" algn="l" rtl="0">
              <a:lnSpc>
                <a:spcPct val="100000"/>
              </a:lnSpc>
              <a:spcBef>
                <a:spcPts val="340"/>
              </a:spcBef>
              <a:spcAft>
                <a:spcPts val="0"/>
              </a:spcAft>
              <a:buClr>
                <a:schemeClr val="dk1"/>
              </a:buClr>
              <a:buSzPct val="100000"/>
              <a:buChar char="•"/>
            </a:pPr>
            <a:r>
              <a:rPr lang="es-ES" b="0" u="none"/>
              <a:t>Actual pwd = “.”</a:t>
            </a:r>
            <a:endParaRPr/>
          </a:p>
          <a:p>
            <a:pPr marL="1143000" lvl="2" indent="-228600" algn="l" rtl="0">
              <a:lnSpc>
                <a:spcPct val="100000"/>
              </a:lnSpc>
              <a:spcBef>
                <a:spcPts val="340"/>
              </a:spcBef>
              <a:spcAft>
                <a:spcPts val="0"/>
              </a:spcAft>
              <a:buClr>
                <a:schemeClr val="dk1"/>
              </a:buClr>
              <a:buSzPct val="100000"/>
              <a:buChar char="•"/>
            </a:pPr>
            <a:r>
              <a:rPr lang="es-ES" b="0" u="none"/>
              <a:t>Parent directory = “..”</a:t>
            </a:r>
            <a:endParaRPr/>
          </a:p>
          <a:p>
            <a:pPr marL="1143000" lvl="2" indent="-228600" algn="l" rtl="0">
              <a:lnSpc>
                <a:spcPct val="100000"/>
              </a:lnSpc>
              <a:spcBef>
                <a:spcPts val="340"/>
              </a:spcBef>
              <a:spcAft>
                <a:spcPts val="0"/>
              </a:spcAft>
              <a:buClr>
                <a:schemeClr val="dk1"/>
              </a:buClr>
              <a:buSzPct val="100000"/>
              <a:buChar char="•"/>
            </a:pPr>
            <a:r>
              <a:rPr lang="es-ES" b="0" u="none"/>
              <a:t>Ej:Path to book.txt</a:t>
            </a:r>
            <a:endParaRPr/>
          </a:p>
          <a:p>
            <a:pPr marL="1600200" lvl="3" indent="-228600" algn="l" rtl="0">
              <a:lnSpc>
                <a:spcPct val="100000"/>
              </a:lnSpc>
              <a:spcBef>
                <a:spcPts val="340"/>
              </a:spcBef>
              <a:spcAft>
                <a:spcPts val="0"/>
              </a:spcAft>
              <a:buClr>
                <a:schemeClr val="dk1"/>
              </a:buClr>
              <a:buSzPct val="100000"/>
              <a:buChar char="–"/>
            </a:pPr>
            <a:r>
              <a:rPr lang="es-ES"/>
              <a:t>From /home: </a:t>
            </a:r>
            <a:r>
              <a:rPr lang="es-ES" b="0" u="none"/>
              <a:t>./alumno1/</a:t>
            </a:r>
            <a:r>
              <a:rPr lang="es-ES"/>
              <a:t>dir1/book.txt</a:t>
            </a:r>
            <a:endParaRPr/>
          </a:p>
          <a:p>
            <a:pPr marL="1600200" lvl="3" indent="-228600" algn="l" rtl="0">
              <a:lnSpc>
                <a:spcPct val="100000"/>
              </a:lnSpc>
              <a:spcBef>
                <a:spcPts val="340"/>
              </a:spcBef>
              <a:spcAft>
                <a:spcPts val="0"/>
              </a:spcAft>
              <a:buClr>
                <a:schemeClr val="dk1"/>
              </a:buClr>
              <a:buSzPct val="100000"/>
              <a:buChar char="–"/>
            </a:pPr>
            <a:r>
              <a:rPr lang="es-ES"/>
              <a:t>From /home/alumno1: </a:t>
            </a:r>
            <a:r>
              <a:rPr lang="es-ES" b="0" u="none"/>
              <a:t>dir1/book.txt </a:t>
            </a:r>
            <a:endParaRPr/>
          </a:p>
          <a:p>
            <a:pPr marL="1600200" lvl="3" indent="-228600" algn="l" rtl="0">
              <a:lnSpc>
                <a:spcPct val="100000"/>
              </a:lnSpc>
              <a:spcBef>
                <a:spcPts val="340"/>
              </a:spcBef>
              <a:spcAft>
                <a:spcPts val="0"/>
              </a:spcAft>
              <a:buClr>
                <a:schemeClr val="dk1"/>
              </a:buClr>
              <a:buSzPct val="100000"/>
              <a:buChar char="–"/>
            </a:pPr>
            <a:r>
              <a:rPr lang="es-ES"/>
              <a:t>From /home/alumno1/dir1: </a:t>
            </a:r>
            <a:r>
              <a:rPr lang="es-ES" b="0" u="none"/>
              <a:t>book.txt</a:t>
            </a:r>
            <a:endParaRPr/>
          </a:p>
          <a:p>
            <a:pPr marL="0" lvl="0" indent="0" algn="l" rtl="0">
              <a:lnSpc>
                <a:spcPct val="100000"/>
              </a:lnSpc>
              <a:spcBef>
                <a:spcPts val="340"/>
              </a:spcBef>
              <a:spcAft>
                <a:spcPts val="0"/>
              </a:spcAft>
              <a:buClr>
                <a:schemeClr val="dk1"/>
              </a:buClr>
              <a:buSzPct val="100000"/>
              <a:buNone/>
            </a:pPr>
            <a:endParaRPr b="0" u="none"/>
          </a:p>
          <a:p>
            <a:pPr marL="0" lvl="0" indent="0" algn="l" rtl="0">
              <a:lnSpc>
                <a:spcPct val="100000"/>
              </a:lnSpc>
              <a:spcBef>
                <a:spcPts val="340"/>
              </a:spcBef>
              <a:spcAft>
                <a:spcPts val="0"/>
              </a:spcAft>
              <a:buClr>
                <a:schemeClr val="dk1"/>
              </a:buClr>
              <a:buSzPct val="100000"/>
              <a:buNone/>
            </a:pPr>
            <a:endParaRPr b="0" u="none"/>
          </a:p>
          <a:p>
            <a:pPr marL="0" lvl="0" indent="0" algn="l" rtl="0">
              <a:lnSpc>
                <a:spcPct val="100000"/>
              </a:lnSpc>
              <a:spcBef>
                <a:spcPts val="340"/>
              </a:spcBef>
              <a:spcAft>
                <a:spcPts val="0"/>
              </a:spcAft>
              <a:buClr>
                <a:schemeClr val="dk1"/>
              </a:buClr>
              <a:buSzPct val="100000"/>
              <a:buNone/>
            </a:pPr>
            <a:endParaRPr b="0" u="none"/>
          </a:p>
        </p:txBody>
      </p:sp>
      <p:sp>
        <p:nvSpPr>
          <p:cNvPr id="444" name="Google Shape;444;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2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p>
            <a:pPr marL="355600" lvl="0" indent="-342900" algn="l" rtl="0">
              <a:lnSpc>
                <a:spcPct val="100000"/>
              </a:lnSpc>
              <a:spcBef>
                <a:spcPts val="0"/>
              </a:spcBef>
              <a:spcAft>
                <a:spcPts val="0"/>
              </a:spcAft>
              <a:buClr>
                <a:schemeClr val="dk1"/>
              </a:buClr>
              <a:buSzPts val="1800"/>
              <a:buFont typeface="Arial"/>
              <a:buChar char="•"/>
            </a:pPr>
            <a:r>
              <a:rPr lang="es-ES" sz="1800" b="0" u="none"/>
              <a:t>Example</a:t>
            </a:r>
            <a:endParaRPr sz="1800" b="0" u="none"/>
          </a:p>
          <a:p>
            <a:pPr marL="698500" lvl="1" indent="-342900" algn="l" rtl="0">
              <a:lnSpc>
                <a:spcPct val="100000"/>
              </a:lnSpc>
              <a:spcBef>
                <a:spcPts val="320"/>
              </a:spcBef>
              <a:spcAft>
                <a:spcPts val="0"/>
              </a:spcAft>
              <a:buClr>
                <a:schemeClr val="dk1"/>
              </a:buClr>
              <a:buSzPts val="1600"/>
              <a:buFont typeface="Arial"/>
              <a:buChar char="•"/>
            </a:pPr>
            <a:r>
              <a:rPr lang="es-ES" sz="1600" b="1"/>
              <a:t>../../</a:t>
            </a:r>
            <a:r>
              <a:rPr lang="es-ES" sz="1600"/>
              <a:t> To go </a:t>
            </a:r>
            <a:r>
              <a:rPr lang="es-ES" sz="1600" i="1"/>
              <a:t>home</a:t>
            </a:r>
            <a:r>
              <a:rPr lang="es-ES" sz="1600"/>
              <a:t> from </a:t>
            </a:r>
            <a:r>
              <a:rPr lang="es-ES" sz="1600" i="1"/>
              <a:t>Dir1</a:t>
            </a:r>
            <a:r>
              <a:rPr lang="es-ES" sz="1600"/>
              <a:t> or </a:t>
            </a:r>
            <a:r>
              <a:rPr lang="es-ES" sz="1600" i="1"/>
              <a:t>Dir2</a:t>
            </a:r>
            <a:endParaRPr/>
          </a:p>
          <a:p>
            <a:pPr marL="698500" lvl="1" indent="-342900" algn="l" rtl="0">
              <a:lnSpc>
                <a:spcPct val="100000"/>
              </a:lnSpc>
              <a:spcBef>
                <a:spcPts val="320"/>
              </a:spcBef>
              <a:spcAft>
                <a:spcPts val="0"/>
              </a:spcAft>
              <a:buClr>
                <a:schemeClr val="dk1"/>
              </a:buClr>
              <a:buSzPts val="1600"/>
              <a:buFont typeface="Arial"/>
              <a:buChar char="•"/>
            </a:pPr>
            <a:r>
              <a:rPr lang="es-ES" sz="1600" b="1"/>
              <a:t>../../alumno2 </a:t>
            </a:r>
            <a:r>
              <a:rPr lang="es-ES" sz="1600"/>
              <a:t>To go </a:t>
            </a:r>
            <a:r>
              <a:rPr lang="es-ES" sz="1600" i="1"/>
              <a:t>alumno2</a:t>
            </a:r>
            <a:r>
              <a:rPr lang="es-ES" sz="1600"/>
              <a:t> from </a:t>
            </a:r>
            <a:r>
              <a:rPr lang="es-ES" sz="1600" i="1"/>
              <a:t>Dir1</a:t>
            </a:r>
            <a:r>
              <a:rPr lang="es-ES" sz="1600"/>
              <a:t> o </a:t>
            </a:r>
            <a:r>
              <a:rPr lang="es-ES" sz="1600" i="1"/>
              <a:t>Dir2</a:t>
            </a:r>
            <a:r>
              <a:rPr lang="es-ES" sz="1600"/>
              <a:t>.</a:t>
            </a:r>
            <a:endParaRPr/>
          </a:p>
          <a:p>
            <a:pPr marL="698500" lvl="1" indent="-342900" algn="l" rtl="0">
              <a:lnSpc>
                <a:spcPct val="100000"/>
              </a:lnSpc>
              <a:spcBef>
                <a:spcPts val="320"/>
              </a:spcBef>
              <a:spcAft>
                <a:spcPts val="0"/>
              </a:spcAft>
              <a:buClr>
                <a:schemeClr val="dk1"/>
              </a:buClr>
              <a:buSzPts val="1600"/>
              <a:buFont typeface="Arial"/>
              <a:buChar char="•"/>
            </a:pPr>
            <a:r>
              <a:rPr lang="es-ES" sz="1600" b="1"/>
              <a:t>../Dir2 </a:t>
            </a:r>
            <a:r>
              <a:rPr lang="es-ES" sz="1600"/>
              <a:t>To go from </a:t>
            </a:r>
            <a:r>
              <a:rPr lang="es-ES" sz="1600" i="1"/>
              <a:t>Dir1</a:t>
            </a:r>
            <a:r>
              <a:rPr lang="es-ES" sz="1600"/>
              <a:t> to </a:t>
            </a:r>
            <a:r>
              <a:rPr lang="es-ES" sz="1600" i="1"/>
              <a:t>Dir2</a:t>
            </a:r>
            <a:r>
              <a:rPr lang="es-ES" sz="1600"/>
              <a:t>.</a:t>
            </a:r>
            <a:endParaRPr sz="1600"/>
          </a:p>
          <a:p>
            <a:pPr marL="342900" lvl="0" indent="-165100" algn="l" rtl="0">
              <a:lnSpc>
                <a:spcPct val="100000"/>
              </a:lnSpc>
              <a:spcBef>
                <a:spcPts val="560"/>
              </a:spcBef>
              <a:spcAft>
                <a:spcPts val="0"/>
              </a:spcAft>
              <a:buClr>
                <a:schemeClr val="dk1"/>
              </a:buClr>
              <a:buSzPts val="2800"/>
              <a:buNone/>
            </a:pPr>
            <a:endParaRPr/>
          </a:p>
        </p:txBody>
      </p:sp>
      <p:sp>
        <p:nvSpPr>
          <p:cNvPr id="450" name="Google Shape;450;p29"/>
          <p:cNvSpPr txBox="1">
            <a:spLocks noGrp="1"/>
          </p:cNvSpPr>
          <p:nvPr>
            <p:ph type="body" idx="2"/>
          </p:nvPr>
        </p:nvSpPr>
        <p:spPr>
          <a:xfrm>
            <a:off x="4648200" y="1600200"/>
            <a:ext cx="4038600" cy="4526100"/>
          </a:xfrm>
          <a:prstGeom prst="rect">
            <a:avLst/>
          </a:prstGeom>
          <a:blipFill rotWithShape="1">
            <a:blip r:embed="rId3">
              <a:alphaModFix/>
            </a:blip>
            <a:stretch>
              <a:fillRect/>
            </a:stretch>
          </a:blip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1"/>
              </a:buClr>
              <a:buSzPts val="2800"/>
              <a:buNone/>
            </a:pPr>
            <a:endParaRPr/>
          </a:p>
        </p:txBody>
      </p:sp>
      <p:sp>
        <p:nvSpPr>
          <p:cNvPr id="451" name="Google Shape;45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36</a:t>
            </a:fld>
            <a:endParaRPr/>
          </a:p>
        </p:txBody>
      </p:sp>
      <p:sp>
        <p:nvSpPr>
          <p:cNvPr id="452" name="Google Shape;452;p29"/>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2.4. Linux File System Paths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37</a:t>
            </a:fld>
            <a:endParaRPr/>
          </a:p>
        </p:txBody>
      </p:sp>
      <p:pic>
        <p:nvPicPr>
          <p:cNvPr id="458" name="Google Shape;458;p30"/>
          <p:cNvPicPr preferRelativeResize="0"/>
          <p:nvPr/>
        </p:nvPicPr>
        <p:blipFill rotWithShape="1">
          <a:blip r:embed="rId3">
            <a:alphaModFix/>
          </a:blip>
          <a:srcRect/>
          <a:stretch/>
        </p:blipFill>
        <p:spPr>
          <a:xfrm>
            <a:off x="3778759" y="1847059"/>
            <a:ext cx="3889585" cy="4352921"/>
          </a:xfrm>
          <a:prstGeom prst="rect">
            <a:avLst/>
          </a:prstGeom>
          <a:noFill/>
          <a:ln>
            <a:noFill/>
          </a:ln>
        </p:spPr>
      </p:pic>
      <p:sp>
        <p:nvSpPr>
          <p:cNvPr id="459" name="Google Shape;459;p30"/>
          <p:cNvSpPr/>
          <p:nvPr/>
        </p:nvSpPr>
        <p:spPr>
          <a:xfrm>
            <a:off x="4060304" y="3581400"/>
            <a:ext cx="1447800" cy="68580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0" name="Google Shape;460;p30"/>
          <p:cNvSpPr txBox="1"/>
          <p:nvPr/>
        </p:nvSpPr>
        <p:spPr>
          <a:xfrm>
            <a:off x="826431" y="2278613"/>
            <a:ext cx="388958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Which is the absolute path to Libro.txt? </a:t>
            </a:r>
            <a:endParaRPr sz="1400" b="0" i="0" u="none" strike="noStrike" cap="none">
              <a:solidFill>
                <a:srgbClr val="000000"/>
              </a:solidFill>
              <a:latin typeface="Arial"/>
              <a:ea typeface="Arial"/>
              <a:cs typeface="Arial"/>
              <a:sym typeface="Arial"/>
            </a:endParaRPr>
          </a:p>
        </p:txBody>
      </p:sp>
      <p:sp>
        <p:nvSpPr>
          <p:cNvPr id="461" name="Google Shape;461;p30"/>
          <p:cNvSpPr txBox="1"/>
          <p:nvPr/>
        </p:nvSpPr>
        <p:spPr>
          <a:xfrm>
            <a:off x="2281486" y="3810000"/>
            <a:ext cx="1642442" cy="369332"/>
          </a:xfrm>
          <a:prstGeom prst="rect">
            <a:avLst/>
          </a:prstGeom>
          <a:noFill/>
          <a:ln w="127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We are here -&gt;</a:t>
            </a:r>
            <a:endParaRPr sz="1400" b="0" i="0" u="none" strike="noStrike" cap="none">
              <a:solidFill>
                <a:srgbClr val="000000"/>
              </a:solidFill>
              <a:latin typeface="Arial"/>
              <a:ea typeface="Arial"/>
              <a:cs typeface="Arial"/>
              <a:sym typeface="Arial"/>
            </a:endParaRPr>
          </a:p>
        </p:txBody>
      </p:sp>
      <p:sp>
        <p:nvSpPr>
          <p:cNvPr id="462" name="Google Shape;462;p30"/>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2.4. Linux File System Paths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38</a:t>
            </a:fld>
            <a:endParaRPr/>
          </a:p>
        </p:txBody>
      </p:sp>
      <p:pic>
        <p:nvPicPr>
          <p:cNvPr id="468" name="Google Shape;468;p31"/>
          <p:cNvPicPr preferRelativeResize="0"/>
          <p:nvPr/>
        </p:nvPicPr>
        <p:blipFill rotWithShape="1">
          <a:blip r:embed="rId3">
            <a:alphaModFix/>
          </a:blip>
          <a:srcRect/>
          <a:stretch/>
        </p:blipFill>
        <p:spPr>
          <a:xfrm>
            <a:off x="3778759" y="1847059"/>
            <a:ext cx="3889585" cy="4352921"/>
          </a:xfrm>
          <a:prstGeom prst="rect">
            <a:avLst/>
          </a:prstGeom>
          <a:noFill/>
          <a:ln>
            <a:noFill/>
          </a:ln>
        </p:spPr>
      </p:pic>
      <p:sp>
        <p:nvSpPr>
          <p:cNvPr id="469" name="Google Shape;469;p31"/>
          <p:cNvSpPr/>
          <p:nvPr/>
        </p:nvSpPr>
        <p:spPr>
          <a:xfrm>
            <a:off x="4060304" y="3581400"/>
            <a:ext cx="1447800" cy="68580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 name="Google Shape;470;p31"/>
          <p:cNvSpPr txBox="1"/>
          <p:nvPr/>
        </p:nvSpPr>
        <p:spPr>
          <a:xfrm>
            <a:off x="766949" y="2532823"/>
            <a:ext cx="2381250" cy="369332"/>
          </a:xfrm>
          <a:prstGeom prst="rect">
            <a:avLst/>
          </a:prstGeom>
          <a:noFill/>
          <a:ln w="127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No matter were we are</a:t>
            </a:r>
            <a:endParaRPr sz="1400" b="0" i="0" u="none" strike="noStrike" cap="none">
              <a:solidFill>
                <a:srgbClr val="000000"/>
              </a:solidFill>
              <a:latin typeface="Arial"/>
              <a:ea typeface="Arial"/>
              <a:cs typeface="Arial"/>
              <a:sym typeface="Arial"/>
            </a:endParaRPr>
          </a:p>
        </p:txBody>
      </p:sp>
      <p:sp>
        <p:nvSpPr>
          <p:cNvPr id="471" name="Google Shape;471;p31"/>
          <p:cNvSpPr txBox="1"/>
          <p:nvPr/>
        </p:nvSpPr>
        <p:spPr>
          <a:xfrm>
            <a:off x="344418" y="4314948"/>
            <a:ext cx="33528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Absolute path</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/home/alumno1/Dir1/Libro.txt</a:t>
            </a:r>
            <a:endParaRPr sz="1400" b="0" i="0" u="none" strike="noStrike" cap="none">
              <a:solidFill>
                <a:srgbClr val="000000"/>
              </a:solidFill>
              <a:latin typeface="Arial"/>
              <a:ea typeface="Arial"/>
              <a:cs typeface="Arial"/>
              <a:sym typeface="Arial"/>
            </a:endParaRPr>
          </a:p>
        </p:txBody>
      </p:sp>
      <p:sp>
        <p:nvSpPr>
          <p:cNvPr id="472" name="Google Shape;472;p31"/>
          <p:cNvSpPr/>
          <p:nvPr/>
        </p:nvSpPr>
        <p:spPr>
          <a:xfrm>
            <a:off x="3851920" y="1747319"/>
            <a:ext cx="3003778" cy="4662534"/>
          </a:xfrm>
          <a:custGeom>
            <a:avLst/>
            <a:gdLst/>
            <a:ahLst/>
            <a:cxnLst/>
            <a:rect l="l" t="t" r="r" b="b"/>
            <a:pathLst>
              <a:path w="3003778" h="4662534" extrusionOk="0">
                <a:moveTo>
                  <a:pt x="1463056" y="126748"/>
                </a:moveTo>
                <a:cubicBezTo>
                  <a:pt x="1378557" y="303291"/>
                  <a:pt x="1183031" y="810317"/>
                  <a:pt x="1037543" y="1149790"/>
                </a:cubicBezTo>
                <a:cubicBezTo>
                  <a:pt x="1028971" y="1169792"/>
                  <a:pt x="1008212" y="1183466"/>
                  <a:pt x="1001330" y="1204111"/>
                </a:cubicBezTo>
                <a:cubicBezTo>
                  <a:pt x="988835" y="1241593"/>
                  <a:pt x="997570" y="1223331"/>
                  <a:pt x="974169" y="1258431"/>
                </a:cubicBezTo>
                <a:cubicBezTo>
                  <a:pt x="953782" y="1319595"/>
                  <a:pt x="982056" y="1253298"/>
                  <a:pt x="937955" y="1303699"/>
                </a:cubicBezTo>
                <a:cubicBezTo>
                  <a:pt x="923625" y="1320076"/>
                  <a:pt x="913812" y="1339913"/>
                  <a:pt x="901741" y="1358020"/>
                </a:cubicBezTo>
                <a:cubicBezTo>
                  <a:pt x="895706" y="1367073"/>
                  <a:pt x="892688" y="1379145"/>
                  <a:pt x="883635" y="1385180"/>
                </a:cubicBezTo>
                <a:cubicBezTo>
                  <a:pt x="874581" y="1391216"/>
                  <a:pt x="866206" y="1398421"/>
                  <a:pt x="856474" y="1403287"/>
                </a:cubicBezTo>
                <a:cubicBezTo>
                  <a:pt x="847938" y="1407555"/>
                  <a:pt x="838367" y="1409322"/>
                  <a:pt x="829314" y="1412340"/>
                </a:cubicBezTo>
                <a:cubicBezTo>
                  <a:pt x="820260" y="1421394"/>
                  <a:pt x="812260" y="1431640"/>
                  <a:pt x="802153" y="1439501"/>
                </a:cubicBezTo>
                <a:cubicBezTo>
                  <a:pt x="784976" y="1452861"/>
                  <a:pt x="763221" y="1460327"/>
                  <a:pt x="747833" y="1475715"/>
                </a:cubicBezTo>
                <a:cubicBezTo>
                  <a:pt x="713924" y="1509623"/>
                  <a:pt x="732818" y="1498826"/>
                  <a:pt x="693512" y="1511929"/>
                </a:cubicBezTo>
                <a:cubicBezTo>
                  <a:pt x="614152" y="1591286"/>
                  <a:pt x="714826" y="1494167"/>
                  <a:pt x="639191" y="1557196"/>
                </a:cubicBezTo>
                <a:cubicBezTo>
                  <a:pt x="554100" y="1628106"/>
                  <a:pt x="694994" y="1529048"/>
                  <a:pt x="557710" y="1620570"/>
                </a:cubicBezTo>
                <a:cubicBezTo>
                  <a:pt x="548656" y="1626606"/>
                  <a:pt x="541418" y="1638159"/>
                  <a:pt x="530549" y="1638677"/>
                </a:cubicBezTo>
                <a:lnTo>
                  <a:pt x="340427" y="1647731"/>
                </a:lnTo>
                <a:cubicBezTo>
                  <a:pt x="331373" y="1650749"/>
                  <a:pt x="321802" y="1652516"/>
                  <a:pt x="313266" y="1656784"/>
                </a:cubicBezTo>
                <a:cubicBezTo>
                  <a:pt x="243064" y="1691884"/>
                  <a:pt x="327216" y="1661189"/>
                  <a:pt x="258945" y="1683944"/>
                </a:cubicBezTo>
                <a:cubicBezTo>
                  <a:pt x="249892" y="1689980"/>
                  <a:pt x="241517" y="1697185"/>
                  <a:pt x="231785" y="1702051"/>
                </a:cubicBezTo>
                <a:cubicBezTo>
                  <a:pt x="223249" y="1706319"/>
                  <a:pt x="212565" y="1705811"/>
                  <a:pt x="204625" y="1711105"/>
                </a:cubicBezTo>
                <a:cubicBezTo>
                  <a:pt x="193972" y="1718207"/>
                  <a:pt x="187571" y="1730404"/>
                  <a:pt x="177464" y="1738265"/>
                </a:cubicBezTo>
                <a:cubicBezTo>
                  <a:pt x="160286" y="1751625"/>
                  <a:pt x="123143" y="1774479"/>
                  <a:pt x="123143" y="1774479"/>
                </a:cubicBezTo>
                <a:cubicBezTo>
                  <a:pt x="111072" y="1792586"/>
                  <a:pt x="93812" y="1808155"/>
                  <a:pt x="86930" y="1828800"/>
                </a:cubicBezTo>
                <a:cubicBezTo>
                  <a:pt x="74435" y="1866283"/>
                  <a:pt x="83170" y="1848020"/>
                  <a:pt x="59769" y="1883121"/>
                </a:cubicBezTo>
                <a:cubicBezTo>
                  <a:pt x="46574" y="1935901"/>
                  <a:pt x="35109" y="1977034"/>
                  <a:pt x="32609" y="2037030"/>
                </a:cubicBezTo>
                <a:cubicBezTo>
                  <a:pt x="31221" y="2070334"/>
                  <a:pt x="37767" y="2103513"/>
                  <a:pt x="41662" y="2136618"/>
                </a:cubicBezTo>
                <a:cubicBezTo>
                  <a:pt x="43807" y="2154849"/>
                  <a:pt x="44443" y="2173687"/>
                  <a:pt x="50716" y="2190938"/>
                </a:cubicBezTo>
                <a:cubicBezTo>
                  <a:pt x="56730" y="2207475"/>
                  <a:pt x="69330" y="2220823"/>
                  <a:pt x="77876" y="2236206"/>
                </a:cubicBezTo>
                <a:cubicBezTo>
                  <a:pt x="84430" y="2248004"/>
                  <a:pt x="90971" y="2259889"/>
                  <a:pt x="95983" y="2272420"/>
                </a:cubicBezTo>
                <a:cubicBezTo>
                  <a:pt x="114578" y="2318907"/>
                  <a:pt x="111708" y="2321026"/>
                  <a:pt x="123143" y="2362954"/>
                </a:cubicBezTo>
                <a:cubicBezTo>
                  <a:pt x="128924" y="2384150"/>
                  <a:pt x="135214" y="2405204"/>
                  <a:pt x="141250" y="2426329"/>
                </a:cubicBezTo>
                <a:cubicBezTo>
                  <a:pt x="144268" y="2462543"/>
                  <a:pt x="146565" y="2498824"/>
                  <a:pt x="150304" y="2534970"/>
                </a:cubicBezTo>
                <a:cubicBezTo>
                  <a:pt x="155620" y="2586353"/>
                  <a:pt x="167628" y="2637228"/>
                  <a:pt x="168411" y="2688879"/>
                </a:cubicBezTo>
                <a:cubicBezTo>
                  <a:pt x="170652" y="2836766"/>
                  <a:pt x="164934" y="2984700"/>
                  <a:pt x="159357" y="3132499"/>
                </a:cubicBezTo>
                <a:cubicBezTo>
                  <a:pt x="158492" y="3155430"/>
                  <a:pt x="143438" y="3186193"/>
                  <a:pt x="132197" y="3204927"/>
                </a:cubicBezTo>
                <a:cubicBezTo>
                  <a:pt x="121001" y="3223587"/>
                  <a:pt x="95983" y="3259247"/>
                  <a:pt x="95983" y="3259247"/>
                </a:cubicBezTo>
                <a:cubicBezTo>
                  <a:pt x="92965" y="3292443"/>
                  <a:pt x="91644" y="3325837"/>
                  <a:pt x="86930" y="3358835"/>
                </a:cubicBezTo>
                <a:cubicBezTo>
                  <a:pt x="85580" y="3368283"/>
                  <a:pt x="80498" y="3376820"/>
                  <a:pt x="77876" y="3385996"/>
                </a:cubicBezTo>
                <a:cubicBezTo>
                  <a:pt x="74458" y="3397960"/>
                  <a:pt x="70669" y="3409905"/>
                  <a:pt x="68823" y="3422210"/>
                </a:cubicBezTo>
                <a:cubicBezTo>
                  <a:pt x="32801" y="3662363"/>
                  <a:pt x="65322" y="3494042"/>
                  <a:pt x="41662" y="3612332"/>
                </a:cubicBezTo>
                <a:cubicBezTo>
                  <a:pt x="50339" y="3725126"/>
                  <a:pt x="56779" y="3713248"/>
                  <a:pt x="41662" y="3811509"/>
                </a:cubicBezTo>
                <a:cubicBezTo>
                  <a:pt x="39770" y="3823807"/>
                  <a:pt x="37510" y="3836286"/>
                  <a:pt x="32609" y="3847723"/>
                </a:cubicBezTo>
                <a:cubicBezTo>
                  <a:pt x="28323" y="3857724"/>
                  <a:pt x="20538" y="3865830"/>
                  <a:pt x="14502" y="3874883"/>
                </a:cubicBezTo>
                <a:cubicBezTo>
                  <a:pt x="-5774" y="3955982"/>
                  <a:pt x="-3872" y="3933192"/>
                  <a:pt x="14502" y="4074059"/>
                </a:cubicBezTo>
                <a:cubicBezTo>
                  <a:pt x="16604" y="4090174"/>
                  <a:pt x="27055" y="4104054"/>
                  <a:pt x="32609" y="4119327"/>
                </a:cubicBezTo>
                <a:cubicBezTo>
                  <a:pt x="39132" y="4137264"/>
                  <a:pt x="42180" y="4156576"/>
                  <a:pt x="50716" y="4173647"/>
                </a:cubicBezTo>
                <a:cubicBezTo>
                  <a:pt x="56752" y="4185718"/>
                  <a:pt x="63507" y="4197456"/>
                  <a:pt x="68823" y="4209861"/>
                </a:cubicBezTo>
                <a:cubicBezTo>
                  <a:pt x="72582" y="4218633"/>
                  <a:pt x="72017" y="4229489"/>
                  <a:pt x="77876" y="4237022"/>
                </a:cubicBezTo>
                <a:cubicBezTo>
                  <a:pt x="118386" y="4289106"/>
                  <a:pt x="120029" y="4281357"/>
                  <a:pt x="159357" y="4309449"/>
                </a:cubicBezTo>
                <a:cubicBezTo>
                  <a:pt x="207316" y="4343706"/>
                  <a:pt x="178656" y="4330972"/>
                  <a:pt x="222732" y="4345663"/>
                </a:cubicBezTo>
                <a:cubicBezTo>
                  <a:pt x="225750" y="4354717"/>
                  <a:pt x="226491" y="4364883"/>
                  <a:pt x="231785" y="4372824"/>
                </a:cubicBezTo>
                <a:cubicBezTo>
                  <a:pt x="254301" y="4406599"/>
                  <a:pt x="258778" y="4393799"/>
                  <a:pt x="286106" y="4418091"/>
                </a:cubicBezTo>
                <a:cubicBezTo>
                  <a:pt x="305245" y="4435103"/>
                  <a:pt x="316651" y="4462902"/>
                  <a:pt x="340427" y="4472412"/>
                </a:cubicBezTo>
                <a:cubicBezTo>
                  <a:pt x="355516" y="4478448"/>
                  <a:pt x="371158" y="4483251"/>
                  <a:pt x="385694" y="4490519"/>
                </a:cubicBezTo>
                <a:cubicBezTo>
                  <a:pt x="395426" y="4495385"/>
                  <a:pt x="403407" y="4503228"/>
                  <a:pt x="412854" y="4508626"/>
                </a:cubicBezTo>
                <a:cubicBezTo>
                  <a:pt x="424572" y="4515322"/>
                  <a:pt x="437350" y="4520036"/>
                  <a:pt x="449068" y="4526732"/>
                </a:cubicBezTo>
                <a:cubicBezTo>
                  <a:pt x="458516" y="4532130"/>
                  <a:pt x="466782" y="4539440"/>
                  <a:pt x="476229" y="4544839"/>
                </a:cubicBezTo>
                <a:cubicBezTo>
                  <a:pt x="487947" y="4551535"/>
                  <a:pt x="501460" y="4555102"/>
                  <a:pt x="512442" y="4562946"/>
                </a:cubicBezTo>
                <a:cubicBezTo>
                  <a:pt x="539235" y="4582084"/>
                  <a:pt x="538598" y="4602897"/>
                  <a:pt x="575817" y="4608214"/>
                </a:cubicBezTo>
                <a:cubicBezTo>
                  <a:pt x="647765" y="4618492"/>
                  <a:pt x="793100" y="4626321"/>
                  <a:pt x="793100" y="4626321"/>
                </a:cubicBezTo>
                <a:cubicBezTo>
                  <a:pt x="805171" y="4629339"/>
                  <a:pt x="817350" y="4631956"/>
                  <a:pt x="829314" y="4635374"/>
                </a:cubicBezTo>
                <a:cubicBezTo>
                  <a:pt x="838490" y="4637996"/>
                  <a:pt x="847076" y="4642770"/>
                  <a:pt x="856474" y="4644428"/>
                </a:cubicBezTo>
                <a:cubicBezTo>
                  <a:pt x="898503" y="4651845"/>
                  <a:pt x="983223" y="4662534"/>
                  <a:pt x="983223" y="4662534"/>
                </a:cubicBezTo>
                <a:cubicBezTo>
                  <a:pt x="1039443" y="4660372"/>
                  <a:pt x="1203748" y="4660795"/>
                  <a:pt x="1291040" y="4644428"/>
                </a:cubicBezTo>
                <a:cubicBezTo>
                  <a:pt x="1315499" y="4639842"/>
                  <a:pt x="1339325" y="4632357"/>
                  <a:pt x="1363468" y="4626321"/>
                </a:cubicBezTo>
                <a:cubicBezTo>
                  <a:pt x="1378557" y="4617267"/>
                  <a:pt x="1393814" y="4608487"/>
                  <a:pt x="1408736" y="4599160"/>
                </a:cubicBezTo>
                <a:cubicBezTo>
                  <a:pt x="1417963" y="4593393"/>
                  <a:pt x="1426566" y="4586651"/>
                  <a:pt x="1435896" y="4581053"/>
                </a:cubicBezTo>
                <a:cubicBezTo>
                  <a:pt x="1456759" y="4568535"/>
                  <a:pt x="1476561" y="4553573"/>
                  <a:pt x="1499270" y="4544839"/>
                </a:cubicBezTo>
                <a:cubicBezTo>
                  <a:pt x="1516403" y="4538249"/>
                  <a:pt x="1535484" y="4538804"/>
                  <a:pt x="1553591" y="4535786"/>
                </a:cubicBezTo>
                <a:cubicBezTo>
                  <a:pt x="1619756" y="4491675"/>
                  <a:pt x="1536568" y="4545513"/>
                  <a:pt x="1616965" y="4499572"/>
                </a:cubicBezTo>
                <a:cubicBezTo>
                  <a:pt x="1706542" y="4448386"/>
                  <a:pt x="1570905" y="4518075"/>
                  <a:pt x="1680340" y="4463358"/>
                </a:cubicBezTo>
                <a:cubicBezTo>
                  <a:pt x="1705014" y="4426346"/>
                  <a:pt x="1744462" y="4365471"/>
                  <a:pt x="1770874" y="4345663"/>
                </a:cubicBezTo>
                <a:cubicBezTo>
                  <a:pt x="1782945" y="4336610"/>
                  <a:pt x="1796418" y="4329173"/>
                  <a:pt x="1807088" y="4318503"/>
                </a:cubicBezTo>
                <a:cubicBezTo>
                  <a:pt x="1823754" y="4301837"/>
                  <a:pt x="1836696" y="4281798"/>
                  <a:pt x="1852355" y="4264182"/>
                </a:cubicBezTo>
                <a:cubicBezTo>
                  <a:pt x="1860861" y="4254613"/>
                  <a:pt x="1871834" y="4247265"/>
                  <a:pt x="1879516" y="4237022"/>
                </a:cubicBezTo>
                <a:cubicBezTo>
                  <a:pt x="1928655" y="4171503"/>
                  <a:pt x="1881905" y="4208268"/>
                  <a:pt x="1933837" y="4173647"/>
                </a:cubicBezTo>
                <a:cubicBezTo>
                  <a:pt x="1972995" y="4056169"/>
                  <a:pt x="1927620" y="4173210"/>
                  <a:pt x="1979104" y="4083113"/>
                </a:cubicBezTo>
                <a:cubicBezTo>
                  <a:pt x="1983839" y="4074827"/>
                  <a:pt x="1983889" y="4064488"/>
                  <a:pt x="1988157" y="4055952"/>
                </a:cubicBezTo>
                <a:cubicBezTo>
                  <a:pt x="1993023" y="4046220"/>
                  <a:pt x="2000228" y="4037845"/>
                  <a:pt x="2006264" y="4028792"/>
                </a:cubicBezTo>
                <a:cubicBezTo>
                  <a:pt x="2027995" y="3941874"/>
                  <a:pt x="1995896" y="4056371"/>
                  <a:pt x="2051532" y="3929204"/>
                </a:cubicBezTo>
                <a:cubicBezTo>
                  <a:pt x="2063007" y="3902975"/>
                  <a:pt x="2068315" y="3874406"/>
                  <a:pt x="2078692" y="3847723"/>
                </a:cubicBezTo>
                <a:cubicBezTo>
                  <a:pt x="2148843" y="3667332"/>
                  <a:pt x="2095855" y="3823395"/>
                  <a:pt x="2123959" y="3739081"/>
                </a:cubicBezTo>
                <a:cubicBezTo>
                  <a:pt x="2113085" y="3434600"/>
                  <a:pt x="2169113" y="3552699"/>
                  <a:pt x="2024371" y="3376942"/>
                </a:cubicBezTo>
                <a:cubicBezTo>
                  <a:pt x="2012087" y="3362026"/>
                  <a:pt x="2003616" y="3343269"/>
                  <a:pt x="1988157" y="3331675"/>
                </a:cubicBezTo>
                <a:cubicBezTo>
                  <a:pt x="1952183" y="3304695"/>
                  <a:pt x="1898655" y="3262609"/>
                  <a:pt x="1861409" y="3250194"/>
                </a:cubicBezTo>
                <a:lnTo>
                  <a:pt x="1725607" y="3204927"/>
                </a:lnTo>
                <a:cubicBezTo>
                  <a:pt x="1713536" y="3195873"/>
                  <a:pt x="1703182" y="3183894"/>
                  <a:pt x="1689393" y="3177766"/>
                </a:cubicBezTo>
                <a:cubicBezTo>
                  <a:pt x="1675331" y="3171516"/>
                  <a:pt x="1659172" y="3171937"/>
                  <a:pt x="1644126" y="3168713"/>
                </a:cubicBezTo>
                <a:lnTo>
                  <a:pt x="1562644" y="3150606"/>
                </a:lnTo>
                <a:cubicBezTo>
                  <a:pt x="1515928" y="3057169"/>
                  <a:pt x="1576595" y="3188052"/>
                  <a:pt x="1535484" y="3051018"/>
                </a:cubicBezTo>
                <a:cubicBezTo>
                  <a:pt x="1532357" y="3040596"/>
                  <a:pt x="1522776" y="3033304"/>
                  <a:pt x="1517377" y="3023857"/>
                </a:cubicBezTo>
                <a:cubicBezTo>
                  <a:pt x="1471436" y="2943460"/>
                  <a:pt x="1525274" y="3026648"/>
                  <a:pt x="1481163" y="2960483"/>
                </a:cubicBezTo>
                <a:cubicBezTo>
                  <a:pt x="1478145" y="2948412"/>
                  <a:pt x="1479883" y="2933985"/>
                  <a:pt x="1472110" y="2924269"/>
                </a:cubicBezTo>
                <a:cubicBezTo>
                  <a:pt x="1466148" y="2916817"/>
                  <a:pt x="1451697" y="2921964"/>
                  <a:pt x="1444949" y="2915216"/>
                </a:cubicBezTo>
                <a:cubicBezTo>
                  <a:pt x="1438201" y="2908468"/>
                  <a:pt x="1438914" y="2897109"/>
                  <a:pt x="1435896" y="2888055"/>
                </a:cubicBezTo>
                <a:cubicBezTo>
                  <a:pt x="1444949" y="2851841"/>
                  <a:pt x="1436661" y="2805809"/>
                  <a:pt x="1463056" y="2779414"/>
                </a:cubicBezTo>
                <a:cubicBezTo>
                  <a:pt x="1472110" y="2770360"/>
                  <a:pt x="1479024" y="2758471"/>
                  <a:pt x="1490217" y="2752253"/>
                </a:cubicBezTo>
                <a:cubicBezTo>
                  <a:pt x="1506902" y="2742984"/>
                  <a:pt x="1544538" y="2734146"/>
                  <a:pt x="1544538" y="2734146"/>
                </a:cubicBezTo>
                <a:cubicBezTo>
                  <a:pt x="1586893" y="2691791"/>
                  <a:pt x="1554288" y="2718670"/>
                  <a:pt x="1607912" y="2688879"/>
                </a:cubicBezTo>
                <a:cubicBezTo>
                  <a:pt x="1631144" y="2675972"/>
                  <a:pt x="1652874" y="2656891"/>
                  <a:pt x="1680340" y="2652665"/>
                </a:cubicBezTo>
                <a:cubicBezTo>
                  <a:pt x="1710316" y="2648053"/>
                  <a:pt x="1740696" y="2646630"/>
                  <a:pt x="1770874" y="2643612"/>
                </a:cubicBezTo>
                <a:cubicBezTo>
                  <a:pt x="1779928" y="2637576"/>
                  <a:pt x="1791238" y="2634002"/>
                  <a:pt x="1798035" y="2625505"/>
                </a:cubicBezTo>
                <a:cubicBezTo>
                  <a:pt x="1803997" y="2618053"/>
                  <a:pt x="1799636" y="2604306"/>
                  <a:pt x="1807088" y="2598344"/>
                </a:cubicBezTo>
                <a:cubicBezTo>
                  <a:pt x="1816804" y="2590571"/>
                  <a:pt x="1831231" y="2592309"/>
                  <a:pt x="1843302" y="2589291"/>
                </a:cubicBezTo>
                <a:cubicBezTo>
                  <a:pt x="1846320" y="2580238"/>
                  <a:pt x="1848087" y="2570667"/>
                  <a:pt x="1852355" y="2562131"/>
                </a:cubicBezTo>
                <a:cubicBezTo>
                  <a:pt x="1857221" y="2552399"/>
                  <a:pt x="1867599" y="2545468"/>
                  <a:pt x="1870462" y="2534970"/>
                </a:cubicBezTo>
                <a:cubicBezTo>
                  <a:pt x="1876864" y="2511497"/>
                  <a:pt x="1875721" y="2486575"/>
                  <a:pt x="1879516" y="2462542"/>
                </a:cubicBezTo>
                <a:cubicBezTo>
                  <a:pt x="1884778" y="2429215"/>
                  <a:pt x="1891587" y="2396150"/>
                  <a:pt x="1897623" y="2362954"/>
                </a:cubicBezTo>
                <a:cubicBezTo>
                  <a:pt x="1894605" y="2311651"/>
                  <a:pt x="1893222" y="2260226"/>
                  <a:pt x="1888569" y="2209045"/>
                </a:cubicBezTo>
                <a:cubicBezTo>
                  <a:pt x="1887445" y="2196678"/>
                  <a:pt x="1874864" y="2142236"/>
                  <a:pt x="1870462" y="2127564"/>
                </a:cubicBezTo>
                <a:cubicBezTo>
                  <a:pt x="1864977" y="2109283"/>
                  <a:pt x="1857377" y="2091657"/>
                  <a:pt x="1852355" y="2073243"/>
                </a:cubicBezTo>
                <a:cubicBezTo>
                  <a:pt x="1848306" y="2058397"/>
                  <a:pt x="1849017" y="2042263"/>
                  <a:pt x="1843302" y="2027976"/>
                </a:cubicBezTo>
                <a:cubicBezTo>
                  <a:pt x="1828304" y="1990481"/>
                  <a:pt x="1814941" y="1981509"/>
                  <a:pt x="1788981" y="1955548"/>
                </a:cubicBezTo>
                <a:cubicBezTo>
                  <a:pt x="1798034" y="1916316"/>
                  <a:pt x="1798905" y="1874240"/>
                  <a:pt x="1816141" y="1837853"/>
                </a:cubicBezTo>
                <a:cubicBezTo>
                  <a:pt x="1816235" y="1837655"/>
                  <a:pt x="1875466" y="1771469"/>
                  <a:pt x="1897623" y="1765426"/>
                </a:cubicBezTo>
                <a:cubicBezTo>
                  <a:pt x="1921096" y="1759024"/>
                  <a:pt x="1946137" y="1760856"/>
                  <a:pt x="1970050" y="1756372"/>
                </a:cubicBezTo>
                <a:cubicBezTo>
                  <a:pt x="1994509" y="1751786"/>
                  <a:pt x="2018145" y="1743479"/>
                  <a:pt x="2042478" y="1738265"/>
                </a:cubicBezTo>
                <a:cubicBezTo>
                  <a:pt x="2060427" y="1734419"/>
                  <a:pt x="2078692" y="1732230"/>
                  <a:pt x="2096799" y="1729212"/>
                </a:cubicBezTo>
                <a:cubicBezTo>
                  <a:pt x="2114906" y="1723176"/>
                  <a:pt x="2132706" y="1716127"/>
                  <a:pt x="2151120" y="1711105"/>
                </a:cubicBezTo>
                <a:cubicBezTo>
                  <a:pt x="2165966" y="1707056"/>
                  <a:pt x="2181042" y="1703202"/>
                  <a:pt x="2196387" y="1702051"/>
                </a:cubicBezTo>
                <a:cubicBezTo>
                  <a:pt x="2301887" y="1694138"/>
                  <a:pt x="2407816" y="1692587"/>
                  <a:pt x="2513258" y="1683944"/>
                </a:cubicBezTo>
                <a:cubicBezTo>
                  <a:pt x="2591978" y="1677492"/>
                  <a:pt x="2670458" y="1667953"/>
                  <a:pt x="2748648" y="1656784"/>
                </a:cubicBezTo>
                <a:cubicBezTo>
                  <a:pt x="2827256" y="1645555"/>
                  <a:pt x="2791098" y="1651916"/>
                  <a:pt x="2857290" y="1638677"/>
                </a:cubicBezTo>
                <a:cubicBezTo>
                  <a:pt x="2954248" y="1541719"/>
                  <a:pt x="2804522" y="1688884"/>
                  <a:pt x="2920664" y="1584356"/>
                </a:cubicBezTo>
                <a:cubicBezTo>
                  <a:pt x="2972343" y="1537845"/>
                  <a:pt x="2965172" y="1544754"/>
                  <a:pt x="2993092" y="1502875"/>
                </a:cubicBezTo>
                <a:cubicBezTo>
                  <a:pt x="3003029" y="1403503"/>
                  <a:pt x="3011093" y="1370940"/>
                  <a:pt x="2993092" y="1258431"/>
                </a:cubicBezTo>
                <a:cubicBezTo>
                  <a:pt x="2989018" y="1232971"/>
                  <a:pt x="2974744" y="1210236"/>
                  <a:pt x="2965932" y="1186004"/>
                </a:cubicBezTo>
                <a:cubicBezTo>
                  <a:pt x="2962671" y="1177035"/>
                  <a:pt x="2961513" y="1167185"/>
                  <a:pt x="2956878" y="1158843"/>
                </a:cubicBezTo>
                <a:cubicBezTo>
                  <a:pt x="2946309" y="1139820"/>
                  <a:pt x="2928305" y="1124899"/>
                  <a:pt x="2920664" y="1104523"/>
                </a:cubicBezTo>
                <a:cubicBezTo>
                  <a:pt x="2911611" y="1080380"/>
                  <a:pt x="2902176" y="1056377"/>
                  <a:pt x="2893504" y="1032095"/>
                </a:cubicBezTo>
                <a:cubicBezTo>
                  <a:pt x="2887085" y="1014120"/>
                  <a:pt x="2883933" y="994845"/>
                  <a:pt x="2875397" y="977774"/>
                </a:cubicBezTo>
                <a:cubicBezTo>
                  <a:pt x="2853022" y="933024"/>
                  <a:pt x="2861558" y="954364"/>
                  <a:pt x="2848237" y="914400"/>
                </a:cubicBezTo>
                <a:cubicBezTo>
                  <a:pt x="2842201" y="869133"/>
                  <a:pt x="2840037" y="823178"/>
                  <a:pt x="2830130" y="778598"/>
                </a:cubicBezTo>
                <a:cubicBezTo>
                  <a:pt x="2827770" y="767976"/>
                  <a:pt x="2816889" y="761169"/>
                  <a:pt x="2812023" y="751437"/>
                </a:cubicBezTo>
                <a:cubicBezTo>
                  <a:pt x="2807755" y="742901"/>
                  <a:pt x="2807237" y="732813"/>
                  <a:pt x="2802969" y="724277"/>
                </a:cubicBezTo>
                <a:cubicBezTo>
                  <a:pt x="2798103" y="714545"/>
                  <a:pt x="2790260" y="706564"/>
                  <a:pt x="2784862" y="697117"/>
                </a:cubicBezTo>
                <a:cubicBezTo>
                  <a:pt x="2746466" y="629925"/>
                  <a:pt x="2787447" y="693233"/>
                  <a:pt x="2748648" y="615635"/>
                </a:cubicBezTo>
                <a:cubicBezTo>
                  <a:pt x="2743534" y="605406"/>
                  <a:pt x="2714155" y="557574"/>
                  <a:pt x="2703381" y="543208"/>
                </a:cubicBezTo>
                <a:cubicBezTo>
                  <a:pt x="2691787" y="527749"/>
                  <a:pt x="2679238" y="513029"/>
                  <a:pt x="2667167" y="497940"/>
                </a:cubicBezTo>
                <a:cubicBezTo>
                  <a:pt x="2664149" y="488887"/>
                  <a:pt x="2661873" y="479551"/>
                  <a:pt x="2658114" y="470780"/>
                </a:cubicBezTo>
                <a:cubicBezTo>
                  <a:pt x="2644330" y="438618"/>
                  <a:pt x="2640085" y="434683"/>
                  <a:pt x="2621900" y="407406"/>
                </a:cubicBezTo>
                <a:cubicBezTo>
                  <a:pt x="2605808" y="343041"/>
                  <a:pt x="2623595" y="396932"/>
                  <a:pt x="2594740" y="344031"/>
                </a:cubicBezTo>
                <a:cubicBezTo>
                  <a:pt x="2581815" y="320335"/>
                  <a:pt x="2580985" y="286576"/>
                  <a:pt x="2558526" y="271604"/>
                </a:cubicBezTo>
                <a:cubicBezTo>
                  <a:pt x="2506508" y="236926"/>
                  <a:pt x="2539059" y="261191"/>
                  <a:pt x="2467991" y="190123"/>
                </a:cubicBezTo>
                <a:cubicBezTo>
                  <a:pt x="2455920" y="178052"/>
                  <a:pt x="2439412" y="169178"/>
                  <a:pt x="2431777" y="153909"/>
                </a:cubicBezTo>
                <a:cubicBezTo>
                  <a:pt x="2425741" y="141838"/>
                  <a:pt x="2422557" y="127852"/>
                  <a:pt x="2413670" y="117695"/>
                </a:cubicBezTo>
                <a:cubicBezTo>
                  <a:pt x="2400945" y="103153"/>
                  <a:pt x="2382067" y="95145"/>
                  <a:pt x="2368403" y="81481"/>
                </a:cubicBezTo>
                <a:cubicBezTo>
                  <a:pt x="2360709" y="73787"/>
                  <a:pt x="2357990" y="62015"/>
                  <a:pt x="2350296" y="54321"/>
                </a:cubicBezTo>
                <a:cubicBezTo>
                  <a:pt x="2331067" y="35092"/>
                  <a:pt x="2319538" y="35996"/>
                  <a:pt x="2295975" y="27160"/>
                </a:cubicBezTo>
                <a:cubicBezTo>
                  <a:pt x="2226188" y="989"/>
                  <a:pt x="2275183" y="13132"/>
                  <a:pt x="2196387" y="0"/>
                </a:cubicBezTo>
                <a:cubicBezTo>
                  <a:pt x="2045496" y="3018"/>
                  <a:pt x="1894419" y="980"/>
                  <a:pt x="1743714" y="9053"/>
                </a:cubicBezTo>
                <a:cubicBezTo>
                  <a:pt x="1724655" y="10074"/>
                  <a:pt x="1689393" y="27160"/>
                  <a:pt x="1689393" y="27160"/>
                </a:cubicBezTo>
                <a:cubicBezTo>
                  <a:pt x="1680340" y="33196"/>
                  <a:pt x="1671965" y="40401"/>
                  <a:pt x="1662233" y="45267"/>
                </a:cubicBezTo>
                <a:cubicBezTo>
                  <a:pt x="1649242" y="51763"/>
                  <a:pt x="1610465" y="60472"/>
                  <a:pt x="1598858" y="63374"/>
                </a:cubicBezTo>
                <a:cubicBezTo>
                  <a:pt x="1589805" y="69410"/>
                  <a:pt x="1581430" y="76615"/>
                  <a:pt x="1571698" y="81481"/>
                </a:cubicBezTo>
                <a:cubicBezTo>
                  <a:pt x="1563162" y="85749"/>
                  <a:pt x="1552880" y="85900"/>
                  <a:pt x="1544538" y="90534"/>
                </a:cubicBezTo>
                <a:cubicBezTo>
                  <a:pt x="1498471" y="116127"/>
                  <a:pt x="1547555" y="-49795"/>
                  <a:pt x="1463056" y="126748"/>
                </a:cubicBezTo>
                <a:close/>
              </a:path>
            </a:pathLst>
          </a:custGeom>
          <a:noFill/>
          <a:ln w="57150" cap="flat" cmpd="sng">
            <a:solidFill>
              <a:srgbClr val="FABF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 name="Google Shape;473;p31"/>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2.4. Linux File System Paths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39</a:t>
            </a:fld>
            <a:endParaRPr/>
          </a:p>
        </p:txBody>
      </p:sp>
      <p:pic>
        <p:nvPicPr>
          <p:cNvPr id="479" name="Google Shape;479;p32"/>
          <p:cNvPicPr preferRelativeResize="0"/>
          <p:nvPr/>
        </p:nvPicPr>
        <p:blipFill rotWithShape="1">
          <a:blip r:embed="rId3">
            <a:alphaModFix/>
          </a:blip>
          <a:srcRect/>
          <a:stretch/>
        </p:blipFill>
        <p:spPr>
          <a:xfrm>
            <a:off x="3778759" y="1847059"/>
            <a:ext cx="3889585" cy="4352921"/>
          </a:xfrm>
          <a:prstGeom prst="rect">
            <a:avLst/>
          </a:prstGeom>
          <a:noFill/>
          <a:ln>
            <a:noFill/>
          </a:ln>
        </p:spPr>
      </p:pic>
      <p:sp>
        <p:nvSpPr>
          <p:cNvPr id="480" name="Google Shape;480;p32"/>
          <p:cNvSpPr/>
          <p:nvPr/>
        </p:nvSpPr>
        <p:spPr>
          <a:xfrm>
            <a:off x="4060304" y="3581400"/>
            <a:ext cx="1447800" cy="68580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 name="Google Shape;481;p32"/>
          <p:cNvSpPr txBox="1"/>
          <p:nvPr/>
        </p:nvSpPr>
        <p:spPr>
          <a:xfrm>
            <a:off x="826431" y="2278613"/>
            <a:ext cx="388958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Which is the  the relative path to Libro.txt? ?</a:t>
            </a:r>
            <a:endParaRPr sz="1400" b="0" i="0" u="none" strike="noStrike" cap="none">
              <a:solidFill>
                <a:srgbClr val="000000"/>
              </a:solidFill>
              <a:latin typeface="Arial"/>
              <a:ea typeface="Arial"/>
              <a:cs typeface="Arial"/>
              <a:sym typeface="Arial"/>
            </a:endParaRPr>
          </a:p>
        </p:txBody>
      </p:sp>
      <p:sp>
        <p:nvSpPr>
          <p:cNvPr id="482" name="Google Shape;482;p32"/>
          <p:cNvSpPr txBox="1"/>
          <p:nvPr/>
        </p:nvSpPr>
        <p:spPr>
          <a:xfrm>
            <a:off x="2281486" y="3810000"/>
            <a:ext cx="1642442" cy="369332"/>
          </a:xfrm>
          <a:prstGeom prst="rect">
            <a:avLst/>
          </a:prstGeom>
          <a:noFill/>
          <a:ln w="127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We are here -&gt;</a:t>
            </a:r>
            <a:endParaRPr sz="1400" b="0" i="0" u="none" strike="noStrike" cap="none">
              <a:solidFill>
                <a:srgbClr val="000000"/>
              </a:solidFill>
              <a:latin typeface="Arial"/>
              <a:ea typeface="Arial"/>
              <a:cs typeface="Arial"/>
              <a:sym typeface="Arial"/>
            </a:endParaRPr>
          </a:p>
        </p:txBody>
      </p:sp>
      <p:sp>
        <p:nvSpPr>
          <p:cNvPr id="483" name="Google Shape;483;p32"/>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2.4. Linux File System Paths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pic>
        <p:nvPicPr>
          <p:cNvPr id="488" name="Google Shape;488;p33"/>
          <p:cNvPicPr preferRelativeResize="0"/>
          <p:nvPr/>
        </p:nvPicPr>
        <p:blipFill rotWithShape="1">
          <a:blip r:embed="rId3">
            <a:alphaModFix/>
          </a:blip>
          <a:srcRect/>
          <a:stretch/>
        </p:blipFill>
        <p:spPr>
          <a:xfrm>
            <a:off x="3778759" y="1847059"/>
            <a:ext cx="3889585" cy="4352921"/>
          </a:xfrm>
          <a:prstGeom prst="rect">
            <a:avLst/>
          </a:prstGeom>
          <a:noFill/>
          <a:ln>
            <a:noFill/>
          </a:ln>
        </p:spPr>
      </p:pic>
      <p:sp>
        <p:nvSpPr>
          <p:cNvPr id="489" name="Google Shape;489;p33"/>
          <p:cNvSpPr/>
          <p:nvPr/>
        </p:nvSpPr>
        <p:spPr>
          <a:xfrm>
            <a:off x="4060304" y="3581400"/>
            <a:ext cx="1447800" cy="68580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 name="Google Shape;490;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40</a:t>
            </a:fld>
            <a:endParaRPr/>
          </a:p>
        </p:txBody>
      </p:sp>
      <p:sp>
        <p:nvSpPr>
          <p:cNvPr id="491" name="Google Shape;491;p33"/>
          <p:cNvSpPr txBox="1"/>
          <p:nvPr/>
        </p:nvSpPr>
        <p:spPr>
          <a:xfrm>
            <a:off x="471212" y="2420888"/>
            <a:ext cx="2381250" cy="369332"/>
          </a:xfrm>
          <a:prstGeom prst="rect">
            <a:avLst/>
          </a:prstGeom>
          <a:noFill/>
          <a:ln w="127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Important pwd or “.”</a:t>
            </a:r>
            <a:endParaRPr sz="1400" b="0" i="0" u="none" strike="noStrike" cap="none">
              <a:solidFill>
                <a:srgbClr val="000000"/>
              </a:solidFill>
              <a:latin typeface="Arial"/>
              <a:ea typeface="Arial"/>
              <a:cs typeface="Arial"/>
              <a:sym typeface="Arial"/>
            </a:endParaRPr>
          </a:p>
        </p:txBody>
      </p:sp>
      <p:sp>
        <p:nvSpPr>
          <p:cNvPr id="492" name="Google Shape;492;p33"/>
          <p:cNvSpPr txBox="1"/>
          <p:nvPr/>
        </p:nvSpPr>
        <p:spPr>
          <a:xfrm>
            <a:off x="457200" y="4388392"/>
            <a:ext cx="259080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Relative paths: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./Dir1/Libro.txt</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or Dir1/Libro.txt</a:t>
            </a:r>
            <a:endParaRPr sz="1800" b="0" i="0" u="none" strike="noStrike" cap="none">
              <a:solidFill>
                <a:schemeClr val="dk1"/>
              </a:solidFill>
              <a:latin typeface="Calibri"/>
              <a:ea typeface="Calibri"/>
              <a:cs typeface="Calibri"/>
              <a:sym typeface="Calibri"/>
            </a:endParaRPr>
          </a:p>
        </p:txBody>
      </p:sp>
      <p:sp>
        <p:nvSpPr>
          <p:cNvPr id="493" name="Google Shape;493;p33"/>
          <p:cNvSpPr/>
          <p:nvPr/>
        </p:nvSpPr>
        <p:spPr>
          <a:xfrm>
            <a:off x="3755746" y="4209553"/>
            <a:ext cx="2112398" cy="2055445"/>
          </a:xfrm>
          <a:custGeom>
            <a:avLst/>
            <a:gdLst/>
            <a:ahLst/>
            <a:cxnLst/>
            <a:rect l="l" t="t" r="r" b="b"/>
            <a:pathLst>
              <a:path w="2112398" h="2055445" extrusionOk="0">
                <a:moveTo>
                  <a:pt x="778598" y="81790"/>
                </a:moveTo>
                <a:cubicBezTo>
                  <a:pt x="709650" y="85073"/>
                  <a:pt x="606477" y="72788"/>
                  <a:pt x="534154" y="108950"/>
                </a:cubicBezTo>
                <a:cubicBezTo>
                  <a:pt x="480870" y="135592"/>
                  <a:pt x="510742" y="122790"/>
                  <a:pt x="443619" y="145164"/>
                </a:cubicBezTo>
                <a:lnTo>
                  <a:pt x="416459" y="154217"/>
                </a:lnTo>
                <a:cubicBezTo>
                  <a:pt x="407406" y="160253"/>
                  <a:pt x="397431" y="165095"/>
                  <a:pt x="389299" y="172324"/>
                </a:cubicBezTo>
                <a:cubicBezTo>
                  <a:pt x="370160" y="189337"/>
                  <a:pt x="359271" y="218548"/>
                  <a:pt x="334978" y="226645"/>
                </a:cubicBezTo>
                <a:lnTo>
                  <a:pt x="307817" y="235698"/>
                </a:lnTo>
                <a:cubicBezTo>
                  <a:pt x="298764" y="241734"/>
                  <a:pt x="290389" y="248939"/>
                  <a:pt x="280657" y="253805"/>
                </a:cubicBezTo>
                <a:cubicBezTo>
                  <a:pt x="272121" y="258073"/>
                  <a:pt x="260949" y="256897"/>
                  <a:pt x="253497" y="262859"/>
                </a:cubicBezTo>
                <a:cubicBezTo>
                  <a:pt x="245001" y="269656"/>
                  <a:pt x="243084" y="282325"/>
                  <a:pt x="235390" y="290019"/>
                </a:cubicBezTo>
                <a:cubicBezTo>
                  <a:pt x="227696" y="297713"/>
                  <a:pt x="217283" y="302090"/>
                  <a:pt x="208229" y="308126"/>
                </a:cubicBezTo>
                <a:cubicBezTo>
                  <a:pt x="172860" y="378863"/>
                  <a:pt x="212673" y="312733"/>
                  <a:pt x="153908" y="371500"/>
                </a:cubicBezTo>
                <a:cubicBezTo>
                  <a:pt x="146214" y="379194"/>
                  <a:pt x="142126" y="389807"/>
                  <a:pt x="135802" y="398661"/>
                </a:cubicBezTo>
                <a:cubicBezTo>
                  <a:pt x="127032" y="410940"/>
                  <a:pt x="117695" y="422804"/>
                  <a:pt x="108641" y="434875"/>
                </a:cubicBezTo>
                <a:cubicBezTo>
                  <a:pt x="105623" y="443928"/>
                  <a:pt x="104222" y="453693"/>
                  <a:pt x="99588" y="462035"/>
                </a:cubicBezTo>
                <a:cubicBezTo>
                  <a:pt x="89020" y="481058"/>
                  <a:pt x="63374" y="516356"/>
                  <a:pt x="63374" y="516356"/>
                </a:cubicBezTo>
                <a:cubicBezTo>
                  <a:pt x="60356" y="543516"/>
                  <a:pt x="58475" y="570827"/>
                  <a:pt x="54320" y="597837"/>
                </a:cubicBezTo>
                <a:cubicBezTo>
                  <a:pt x="52481" y="609788"/>
                  <a:pt x="41894" y="647956"/>
                  <a:pt x="36213" y="661211"/>
                </a:cubicBezTo>
                <a:cubicBezTo>
                  <a:pt x="30896" y="673616"/>
                  <a:pt x="24142" y="685354"/>
                  <a:pt x="18106" y="697425"/>
                </a:cubicBezTo>
                <a:cubicBezTo>
                  <a:pt x="12451" y="748322"/>
                  <a:pt x="0" y="852003"/>
                  <a:pt x="0" y="896601"/>
                </a:cubicBezTo>
                <a:cubicBezTo>
                  <a:pt x="0" y="966077"/>
                  <a:pt x="4719" y="1035491"/>
                  <a:pt x="9053" y="1104831"/>
                </a:cubicBezTo>
                <a:cubicBezTo>
                  <a:pt x="13605" y="1177669"/>
                  <a:pt x="16168" y="1184540"/>
                  <a:pt x="36213" y="1249687"/>
                </a:cubicBezTo>
                <a:cubicBezTo>
                  <a:pt x="90122" y="1424889"/>
                  <a:pt x="25284" y="1225096"/>
                  <a:pt x="72427" y="1331168"/>
                </a:cubicBezTo>
                <a:cubicBezTo>
                  <a:pt x="104181" y="1402616"/>
                  <a:pt x="68834" y="1371023"/>
                  <a:pt x="117695" y="1403596"/>
                </a:cubicBezTo>
                <a:cubicBezTo>
                  <a:pt x="123731" y="1412649"/>
                  <a:pt x="128573" y="1422624"/>
                  <a:pt x="135802" y="1430756"/>
                </a:cubicBezTo>
                <a:cubicBezTo>
                  <a:pt x="152814" y="1449895"/>
                  <a:pt x="190122" y="1485077"/>
                  <a:pt x="190122" y="1485077"/>
                </a:cubicBezTo>
                <a:cubicBezTo>
                  <a:pt x="214991" y="1584546"/>
                  <a:pt x="177300" y="1460186"/>
                  <a:pt x="226336" y="1548451"/>
                </a:cubicBezTo>
                <a:cubicBezTo>
                  <a:pt x="235605" y="1565136"/>
                  <a:pt x="235907" y="1585701"/>
                  <a:pt x="244443" y="1602772"/>
                </a:cubicBezTo>
                <a:lnTo>
                  <a:pt x="262550" y="1638986"/>
                </a:lnTo>
                <a:cubicBezTo>
                  <a:pt x="281265" y="1732556"/>
                  <a:pt x="254035" y="1633846"/>
                  <a:pt x="316871" y="1738574"/>
                </a:cubicBezTo>
                <a:cubicBezTo>
                  <a:pt x="323273" y="1749244"/>
                  <a:pt x="320870" y="1763418"/>
                  <a:pt x="325924" y="1774788"/>
                </a:cubicBezTo>
                <a:cubicBezTo>
                  <a:pt x="333071" y="1790868"/>
                  <a:pt x="344031" y="1804966"/>
                  <a:pt x="353085" y="1820055"/>
                </a:cubicBezTo>
                <a:cubicBezTo>
                  <a:pt x="356103" y="1832126"/>
                  <a:pt x="355965" y="1845466"/>
                  <a:pt x="362138" y="1856269"/>
                </a:cubicBezTo>
                <a:cubicBezTo>
                  <a:pt x="372793" y="1874914"/>
                  <a:pt x="432855" y="1916952"/>
                  <a:pt x="443619" y="1919643"/>
                </a:cubicBezTo>
                <a:cubicBezTo>
                  <a:pt x="455690" y="1922661"/>
                  <a:pt x="467915" y="1925122"/>
                  <a:pt x="479833" y="1928697"/>
                </a:cubicBezTo>
                <a:cubicBezTo>
                  <a:pt x="498114" y="1934181"/>
                  <a:pt x="534154" y="1946803"/>
                  <a:pt x="534154" y="1946803"/>
                </a:cubicBezTo>
                <a:cubicBezTo>
                  <a:pt x="552261" y="1958874"/>
                  <a:pt x="567363" y="1977739"/>
                  <a:pt x="588475" y="1983017"/>
                </a:cubicBezTo>
                <a:cubicBezTo>
                  <a:pt x="612618" y="1989053"/>
                  <a:pt x="637295" y="1993254"/>
                  <a:pt x="660903" y="2001124"/>
                </a:cubicBezTo>
                <a:cubicBezTo>
                  <a:pt x="669956" y="2004142"/>
                  <a:pt x="678604" y="2008917"/>
                  <a:pt x="688063" y="2010178"/>
                </a:cubicBezTo>
                <a:cubicBezTo>
                  <a:pt x="724084" y="2014981"/>
                  <a:pt x="760491" y="2016213"/>
                  <a:pt x="796705" y="2019231"/>
                </a:cubicBezTo>
                <a:cubicBezTo>
                  <a:pt x="805758" y="2022249"/>
                  <a:pt x="814349" y="2027567"/>
                  <a:pt x="823865" y="2028285"/>
                </a:cubicBezTo>
                <a:cubicBezTo>
                  <a:pt x="974599" y="2039661"/>
                  <a:pt x="1276538" y="2055445"/>
                  <a:pt x="1276538" y="2055445"/>
                </a:cubicBezTo>
                <a:cubicBezTo>
                  <a:pt x="1342930" y="2052427"/>
                  <a:pt x="1409465" y="2051692"/>
                  <a:pt x="1475714" y="2046392"/>
                </a:cubicBezTo>
                <a:cubicBezTo>
                  <a:pt x="1485227" y="2045631"/>
                  <a:pt x="1493437" y="2038754"/>
                  <a:pt x="1502875" y="2037338"/>
                </a:cubicBezTo>
                <a:cubicBezTo>
                  <a:pt x="1553960" y="2029675"/>
                  <a:pt x="1605481" y="2025267"/>
                  <a:pt x="1656784" y="2019231"/>
                </a:cubicBezTo>
                <a:cubicBezTo>
                  <a:pt x="1700504" y="2008302"/>
                  <a:pt x="1727830" y="2002454"/>
                  <a:pt x="1774479" y="1983017"/>
                </a:cubicBezTo>
                <a:cubicBezTo>
                  <a:pt x="1784523" y="1978832"/>
                  <a:pt x="1791907" y="1969776"/>
                  <a:pt x="1801639" y="1964910"/>
                </a:cubicBezTo>
                <a:cubicBezTo>
                  <a:pt x="1816175" y="1957642"/>
                  <a:pt x="1832370" y="1954071"/>
                  <a:pt x="1846906" y="1946803"/>
                </a:cubicBezTo>
                <a:cubicBezTo>
                  <a:pt x="1874373" y="1933070"/>
                  <a:pt x="1907529" y="1897870"/>
                  <a:pt x="1928388" y="1883429"/>
                </a:cubicBezTo>
                <a:cubicBezTo>
                  <a:pt x="1948392" y="1869580"/>
                  <a:pt x="1971830" y="1861168"/>
                  <a:pt x="1991762" y="1847215"/>
                </a:cubicBezTo>
                <a:cubicBezTo>
                  <a:pt x="2016680" y="1829772"/>
                  <a:pt x="2026457" y="1806271"/>
                  <a:pt x="2046083" y="1783841"/>
                </a:cubicBezTo>
                <a:cubicBezTo>
                  <a:pt x="2107554" y="1713589"/>
                  <a:pt x="2061633" y="1778622"/>
                  <a:pt x="2100404" y="1720467"/>
                </a:cubicBezTo>
                <a:cubicBezTo>
                  <a:pt x="2108779" y="1611581"/>
                  <a:pt x="2122586" y="1492700"/>
                  <a:pt x="2100404" y="1385489"/>
                </a:cubicBezTo>
                <a:cubicBezTo>
                  <a:pt x="2096080" y="1364592"/>
                  <a:pt x="2069411" y="1356083"/>
                  <a:pt x="2055136" y="1340221"/>
                </a:cubicBezTo>
                <a:cubicBezTo>
                  <a:pt x="2042209" y="1325858"/>
                  <a:pt x="2030516" y="1310413"/>
                  <a:pt x="2018922" y="1294954"/>
                </a:cubicBezTo>
                <a:cubicBezTo>
                  <a:pt x="1954913" y="1209610"/>
                  <a:pt x="2061567" y="1337600"/>
                  <a:pt x="1964602" y="1240633"/>
                </a:cubicBezTo>
                <a:cubicBezTo>
                  <a:pt x="1921217" y="1197247"/>
                  <a:pt x="1941504" y="1201159"/>
                  <a:pt x="1901227" y="1168205"/>
                </a:cubicBezTo>
                <a:cubicBezTo>
                  <a:pt x="1841757" y="1119548"/>
                  <a:pt x="1838913" y="1119953"/>
                  <a:pt x="1783532" y="1086724"/>
                </a:cubicBezTo>
                <a:cubicBezTo>
                  <a:pt x="1774479" y="1074653"/>
                  <a:pt x="1766192" y="1061966"/>
                  <a:pt x="1756372" y="1050510"/>
                </a:cubicBezTo>
                <a:cubicBezTo>
                  <a:pt x="1748040" y="1040789"/>
                  <a:pt x="1736313" y="1034003"/>
                  <a:pt x="1729211" y="1023350"/>
                </a:cubicBezTo>
                <a:cubicBezTo>
                  <a:pt x="1701619" y="981962"/>
                  <a:pt x="1744733" y="1004382"/>
                  <a:pt x="1692998" y="987136"/>
                </a:cubicBezTo>
                <a:cubicBezTo>
                  <a:pt x="1683944" y="978083"/>
                  <a:pt x="1673698" y="970082"/>
                  <a:pt x="1665837" y="959976"/>
                </a:cubicBezTo>
                <a:cubicBezTo>
                  <a:pt x="1652476" y="942798"/>
                  <a:pt x="1647730" y="917726"/>
                  <a:pt x="1629623" y="905655"/>
                </a:cubicBezTo>
                <a:cubicBezTo>
                  <a:pt x="1620570" y="899619"/>
                  <a:pt x="1610822" y="894514"/>
                  <a:pt x="1602463" y="887548"/>
                </a:cubicBezTo>
                <a:cubicBezTo>
                  <a:pt x="1557252" y="849872"/>
                  <a:pt x="1595874" y="867245"/>
                  <a:pt x="1548142" y="851334"/>
                </a:cubicBezTo>
                <a:cubicBezTo>
                  <a:pt x="1542106" y="836245"/>
                  <a:pt x="1541526" y="817558"/>
                  <a:pt x="1530035" y="806067"/>
                </a:cubicBezTo>
                <a:cubicBezTo>
                  <a:pt x="1521237" y="797269"/>
                  <a:pt x="1503380" y="804979"/>
                  <a:pt x="1493821" y="797013"/>
                </a:cubicBezTo>
                <a:cubicBezTo>
                  <a:pt x="1483453" y="788373"/>
                  <a:pt x="1481750" y="772870"/>
                  <a:pt x="1475714" y="760799"/>
                </a:cubicBezTo>
                <a:cubicBezTo>
                  <a:pt x="1472696" y="748728"/>
                  <a:pt x="1472225" y="735715"/>
                  <a:pt x="1466661" y="724586"/>
                </a:cubicBezTo>
                <a:cubicBezTo>
                  <a:pt x="1459913" y="711090"/>
                  <a:pt x="1447498" y="701168"/>
                  <a:pt x="1439501" y="688372"/>
                </a:cubicBezTo>
                <a:cubicBezTo>
                  <a:pt x="1432348" y="676927"/>
                  <a:pt x="1427430" y="664229"/>
                  <a:pt x="1421394" y="652158"/>
                </a:cubicBezTo>
                <a:cubicBezTo>
                  <a:pt x="1427430" y="552570"/>
                  <a:pt x="1437379" y="453142"/>
                  <a:pt x="1439501" y="353394"/>
                </a:cubicBezTo>
                <a:cubicBezTo>
                  <a:pt x="1442311" y="221307"/>
                  <a:pt x="1467805" y="239097"/>
                  <a:pt x="1403287" y="217592"/>
                </a:cubicBezTo>
                <a:cubicBezTo>
                  <a:pt x="1379142" y="145161"/>
                  <a:pt x="1415359" y="229664"/>
                  <a:pt x="1367073" y="181378"/>
                </a:cubicBezTo>
                <a:cubicBezTo>
                  <a:pt x="1360325" y="174630"/>
                  <a:pt x="1362754" y="162503"/>
                  <a:pt x="1358019" y="154217"/>
                </a:cubicBezTo>
                <a:cubicBezTo>
                  <a:pt x="1350533" y="141116"/>
                  <a:pt x="1343414" y="126373"/>
                  <a:pt x="1330859" y="118003"/>
                </a:cubicBezTo>
                <a:cubicBezTo>
                  <a:pt x="1314978" y="107416"/>
                  <a:pt x="1294259" y="106986"/>
                  <a:pt x="1276538" y="99897"/>
                </a:cubicBezTo>
                <a:cubicBezTo>
                  <a:pt x="1219718" y="77169"/>
                  <a:pt x="1247037" y="85732"/>
                  <a:pt x="1195057" y="72736"/>
                </a:cubicBezTo>
                <a:cubicBezTo>
                  <a:pt x="1186004" y="63683"/>
                  <a:pt x="1179013" y="51928"/>
                  <a:pt x="1167897" y="45576"/>
                </a:cubicBezTo>
                <a:cubicBezTo>
                  <a:pt x="1161009" y="41640"/>
                  <a:pt x="1089155" y="28017"/>
                  <a:pt x="1086415" y="27469"/>
                </a:cubicBezTo>
                <a:cubicBezTo>
                  <a:pt x="1074344" y="21433"/>
                  <a:pt x="1063584" y="11108"/>
                  <a:pt x="1050202" y="9362"/>
                </a:cubicBezTo>
                <a:cubicBezTo>
                  <a:pt x="918030" y="-7878"/>
                  <a:pt x="830081" y="2713"/>
                  <a:pt x="697116" y="9362"/>
                </a:cubicBezTo>
                <a:cubicBezTo>
                  <a:pt x="632473" y="30910"/>
                  <a:pt x="658677" y="16882"/>
                  <a:pt x="615635" y="45576"/>
                </a:cubicBezTo>
                <a:cubicBezTo>
                  <a:pt x="609599" y="54629"/>
                  <a:pt x="605222" y="65042"/>
                  <a:pt x="597528" y="72736"/>
                </a:cubicBezTo>
                <a:cubicBezTo>
                  <a:pt x="567857" y="102407"/>
                  <a:pt x="570368" y="77219"/>
                  <a:pt x="570368" y="99897"/>
                </a:cubicBezTo>
              </a:path>
            </a:pathLst>
          </a:custGeom>
          <a:noFill/>
          <a:ln w="57150" cap="flat" cmpd="sng">
            <a:solidFill>
              <a:srgbClr val="97480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 name="Google Shape;494;p33"/>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2.4. Linux File System Paths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344e220f39a_0_7"/>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Overview</a:t>
            </a:r>
            <a:endParaRPr/>
          </a:p>
        </p:txBody>
      </p:sp>
      <p:sp>
        <p:nvSpPr>
          <p:cNvPr id="501" name="Google Shape;501;g344e220f39a_0_7"/>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400"/>
              </a:spcBef>
              <a:spcAft>
                <a:spcPts val="0"/>
              </a:spcAft>
              <a:buSzPts val="1800"/>
              <a:buAutoNum type="arabicPeriod"/>
            </a:pPr>
            <a:r>
              <a:rPr lang="es-ES" b="0" u="none"/>
              <a:t>Linux OS</a:t>
            </a:r>
            <a:endParaRPr/>
          </a:p>
          <a:p>
            <a:pPr marL="457200" lvl="0" indent="-342900" algn="l" rtl="0">
              <a:lnSpc>
                <a:spcPct val="150000"/>
              </a:lnSpc>
              <a:spcBef>
                <a:spcPts val="0"/>
              </a:spcBef>
              <a:spcAft>
                <a:spcPts val="0"/>
              </a:spcAft>
              <a:buSzPts val="1800"/>
              <a:buAutoNum type="arabicPeriod"/>
            </a:pPr>
            <a:r>
              <a:rPr lang="es-ES" b="0" u="none"/>
              <a:t>Linux file system</a:t>
            </a:r>
            <a:endParaRPr b="0" u="none"/>
          </a:p>
          <a:p>
            <a:pPr marL="457200" lvl="0" indent="-342900" algn="l" rtl="0">
              <a:lnSpc>
                <a:spcPct val="150000"/>
              </a:lnSpc>
              <a:spcBef>
                <a:spcPts val="0"/>
              </a:spcBef>
              <a:spcAft>
                <a:spcPts val="0"/>
              </a:spcAft>
              <a:buSzPts val="1800"/>
              <a:buAutoNum type="arabicPeriod"/>
            </a:pPr>
            <a:r>
              <a:rPr lang="es-ES" b="0" u="none"/>
              <a:t>Basic commands</a:t>
            </a:r>
            <a:endParaRPr/>
          </a:p>
          <a:p>
            <a:pPr marL="457200" lvl="0" indent="-342900" algn="l" rtl="0">
              <a:lnSpc>
                <a:spcPct val="150000"/>
              </a:lnSpc>
              <a:spcBef>
                <a:spcPts val="0"/>
              </a:spcBef>
              <a:spcAft>
                <a:spcPts val="0"/>
              </a:spcAft>
              <a:buSzPts val="1800"/>
              <a:buAutoNum type="arabicPeriod"/>
            </a:pPr>
            <a:r>
              <a:rPr lang="es-ES" b="0" u="none"/>
              <a:t>Command line syntax</a:t>
            </a:r>
            <a:endParaRPr b="0" u="none"/>
          </a:p>
          <a:p>
            <a:pPr marL="457200" lvl="0" indent="-342900" algn="l" rtl="0">
              <a:lnSpc>
                <a:spcPct val="150000"/>
              </a:lnSpc>
              <a:spcBef>
                <a:spcPts val="0"/>
              </a:spcBef>
              <a:spcAft>
                <a:spcPts val="0"/>
              </a:spcAft>
              <a:buSzPts val="1800"/>
              <a:buAutoNum type="arabicPeriod"/>
            </a:pPr>
            <a:r>
              <a:rPr lang="es-ES" b="0" u="none"/>
              <a:t>Linux users and privileges</a:t>
            </a:r>
            <a:endParaRPr/>
          </a:p>
          <a:p>
            <a:pPr marL="0" lvl="0" indent="0" algn="l" rtl="0">
              <a:lnSpc>
                <a:spcPct val="150000"/>
              </a:lnSpc>
              <a:spcBef>
                <a:spcPts val="400"/>
              </a:spcBef>
              <a:spcAft>
                <a:spcPts val="0"/>
              </a:spcAft>
              <a:buSzPts val="1800"/>
              <a:buNone/>
            </a:pPr>
            <a:endParaRPr b="0" u="none"/>
          </a:p>
        </p:txBody>
      </p:sp>
      <p:sp>
        <p:nvSpPr>
          <p:cNvPr id="502" name="Google Shape;502;g344e220f39a_0_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41</a:t>
            </a:fld>
            <a:endParaRPr/>
          </a:p>
        </p:txBody>
      </p:sp>
      <p:sp>
        <p:nvSpPr>
          <p:cNvPr id="503" name="Google Shape;503;g344e220f39a_0_7"/>
          <p:cNvSpPr/>
          <p:nvPr/>
        </p:nvSpPr>
        <p:spPr>
          <a:xfrm>
            <a:off x="457200" y="2967068"/>
            <a:ext cx="4254300" cy="4242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g344e220f39a_0_78"/>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3. Basic Commands</a:t>
            </a:r>
            <a:endParaRPr/>
          </a:p>
        </p:txBody>
      </p:sp>
      <p:sp>
        <p:nvSpPr>
          <p:cNvPr id="510" name="Google Shape;510;g344e220f39a_0_78"/>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30200" algn="l" rtl="0">
              <a:lnSpc>
                <a:spcPct val="150000"/>
              </a:lnSpc>
              <a:spcBef>
                <a:spcPts val="400"/>
              </a:spcBef>
              <a:spcAft>
                <a:spcPts val="0"/>
              </a:spcAft>
              <a:buSzPts val="1800"/>
              <a:buAutoNum type="arabicPeriod"/>
            </a:pPr>
            <a:r>
              <a:rPr lang="es-ES" b="0" u="none"/>
              <a:t>Shell</a:t>
            </a:r>
            <a:endParaRPr b="0" u="none"/>
          </a:p>
          <a:p>
            <a:pPr marL="342900" lvl="0" indent="-330200" algn="l" rtl="0">
              <a:lnSpc>
                <a:spcPct val="150000"/>
              </a:lnSpc>
              <a:spcBef>
                <a:spcPts val="400"/>
              </a:spcBef>
              <a:spcAft>
                <a:spcPts val="0"/>
              </a:spcAft>
              <a:buSzPts val="1800"/>
              <a:buAutoNum type="arabicPeriod"/>
            </a:pPr>
            <a:r>
              <a:rPr lang="es-ES" b="0" u="none"/>
              <a:t>Prompt</a:t>
            </a:r>
            <a:endParaRPr b="0" u="none"/>
          </a:p>
          <a:p>
            <a:pPr marL="342900" lvl="0" indent="-330200" algn="l" rtl="0">
              <a:lnSpc>
                <a:spcPct val="150000"/>
              </a:lnSpc>
              <a:spcBef>
                <a:spcPts val="400"/>
              </a:spcBef>
              <a:spcAft>
                <a:spcPts val="0"/>
              </a:spcAft>
              <a:buSzPts val="1800"/>
              <a:buAutoNum type="arabicPeriod"/>
            </a:pPr>
            <a:r>
              <a:rPr lang="es-ES" b="0" u="none"/>
              <a:t>Basic Commands</a:t>
            </a:r>
            <a:endParaRPr b="0" u="none"/>
          </a:p>
        </p:txBody>
      </p:sp>
      <p:sp>
        <p:nvSpPr>
          <p:cNvPr id="511" name="Google Shape;511;g344e220f39a_0_7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42</a:t>
            </a:fld>
            <a:endParaRPr/>
          </a:p>
        </p:txBody>
      </p:sp>
      <p:sp>
        <p:nvSpPr>
          <p:cNvPr id="512" name="Google Shape;512;g344e220f39a_0_78"/>
          <p:cNvSpPr/>
          <p:nvPr/>
        </p:nvSpPr>
        <p:spPr>
          <a:xfrm>
            <a:off x="457200" y="1964314"/>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49"/>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100"/>
              <a:buFont typeface="Arial"/>
              <a:buNone/>
            </a:pPr>
            <a:r>
              <a:rPr lang="es-ES"/>
              <a:t>3.1. Shell</a:t>
            </a:r>
            <a:endParaRPr/>
          </a:p>
        </p:txBody>
      </p:sp>
      <p:sp>
        <p:nvSpPr>
          <p:cNvPr id="519" name="Google Shape;519;p49"/>
          <p:cNvSpPr txBox="1">
            <a:spLocks noGrp="1"/>
          </p:cNvSpPr>
          <p:nvPr>
            <p:ph type="body" idx="1"/>
          </p:nvPr>
        </p:nvSpPr>
        <p:spPr>
          <a:xfrm>
            <a:off x="601216" y="1916832"/>
            <a:ext cx="5050904" cy="420933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a:t>Basic structure of an OS:</a:t>
            </a:r>
            <a:endParaRPr/>
          </a:p>
          <a:p>
            <a:pPr marL="0" lvl="0" indent="0" algn="l" rtl="0">
              <a:lnSpc>
                <a:spcPct val="100000"/>
              </a:lnSpc>
              <a:spcBef>
                <a:spcPts val="400"/>
              </a:spcBef>
              <a:spcAft>
                <a:spcPts val="0"/>
              </a:spcAft>
              <a:buClr>
                <a:schemeClr val="dk1"/>
              </a:buClr>
              <a:buSzPts val="2000"/>
              <a:buNone/>
            </a:pPr>
            <a:endParaRPr b="0" u="none"/>
          </a:p>
        </p:txBody>
      </p:sp>
      <p:sp>
        <p:nvSpPr>
          <p:cNvPr id="520" name="Google Shape;52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43</a:t>
            </a:fld>
            <a:endParaRPr/>
          </a:p>
        </p:txBody>
      </p:sp>
      <p:pic>
        <p:nvPicPr>
          <p:cNvPr id="521" name="Google Shape;521;p49" descr="Resultado de imagen de operative system"/>
          <p:cNvPicPr preferRelativeResize="0"/>
          <p:nvPr/>
        </p:nvPicPr>
        <p:blipFill rotWithShape="1">
          <a:blip r:embed="rId3">
            <a:alphaModFix/>
          </a:blip>
          <a:srcRect/>
          <a:stretch/>
        </p:blipFill>
        <p:spPr>
          <a:xfrm>
            <a:off x="5652120" y="1916832"/>
            <a:ext cx="2773282" cy="4104456"/>
          </a:xfrm>
          <a:prstGeom prst="rect">
            <a:avLst/>
          </a:prstGeom>
          <a:noFill/>
          <a:ln>
            <a:noFill/>
          </a:ln>
        </p:spPr>
      </p:pic>
      <p:sp>
        <p:nvSpPr>
          <p:cNvPr id="522" name="Google Shape;522;p49"/>
          <p:cNvSpPr/>
          <p:nvPr/>
        </p:nvSpPr>
        <p:spPr>
          <a:xfrm>
            <a:off x="766614" y="3645024"/>
            <a:ext cx="3960440" cy="792088"/>
          </a:xfrm>
          <a:prstGeom prst="roundRect">
            <a:avLst>
              <a:gd name="adj" fmla="val 16667"/>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Shell</a:t>
            </a:r>
            <a:endParaRPr sz="1400" b="0" i="0" u="none" strike="noStrike" cap="none">
              <a:solidFill>
                <a:srgbClr val="000000"/>
              </a:solidFill>
              <a:latin typeface="Arial"/>
              <a:ea typeface="Arial"/>
              <a:cs typeface="Arial"/>
              <a:sym typeface="Arial"/>
            </a:endParaRPr>
          </a:p>
        </p:txBody>
      </p:sp>
      <p:sp>
        <p:nvSpPr>
          <p:cNvPr id="523" name="Google Shape;523;p49"/>
          <p:cNvSpPr/>
          <p:nvPr/>
        </p:nvSpPr>
        <p:spPr>
          <a:xfrm>
            <a:off x="755576" y="4661892"/>
            <a:ext cx="1811238" cy="792088"/>
          </a:xfrm>
          <a:prstGeom prst="roundRect">
            <a:avLst>
              <a:gd name="adj" fmla="val 16667"/>
            </a:avLst>
          </a:prstGeom>
          <a:gradFill>
            <a:gsLst>
              <a:gs pos="0">
                <a:srgbClr val="C8B2E9"/>
              </a:gs>
              <a:gs pos="35000">
                <a:srgbClr val="D6CAED"/>
              </a:gs>
              <a:gs pos="100000">
                <a:srgbClr val="EFE8FA"/>
              </a:gs>
            </a:gsLst>
            <a:lin ang="16200000" scaled="0"/>
          </a:gradFill>
          <a:ln w="9525" cap="flat" cmpd="sng">
            <a:solidFill>
              <a:srgbClr val="7C5F9F"/>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File system</a:t>
            </a:r>
            <a:endParaRPr sz="1400" b="0" i="0" u="none" strike="noStrike" cap="none">
              <a:solidFill>
                <a:srgbClr val="000000"/>
              </a:solidFill>
              <a:latin typeface="Arial"/>
              <a:ea typeface="Arial"/>
              <a:cs typeface="Arial"/>
              <a:sym typeface="Arial"/>
            </a:endParaRPr>
          </a:p>
        </p:txBody>
      </p:sp>
      <p:sp>
        <p:nvSpPr>
          <p:cNvPr id="524" name="Google Shape;524;p49"/>
          <p:cNvSpPr/>
          <p:nvPr/>
        </p:nvSpPr>
        <p:spPr>
          <a:xfrm>
            <a:off x="2807804" y="4661892"/>
            <a:ext cx="1919250" cy="792088"/>
          </a:xfrm>
          <a:prstGeom prst="roundRect">
            <a:avLst>
              <a:gd name="adj" fmla="val 16667"/>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Kernel</a:t>
            </a:r>
            <a:endParaRPr sz="1400" b="0" i="0" u="none" strike="noStrike" cap="none">
              <a:solidFill>
                <a:srgbClr val="000000"/>
              </a:solidFill>
              <a:latin typeface="Arial"/>
              <a:ea typeface="Arial"/>
              <a:cs typeface="Arial"/>
              <a:sym typeface="Arial"/>
            </a:endParaRPr>
          </a:p>
        </p:txBody>
      </p:sp>
      <p:sp>
        <p:nvSpPr>
          <p:cNvPr id="525" name="Google Shape;525;p49"/>
          <p:cNvSpPr/>
          <p:nvPr/>
        </p:nvSpPr>
        <p:spPr>
          <a:xfrm>
            <a:off x="4871070" y="3429000"/>
            <a:ext cx="781050" cy="2304256"/>
          </a:xfrm>
          <a:prstGeom prst="rightBrace">
            <a:avLst>
              <a:gd name="adj1" fmla="val 8333"/>
              <a:gd name="adj2" fmla="val 50000"/>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6" name="Google Shape;526;p49"/>
          <p:cNvSpPr/>
          <p:nvPr/>
        </p:nvSpPr>
        <p:spPr>
          <a:xfrm>
            <a:off x="611560" y="3429000"/>
            <a:ext cx="4259510" cy="1152128"/>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g344e220f39a_0_116"/>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3.1. Shell</a:t>
            </a:r>
            <a:endParaRPr/>
          </a:p>
        </p:txBody>
      </p:sp>
      <p:sp>
        <p:nvSpPr>
          <p:cNvPr id="533" name="Google Shape;533;g344e220f39a_0_1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44</a:t>
            </a:fld>
            <a:endParaRPr/>
          </a:p>
        </p:txBody>
      </p:sp>
      <p:pic>
        <p:nvPicPr>
          <p:cNvPr id="534" name="Google Shape;534;g344e220f39a_0_116"/>
          <p:cNvPicPr preferRelativeResize="0"/>
          <p:nvPr/>
        </p:nvPicPr>
        <p:blipFill rotWithShape="1">
          <a:blip r:embed="rId3">
            <a:alphaModFix/>
          </a:blip>
          <a:srcRect/>
          <a:stretch/>
        </p:blipFill>
        <p:spPr>
          <a:xfrm>
            <a:off x="228600" y="2774949"/>
            <a:ext cx="4034976" cy="2400550"/>
          </a:xfrm>
          <a:prstGeom prst="rect">
            <a:avLst/>
          </a:prstGeom>
          <a:noFill/>
          <a:ln>
            <a:noFill/>
          </a:ln>
        </p:spPr>
      </p:pic>
      <p:sp>
        <p:nvSpPr>
          <p:cNvPr id="535" name="Google Shape;535;g344e220f39a_0_116"/>
          <p:cNvSpPr txBox="1">
            <a:spLocks noGrp="1"/>
          </p:cNvSpPr>
          <p:nvPr>
            <p:ph type="body" idx="1"/>
          </p:nvPr>
        </p:nvSpPr>
        <p:spPr>
          <a:xfrm>
            <a:off x="6090550" y="3116550"/>
            <a:ext cx="2133600" cy="6249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Shell</a:t>
            </a:r>
            <a:endParaRPr b="0" u="none"/>
          </a:p>
        </p:txBody>
      </p:sp>
      <p:sp>
        <p:nvSpPr>
          <p:cNvPr id="536" name="Google Shape;536;g344e220f39a_0_116"/>
          <p:cNvSpPr txBox="1">
            <a:spLocks noGrp="1"/>
          </p:cNvSpPr>
          <p:nvPr>
            <p:ph type="body" idx="1"/>
          </p:nvPr>
        </p:nvSpPr>
        <p:spPr>
          <a:xfrm>
            <a:off x="4339775" y="2622550"/>
            <a:ext cx="2133600" cy="6249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Terminal</a:t>
            </a:r>
            <a:endParaRPr b="0" u="none"/>
          </a:p>
        </p:txBody>
      </p:sp>
      <p:sp>
        <p:nvSpPr>
          <p:cNvPr id="537" name="Google Shape;537;g344e220f39a_0_116"/>
          <p:cNvSpPr txBox="1">
            <a:spLocks noGrp="1"/>
          </p:cNvSpPr>
          <p:nvPr>
            <p:ph type="body" idx="1"/>
          </p:nvPr>
        </p:nvSpPr>
        <p:spPr>
          <a:xfrm>
            <a:off x="4263575" y="3122000"/>
            <a:ext cx="2133600" cy="6249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SO</a:t>
            </a:r>
            <a:endParaRPr b="0" u="none"/>
          </a:p>
        </p:txBody>
      </p:sp>
      <p:cxnSp>
        <p:nvCxnSpPr>
          <p:cNvPr id="538" name="Google Shape;538;g344e220f39a_0_116"/>
          <p:cNvCxnSpPr/>
          <p:nvPr/>
        </p:nvCxnSpPr>
        <p:spPr>
          <a:xfrm rot="10800000" flipH="1">
            <a:off x="3764650" y="2875650"/>
            <a:ext cx="653100" cy="190500"/>
          </a:xfrm>
          <a:prstGeom prst="straightConnector1">
            <a:avLst/>
          </a:prstGeom>
          <a:noFill/>
          <a:ln w="28575" cap="flat" cmpd="sng">
            <a:solidFill>
              <a:schemeClr val="dk2"/>
            </a:solidFill>
            <a:prstDash val="solid"/>
            <a:round/>
            <a:headEnd type="none" w="sm" len="sm"/>
            <a:tailEnd type="triangle" w="med" len="med"/>
          </a:ln>
        </p:spPr>
      </p:cxnSp>
      <p:cxnSp>
        <p:nvCxnSpPr>
          <p:cNvPr id="539" name="Google Shape;539;g344e220f39a_0_116"/>
          <p:cNvCxnSpPr/>
          <p:nvPr/>
        </p:nvCxnSpPr>
        <p:spPr>
          <a:xfrm>
            <a:off x="5688175" y="2774950"/>
            <a:ext cx="653100" cy="382500"/>
          </a:xfrm>
          <a:prstGeom prst="straightConnector1">
            <a:avLst/>
          </a:prstGeom>
          <a:noFill/>
          <a:ln w="28575" cap="flat" cmpd="sng">
            <a:solidFill>
              <a:schemeClr val="dk2"/>
            </a:solidFill>
            <a:prstDash val="solid"/>
            <a:round/>
            <a:headEnd type="none" w="sm" len="sm"/>
            <a:tailEnd type="triangle" w="med" len="med"/>
          </a:ln>
        </p:spPr>
      </p:cxnSp>
      <p:cxnSp>
        <p:nvCxnSpPr>
          <p:cNvPr id="540" name="Google Shape;540;g344e220f39a_0_116"/>
          <p:cNvCxnSpPr/>
          <p:nvPr/>
        </p:nvCxnSpPr>
        <p:spPr>
          <a:xfrm rot="10800000">
            <a:off x="4727025" y="3329400"/>
            <a:ext cx="1402500" cy="26400"/>
          </a:xfrm>
          <a:prstGeom prst="straightConnector1">
            <a:avLst/>
          </a:prstGeom>
          <a:noFill/>
          <a:ln w="28575" cap="flat" cmpd="sng">
            <a:solidFill>
              <a:schemeClr val="dk2"/>
            </a:solidFill>
            <a:prstDash val="solid"/>
            <a:round/>
            <a:headEnd type="none" w="sm" len="sm"/>
            <a:tailEnd type="triangle" w="med" len="med"/>
          </a:ln>
        </p:spPr>
      </p:cxnSp>
      <p:cxnSp>
        <p:nvCxnSpPr>
          <p:cNvPr id="541" name="Google Shape;541;g344e220f39a_0_116"/>
          <p:cNvCxnSpPr/>
          <p:nvPr/>
        </p:nvCxnSpPr>
        <p:spPr>
          <a:xfrm rot="10800000">
            <a:off x="1340675" y="3223500"/>
            <a:ext cx="2999100" cy="132300"/>
          </a:xfrm>
          <a:prstGeom prst="straightConnector1">
            <a:avLst/>
          </a:prstGeom>
          <a:noFill/>
          <a:ln w="28575" cap="flat" cmpd="sng">
            <a:solidFill>
              <a:schemeClr val="dk2"/>
            </a:solidFill>
            <a:prstDash val="solid"/>
            <a:round/>
            <a:headEnd type="none" w="sm" len="sm"/>
            <a:tailEnd type="triangle" w="med" len="med"/>
          </a:ln>
        </p:spPr>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g3712ee0af76_0_24"/>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3.1. Shell</a:t>
            </a:r>
            <a:endParaRPr/>
          </a:p>
        </p:txBody>
      </p:sp>
      <p:sp>
        <p:nvSpPr>
          <p:cNvPr id="548" name="Google Shape;548;g3712ee0af76_0_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45</a:t>
            </a:fld>
            <a:endParaRPr/>
          </a:p>
        </p:txBody>
      </p:sp>
      <p:pic>
        <p:nvPicPr>
          <p:cNvPr id="549" name="Google Shape;549;g3712ee0af76_0_24"/>
          <p:cNvPicPr preferRelativeResize="0"/>
          <p:nvPr/>
        </p:nvPicPr>
        <p:blipFill rotWithShape="1">
          <a:blip r:embed="rId3">
            <a:alphaModFix/>
          </a:blip>
          <a:srcRect/>
          <a:stretch/>
        </p:blipFill>
        <p:spPr>
          <a:xfrm>
            <a:off x="228600" y="2774949"/>
            <a:ext cx="4034976" cy="2400550"/>
          </a:xfrm>
          <a:prstGeom prst="rect">
            <a:avLst/>
          </a:prstGeom>
          <a:noFill/>
          <a:ln>
            <a:noFill/>
          </a:ln>
        </p:spPr>
      </p:pic>
      <p:sp>
        <p:nvSpPr>
          <p:cNvPr id="550" name="Google Shape;550;g3712ee0af76_0_24"/>
          <p:cNvSpPr txBox="1">
            <a:spLocks noGrp="1"/>
          </p:cNvSpPr>
          <p:nvPr>
            <p:ph type="body" idx="1"/>
          </p:nvPr>
        </p:nvSpPr>
        <p:spPr>
          <a:xfrm>
            <a:off x="6090550" y="3116550"/>
            <a:ext cx="2133600" cy="6249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Shell</a:t>
            </a:r>
            <a:endParaRPr b="0" u="none"/>
          </a:p>
        </p:txBody>
      </p:sp>
      <p:sp>
        <p:nvSpPr>
          <p:cNvPr id="551" name="Google Shape;551;g3712ee0af76_0_24"/>
          <p:cNvSpPr txBox="1">
            <a:spLocks noGrp="1"/>
          </p:cNvSpPr>
          <p:nvPr>
            <p:ph type="body" idx="1"/>
          </p:nvPr>
        </p:nvSpPr>
        <p:spPr>
          <a:xfrm>
            <a:off x="4339775" y="2622550"/>
            <a:ext cx="2133600" cy="6249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Terminal</a:t>
            </a:r>
            <a:endParaRPr b="0" u="none"/>
          </a:p>
        </p:txBody>
      </p:sp>
      <p:sp>
        <p:nvSpPr>
          <p:cNvPr id="552" name="Google Shape;552;g3712ee0af76_0_24"/>
          <p:cNvSpPr txBox="1">
            <a:spLocks noGrp="1"/>
          </p:cNvSpPr>
          <p:nvPr>
            <p:ph type="body" idx="1"/>
          </p:nvPr>
        </p:nvSpPr>
        <p:spPr>
          <a:xfrm>
            <a:off x="4263575" y="3122000"/>
            <a:ext cx="2133600" cy="6249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SO</a:t>
            </a:r>
            <a:endParaRPr b="0" u="none"/>
          </a:p>
        </p:txBody>
      </p:sp>
      <p:cxnSp>
        <p:nvCxnSpPr>
          <p:cNvPr id="553" name="Google Shape;553;g3712ee0af76_0_24"/>
          <p:cNvCxnSpPr/>
          <p:nvPr/>
        </p:nvCxnSpPr>
        <p:spPr>
          <a:xfrm rot="10800000" flipH="1">
            <a:off x="3764650" y="2875650"/>
            <a:ext cx="653100" cy="190500"/>
          </a:xfrm>
          <a:prstGeom prst="straightConnector1">
            <a:avLst/>
          </a:prstGeom>
          <a:noFill/>
          <a:ln w="28575" cap="flat" cmpd="sng">
            <a:solidFill>
              <a:schemeClr val="dk2"/>
            </a:solidFill>
            <a:prstDash val="solid"/>
            <a:round/>
            <a:headEnd type="none" w="sm" len="sm"/>
            <a:tailEnd type="triangle" w="med" len="med"/>
          </a:ln>
        </p:spPr>
      </p:cxnSp>
      <p:cxnSp>
        <p:nvCxnSpPr>
          <p:cNvPr id="554" name="Google Shape;554;g3712ee0af76_0_24"/>
          <p:cNvCxnSpPr/>
          <p:nvPr/>
        </p:nvCxnSpPr>
        <p:spPr>
          <a:xfrm>
            <a:off x="5688175" y="2774950"/>
            <a:ext cx="653100" cy="382500"/>
          </a:xfrm>
          <a:prstGeom prst="straightConnector1">
            <a:avLst/>
          </a:prstGeom>
          <a:noFill/>
          <a:ln w="28575" cap="flat" cmpd="sng">
            <a:solidFill>
              <a:schemeClr val="dk2"/>
            </a:solidFill>
            <a:prstDash val="solid"/>
            <a:round/>
            <a:headEnd type="none" w="sm" len="sm"/>
            <a:tailEnd type="triangle" w="med" len="med"/>
          </a:ln>
        </p:spPr>
      </p:cxnSp>
      <p:cxnSp>
        <p:nvCxnSpPr>
          <p:cNvPr id="555" name="Google Shape;555;g3712ee0af76_0_24"/>
          <p:cNvCxnSpPr/>
          <p:nvPr/>
        </p:nvCxnSpPr>
        <p:spPr>
          <a:xfrm rot="10800000">
            <a:off x="4727025" y="3329400"/>
            <a:ext cx="1402500" cy="26400"/>
          </a:xfrm>
          <a:prstGeom prst="straightConnector1">
            <a:avLst/>
          </a:prstGeom>
          <a:noFill/>
          <a:ln w="28575" cap="flat" cmpd="sng">
            <a:solidFill>
              <a:schemeClr val="dk2"/>
            </a:solidFill>
            <a:prstDash val="solid"/>
            <a:round/>
            <a:headEnd type="none" w="sm" len="sm"/>
            <a:tailEnd type="triangle" w="med" len="med"/>
          </a:ln>
        </p:spPr>
      </p:cxnSp>
      <p:cxnSp>
        <p:nvCxnSpPr>
          <p:cNvPr id="556" name="Google Shape;556;g3712ee0af76_0_24"/>
          <p:cNvCxnSpPr/>
          <p:nvPr/>
        </p:nvCxnSpPr>
        <p:spPr>
          <a:xfrm rot="10800000">
            <a:off x="1340675" y="3223500"/>
            <a:ext cx="2999100" cy="132300"/>
          </a:xfrm>
          <a:prstGeom prst="straightConnector1">
            <a:avLst/>
          </a:prstGeom>
          <a:noFill/>
          <a:ln w="28575" cap="flat" cmpd="sng">
            <a:solidFill>
              <a:schemeClr val="dk2"/>
            </a:solidFill>
            <a:prstDash val="solid"/>
            <a:round/>
            <a:headEnd type="none" w="sm" len="sm"/>
            <a:tailEnd type="triangle" w="med" len="med"/>
          </a:ln>
        </p:spPr>
      </p:cxnSp>
      <p:sp>
        <p:nvSpPr>
          <p:cNvPr id="557" name="Google Shape;557;g3712ee0af76_0_24"/>
          <p:cNvSpPr txBox="1">
            <a:spLocks noGrp="1"/>
          </p:cNvSpPr>
          <p:nvPr>
            <p:ph type="body" idx="1"/>
          </p:nvPr>
        </p:nvSpPr>
        <p:spPr>
          <a:xfrm>
            <a:off x="4417750" y="3669650"/>
            <a:ext cx="4138500" cy="17520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50000"/>
              </a:lnSpc>
              <a:spcBef>
                <a:spcPts val="400"/>
              </a:spcBef>
              <a:spcAft>
                <a:spcPts val="0"/>
              </a:spcAft>
              <a:buNone/>
            </a:pPr>
            <a:r>
              <a:rPr lang="es-ES" u="none"/>
              <a:t>Bash</a:t>
            </a:r>
            <a:endParaRPr u="none"/>
          </a:p>
          <a:p>
            <a:pPr marL="457200" lvl="0" indent="-308609" algn="l" rtl="0">
              <a:lnSpc>
                <a:spcPct val="150000"/>
              </a:lnSpc>
              <a:spcBef>
                <a:spcPts val="400"/>
              </a:spcBef>
              <a:spcAft>
                <a:spcPts val="0"/>
              </a:spcAft>
              <a:buSzPct val="90000"/>
              <a:buChar char="•"/>
            </a:pPr>
            <a:r>
              <a:rPr lang="es-ES" b="0" u="none"/>
              <a:t>Navigate the file system</a:t>
            </a:r>
            <a:endParaRPr b="0" u="none"/>
          </a:p>
          <a:p>
            <a:pPr marL="457200" lvl="0" indent="-308609" algn="l" rtl="0">
              <a:lnSpc>
                <a:spcPct val="150000"/>
              </a:lnSpc>
              <a:spcBef>
                <a:spcPts val="0"/>
              </a:spcBef>
              <a:spcAft>
                <a:spcPts val="0"/>
              </a:spcAft>
              <a:buSzPct val="90000"/>
              <a:buChar char="•"/>
            </a:pPr>
            <a:r>
              <a:rPr lang="es-ES" b="0" u="none"/>
              <a:t>Run programs and scripts</a:t>
            </a:r>
            <a:endParaRPr b="0" u="none"/>
          </a:p>
          <a:p>
            <a:pPr marL="457200" lvl="0" indent="-308609" algn="l" rtl="0">
              <a:lnSpc>
                <a:spcPct val="150000"/>
              </a:lnSpc>
              <a:spcBef>
                <a:spcPts val="0"/>
              </a:spcBef>
              <a:spcAft>
                <a:spcPts val="0"/>
              </a:spcAft>
              <a:buSzPct val="90000"/>
              <a:buChar char="•"/>
            </a:pPr>
            <a:r>
              <a:rPr lang="es-ES" b="0" u="none"/>
              <a:t>Manage processes</a:t>
            </a:r>
            <a:endParaRPr b="0" u="none"/>
          </a:p>
          <a:p>
            <a:pPr marL="457200" lvl="0" indent="-308609" algn="l" rtl="0">
              <a:lnSpc>
                <a:spcPct val="150000"/>
              </a:lnSpc>
              <a:spcBef>
                <a:spcPts val="0"/>
              </a:spcBef>
              <a:spcAft>
                <a:spcPts val="0"/>
              </a:spcAft>
              <a:buSzPct val="90000"/>
              <a:buChar char="•"/>
            </a:pPr>
            <a:r>
              <a:rPr lang="es-ES" b="0" u="none"/>
              <a:t>Administer users and permissions</a:t>
            </a:r>
            <a:endParaRPr b="0" u="none"/>
          </a:p>
          <a:p>
            <a:pPr marL="457200" lvl="0" indent="-308609" algn="l" rtl="0">
              <a:lnSpc>
                <a:spcPct val="150000"/>
              </a:lnSpc>
              <a:spcBef>
                <a:spcPts val="0"/>
              </a:spcBef>
              <a:spcAft>
                <a:spcPts val="0"/>
              </a:spcAft>
              <a:buSzPct val="90000"/>
              <a:buChar char="•"/>
            </a:pPr>
            <a:r>
              <a:rPr lang="es-ES" b="0" u="none"/>
              <a:t>Automate repetitive tasks</a:t>
            </a:r>
            <a:endParaRPr b="0" u="non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g344e220f39a_0_10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3. Basic Commands</a:t>
            </a:r>
            <a:endParaRPr/>
          </a:p>
        </p:txBody>
      </p:sp>
      <p:sp>
        <p:nvSpPr>
          <p:cNvPr id="564" name="Google Shape;564;g344e220f39a_0_100"/>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30200" algn="l" rtl="0">
              <a:lnSpc>
                <a:spcPct val="150000"/>
              </a:lnSpc>
              <a:spcBef>
                <a:spcPts val="400"/>
              </a:spcBef>
              <a:spcAft>
                <a:spcPts val="0"/>
              </a:spcAft>
              <a:buSzPts val="1800"/>
              <a:buAutoNum type="arabicPeriod"/>
            </a:pPr>
            <a:r>
              <a:rPr lang="es-ES" b="0" u="none"/>
              <a:t>Shell</a:t>
            </a:r>
            <a:endParaRPr b="0" u="none"/>
          </a:p>
          <a:p>
            <a:pPr marL="342900" lvl="0" indent="-330200" algn="l" rtl="0">
              <a:lnSpc>
                <a:spcPct val="150000"/>
              </a:lnSpc>
              <a:spcBef>
                <a:spcPts val="400"/>
              </a:spcBef>
              <a:spcAft>
                <a:spcPts val="0"/>
              </a:spcAft>
              <a:buSzPts val="1800"/>
              <a:buAutoNum type="arabicPeriod"/>
            </a:pPr>
            <a:r>
              <a:rPr lang="es-ES" b="0" u="none"/>
              <a:t>Prompt</a:t>
            </a:r>
            <a:endParaRPr b="0" u="none"/>
          </a:p>
          <a:p>
            <a:pPr marL="342900" lvl="0" indent="-330200" algn="l" rtl="0">
              <a:lnSpc>
                <a:spcPct val="150000"/>
              </a:lnSpc>
              <a:spcBef>
                <a:spcPts val="400"/>
              </a:spcBef>
              <a:spcAft>
                <a:spcPts val="0"/>
              </a:spcAft>
              <a:buSzPts val="1800"/>
              <a:buAutoNum type="arabicPeriod"/>
            </a:pPr>
            <a:r>
              <a:rPr lang="es-ES" b="0" u="none"/>
              <a:t>Basic Commands</a:t>
            </a:r>
            <a:endParaRPr b="0" u="none"/>
          </a:p>
        </p:txBody>
      </p:sp>
      <p:sp>
        <p:nvSpPr>
          <p:cNvPr id="565" name="Google Shape;565;g344e220f39a_0_10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46</a:t>
            </a:fld>
            <a:endParaRPr/>
          </a:p>
        </p:txBody>
      </p:sp>
      <p:sp>
        <p:nvSpPr>
          <p:cNvPr id="566" name="Google Shape;566;g344e220f39a_0_100"/>
          <p:cNvSpPr/>
          <p:nvPr/>
        </p:nvSpPr>
        <p:spPr>
          <a:xfrm>
            <a:off x="457200" y="2454784"/>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50"/>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lnSpcReduction="10000"/>
          </a:bodyPr>
          <a:lstStyle/>
          <a:p>
            <a:pPr marL="299085" lvl="0" indent="-286385" algn="l" rtl="0">
              <a:lnSpc>
                <a:spcPct val="100000"/>
              </a:lnSpc>
              <a:spcBef>
                <a:spcPts val="0"/>
              </a:spcBef>
              <a:spcAft>
                <a:spcPts val="0"/>
              </a:spcAft>
              <a:buClr>
                <a:schemeClr val="dk1"/>
              </a:buClr>
              <a:buSzPts val="1800"/>
              <a:buFont typeface="Arial"/>
              <a:buChar char="•"/>
            </a:pPr>
            <a:r>
              <a:rPr lang="es-ES" sz="1800" b="0" u="none"/>
              <a:t>Shell waits for the user to write commands in a line called prompt.</a:t>
            </a:r>
            <a:endParaRPr/>
          </a:p>
          <a:p>
            <a:pPr marL="299085" lvl="0" indent="-286385" algn="l" rtl="0">
              <a:lnSpc>
                <a:spcPct val="100000"/>
              </a:lnSpc>
              <a:spcBef>
                <a:spcPts val="360"/>
              </a:spcBef>
              <a:spcAft>
                <a:spcPts val="0"/>
              </a:spcAft>
              <a:buClr>
                <a:schemeClr val="dk1"/>
              </a:buClr>
              <a:buSzPts val="1800"/>
              <a:buFont typeface="Arial"/>
              <a:buChar char="•"/>
            </a:pPr>
            <a:r>
              <a:rPr lang="es-ES" sz="1800" b="0" u="none"/>
              <a:t>Prompt line gives some important information that can be easily understood:</a:t>
            </a:r>
            <a:endParaRPr/>
          </a:p>
          <a:p>
            <a:pPr marL="299085" lvl="0" indent="-172083" algn="l" rtl="0">
              <a:lnSpc>
                <a:spcPct val="100000"/>
              </a:lnSpc>
              <a:spcBef>
                <a:spcPts val="360"/>
              </a:spcBef>
              <a:spcAft>
                <a:spcPts val="0"/>
              </a:spcAft>
              <a:buClr>
                <a:schemeClr val="dk1"/>
              </a:buClr>
              <a:buSzPts val="1800"/>
              <a:buFont typeface="Arial"/>
              <a:buNone/>
            </a:pPr>
            <a:endParaRPr sz="1800" b="0" u="none"/>
          </a:p>
          <a:p>
            <a:pPr marL="12700" lvl="0" indent="0" algn="l" rtl="0">
              <a:lnSpc>
                <a:spcPct val="100000"/>
              </a:lnSpc>
              <a:spcBef>
                <a:spcPts val="360"/>
              </a:spcBef>
              <a:spcAft>
                <a:spcPts val="0"/>
              </a:spcAft>
              <a:buClr>
                <a:schemeClr val="dk1"/>
              </a:buClr>
              <a:buSzPts val="1800"/>
              <a:buNone/>
            </a:pPr>
            <a:endParaRPr sz="1800" b="0" u="none"/>
          </a:p>
          <a:p>
            <a:pPr marL="299085" lvl="0" indent="-159383" algn="l" rtl="0">
              <a:lnSpc>
                <a:spcPct val="100000"/>
              </a:lnSpc>
              <a:spcBef>
                <a:spcPts val="400"/>
              </a:spcBef>
              <a:spcAft>
                <a:spcPts val="0"/>
              </a:spcAft>
              <a:buClr>
                <a:schemeClr val="dk1"/>
              </a:buClr>
              <a:buSzPts val="2000"/>
              <a:buFont typeface="Arial"/>
              <a:buNone/>
            </a:pPr>
            <a:endParaRPr b="0" u="none"/>
          </a:p>
          <a:p>
            <a:pPr marL="299085" lvl="0" indent="-172083" algn="l" rtl="0">
              <a:lnSpc>
                <a:spcPct val="100000"/>
              </a:lnSpc>
              <a:spcBef>
                <a:spcPts val="360"/>
              </a:spcBef>
              <a:spcAft>
                <a:spcPts val="0"/>
              </a:spcAft>
              <a:buClr>
                <a:schemeClr val="dk1"/>
              </a:buClr>
              <a:buSzPts val="1800"/>
              <a:buFont typeface="Arial"/>
              <a:buNone/>
            </a:pPr>
            <a:endParaRPr sz="1800" b="0" u="none"/>
          </a:p>
          <a:p>
            <a:pPr marL="299085" lvl="0" indent="-172083" algn="l" rtl="0">
              <a:lnSpc>
                <a:spcPct val="100000"/>
              </a:lnSpc>
              <a:spcBef>
                <a:spcPts val="360"/>
              </a:spcBef>
              <a:spcAft>
                <a:spcPts val="0"/>
              </a:spcAft>
              <a:buClr>
                <a:schemeClr val="dk1"/>
              </a:buClr>
              <a:buSzPts val="1800"/>
              <a:buFont typeface="Arial"/>
              <a:buNone/>
            </a:pPr>
            <a:endParaRPr sz="1800" b="0" u="none"/>
          </a:p>
          <a:p>
            <a:pPr marL="299085" lvl="0" indent="-172083" algn="l" rtl="0">
              <a:lnSpc>
                <a:spcPct val="100000"/>
              </a:lnSpc>
              <a:spcBef>
                <a:spcPts val="360"/>
              </a:spcBef>
              <a:spcAft>
                <a:spcPts val="0"/>
              </a:spcAft>
              <a:buClr>
                <a:schemeClr val="dk1"/>
              </a:buClr>
              <a:buSzPts val="1800"/>
              <a:buFont typeface="Arial"/>
              <a:buNone/>
            </a:pPr>
            <a:endParaRPr sz="1800" b="0" u="none"/>
          </a:p>
          <a:p>
            <a:pPr marL="299085" lvl="0" indent="-286385" algn="l" rtl="0">
              <a:lnSpc>
                <a:spcPct val="100000"/>
              </a:lnSpc>
              <a:spcBef>
                <a:spcPts val="360"/>
              </a:spcBef>
              <a:spcAft>
                <a:spcPts val="0"/>
              </a:spcAft>
              <a:buClr>
                <a:schemeClr val="dk1"/>
              </a:buClr>
              <a:buSzPts val="1800"/>
              <a:buFont typeface="Arial"/>
              <a:buChar char="•"/>
            </a:pPr>
            <a:r>
              <a:rPr lang="es-ES" sz="1800" b="0" u="none"/>
              <a:t>This example prompt gives the information that the user is user, which has no admin privileges, which is connected to portutatis03 node in the HPC, and the directory where user is located is the /home/user folder.</a:t>
            </a:r>
            <a:endParaRPr b="0" u="none"/>
          </a:p>
        </p:txBody>
      </p:sp>
      <p:sp>
        <p:nvSpPr>
          <p:cNvPr id="572" name="Google Shape;572;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47</a:t>
            </a:fld>
            <a:endParaRPr/>
          </a:p>
        </p:txBody>
      </p:sp>
      <p:sp>
        <p:nvSpPr>
          <p:cNvPr id="573" name="Google Shape;573;p50"/>
          <p:cNvSpPr txBox="1"/>
          <p:nvPr/>
        </p:nvSpPr>
        <p:spPr>
          <a:xfrm>
            <a:off x="730021" y="4437112"/>
            <a:ext cx="4654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User name</a:t>
            </a:r>
            <a:endParaRPr sz="1800" b="0" i="0" u="none" strike="noStrike" cap="none">
              <a:solidFill>
                <a:schemeClr val="dk1"/>
              </a:solidFill>
              <a:latin typeface="Calibri"/>
              <a:ea typeface="Calibri"/>
              <a:cs typeface="Calibri"/>
              <a:sym typeface="Calibri"/>
            </a:endParaRPr>
          </a:p>
        </p:txBody>
      </p:sp>
      <p:sp>
        <p:nvSpPr>
          <p:cNvPr id="574" name="Google Shape;574;p50"/>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3.2. Shell’s prompt</a:t>
            </a:r>
            <a:endParaRPr/>
          </a:p>
        </p:txBody>
      </p:sp>
      <p:sp>
        <p:nvSpPr>
          <p:cNvPr id="575" name="Google Shape;575;p50"/>
          <p:cNvSpPr/>
          <p:nvPr/>
        </p:nvSpPr>
        <p:spPr>
          <a:xfrm>
            <a:off x="6481143" y="3925443"/>
            <a:ext cx="1659109" cy="369332"/>
          </a:xfrm>
          <a:prstGeom prst="rect">
            <a:avLst/>
          </a:prstGeom>
          <a:noFill/>
          <a:ln>
            <a:noFill/>
          </a:ln>
        </p:spPr>
        <p:txBody>
          <a:bodyPr spcFirstLastPara="1" wrap="square" lIns="91425" tIns="45700" rIns="91425" bIns="4570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alibri"/>
                <a:ea typeface="Calibri"/>
                <a:cs typeface="Calibri"/>
                <a:sym typeface="Calibri"/>
              </a:rPr>
              <a:t>~ = /home/user</a:t>
            </a:r>
            <a:endParaRPr sz="1800" b="0" i="0" u="none" strike="noStrike" cap="none">
              <a:solidFill>
                <a:schemeClr val="dk1"/>
              </a:solidFill>
              <a:latin typeface="Calibri"/>
              <a:ea typeface="Calibri"/>
              <a:cs typeface="Calibri"/>
              <a:sym typeface="Calibri"/>
            </a:endParaRPr>
          </a:p>
        </p:txBody>
      </p:sp>
      <p:sp>
        <p:nvSpPr>
          <p:cNvPr id="576" name="Google Shape;576;p50"/>
          <p:cNvSpPr txBox="1"/>
          <p:nvPr/>
        </p:nvSpPr>
        <p:spPr>
          <a:xfrm>
            <a:off x="656800" y="3049150"/>
            <a:ext cx="3103500" cy="369300"/>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s-ES" sz="1800" b="0" i="0" u="none" strike="noStrike" cap="none">
                <a:solidFill>
                  <a:schemeClr val="lt1"/>
                </a:solidFill>
                <a:latin typeface="Calibri"/>
                <a:ea typeface="Calibri"/>
                <a:cs typeface="Calibri"/>
                <a:sym typeface="Calibri"/>
              </a:rPr>
              <a:t>[</a:t>
            </a:r>
            <a:r>
              <a:rPr lang="es-ES" sz="1800">
                <a:solidFill>
                  <a:schemeClr val="lt1"/>
                </a:solidFill>
                <a:latin typeface="Calibri"/>
                <a:ea typeface="Calibri"/>
                <a:cs typeface="Calibri"/>
                <a:sym typeface="Calibri"/>
              </a:rPr>
              <a:t>alumno01</a:t>
            </a:r>
            <a:r>
              <a:rPr lang="es-ES" sz="1800" b="0" i="0" u="none" strike="noStrike" cap="none">
                <a:solidFill>
                  <a:schemeClr val="lt1"/>
                </a:solidFill>
                <a:latin typeface="Calibri"/>
                <a:ea typeface="Calibri"/>
                <a:cs typeface="Calibri"/>
                <a:sym typeface="Calibri"/>
              </a:rPr>
              <a:t>@portutatis03 </a:t>
            </a:r>
            <a:r>
              <a:rPr lang="es-ES" sz="1350" b="0" i="0" u="none" strike="noStrike" cap="none">
                <a:solidFill>
                  <a:schemeClr val="lt1"/>
                </a:solidFill>
                <a:latin typeface="Arial"/>
                <a:ea typeface="Arial"/>
                <a:cs typeface="Arial"/>
                <a:sym typeface="Arial"/>
              </a:rPr>
              <a:t>~]$</a:t>
            </a:r>
            <a:endParaRPr sz="1800" b="0" i="0" u="none" strike="noStrike" cap="none">
              <a:solidFill>
                <a:schemeClr val="lt1"/>
              </a:solidFill>
              <a:latin typeface="Calibri"/>
              <a:ea typeface="Calibri"/>
              <a:cs typeface="Calibri"/>
              <a:sym typeface="Calibri"/>
            </a:endParaRPr>
          </a:p>
        </p:txBody>
      </p:sp>
      <p:grpSp>
        <p:nvGrpSpPr>
          <p:cNvPr id="577" name="Google Shape;577;p50"/>
          <p:cNvGrpSpPr/>
          <p:nvPr/>
        </p:nvGrpSpPr>
        <p:grpSpPr>
          <a:xfrm>
            <a:off x="1049675" y="3125355"/>
            <a:ext cx="8254276" cy="1671666"/>
            <a:chOff x="1324986" y="3078985"/>
            <a:chExt cx="8254276" cy="1671666"/>
          </a:xfrm>
        </p:grpSpPr>
        <p:sp>
          <p:nvSpPr>
            <p:cNvPr id="578" name="Google Shape;578;p50"/>
            <p:cNvSpPr/>
            <p:nvPr/>
          </p:nvSpPr>
          <p:spPr>
            <a:xfrm>
              <a:off x="3973189" y="3328414"/>
              <a:ext cx="470535" cy="135889"/>
            </a:xfrm>
            <a:custGeom>
              <a:avLst/>
              <a:gdLst/>
              <a:ahLst/>
              <a:cxnLst/>
              <a:rect l="l" t="t" r="r" b="b"/>
              <a:pathLst>
                <a:path w="470535" h="135889" extrusionOk="0">
                  <a:moveTo>
                    <a:pt x="386884" y="88146"/>
                  </a:moveTo>
                  <a:lnTo>
                    <a:pt x="335554" y="108325"/>
                  </a:lnTo>
                  <a:lnTo>
                    <a:pt x="331866" y="116707"/>
                  </a:lnTo>
                  <a:lnTo>
                    <a:pt x="334914" y="124205"/>
                  </a:lnTo>
                  <a:lnTo>
                    <a:pt x="337840" y="131582"/>
                  </a:lnTo>
                  <a:lnTo>
                    <a:pt x="346222" y="135270"/>
                  </a:lnTo>
                  <a:lnTo>
                    <a:pt x="445140" y="96255"/>
                  </a:lnTo>
                  <a:lnTo>
                    <a:pt x="439673" y="96255"/>
                  </a:lnTo>
                  <a:lnTo>
                    <a:pt x="386884" y="88146"/>
                  </a:lnTo>
                  <a:close/>
                </a:path>
                <a:path w="470535" h="135889" extrusionOk="0">
                  <a:moveTo>
                    <a:pt x="413573" y="77647"/>
                  </a:moveTo>
                  <a:lnTo>
                    <a:pt x="386884" y="88146"/>
                  </a:lnTo>
                  <a:lnTo>
                    <a:pt x="439673" y="96255"/>
                  </a:lnTo>
                  <a:lnTo>
                    <a:pt x="440148" y="93207"/>
                  </a:lnTo>
                  <a:lnTo>
                    <a:pt x="432815" y="93207"/>
                  </a:lnTo>
                  <a:lnTo>
                    <a:pt x="413573" y="77647"/>
                  </a:lnTo>
                  <a:close/>
                </a:path>
                <a:path w="470535" h="135889" extrusionOk="0">
                  <a:moveTo>
                    <a:pt x="366643" y="2407"/>
                  </a:moveTo>
                  <a:lnTo>
                    <a:pt x="357499" y="3444"/>
                  </a:lnTo>
                  <a:lnTo>
                    <a:pt x="347471" y="15758"/>
                  </a:lnTo>
                  <a:lnTo>
                    <a:pt x="348355" y="24902"/>
                  </a:lnTo>
                  <a:lnTo>
                    <a:pt x="391191" y="59548"/>
                  </a:lnTo>
                  <a:lnTo>
                    <a:pt x="444124" y="67696"/>
                  </a:lnTo>
                  <a:lnTo>
                    <a:pt x="439673" y="96255"/>
                  </a:lnTo>
                  <a:lnTo>
                    <a:pt x="445140" y="96255"/>
                  </a:lnTo>
                  <a:lnTo>
                    <a:pt x="470275" y="86349"/>
                  </a:lnTo>
                  <a:lnTo>
                    <a:pt x="366643" y="2407"/>
                  </a:lnTo>
                  <a:close/>
                </a:path>
                <a:path w="470535" h="135889" extrusionOk="0">
                  <a:moveTo>
                    <a:pt x="436625" y="68579"/>
                  </a:moveTo>
                  <a:lnTo>
                    <a:pt x="413573" y="77647"/>
                  </a:lnTo>
                  <a:lnTo>
                    <a:pt x="432815" y="93207"/>
                  </a:lnTo>
                  <a:lnTo>
                    <a:pt x="436625" y="68579"/>
                  </a:lnTo>
                  <a:close/>
                </a:path>
                <a:path w="470535" h="135889" extrusionOk="0">
                  <a:moveTo>
                    <a:pt x="443986" y="68579"/>
                  </a:moveTo>
                  <a:lnTo>
                    <a:pt x="436625" y="68579"/>
                  </a:lnTo>
                  <a:lnTo>
                    <a:pt x="432815" y="93207"/>
                  </a:lnTo>
                  <a:lnTo>
                    <a:pt x="440148" y="93207"/>
                  </a:lnTo>
                  <a:lnTo>
                    <a:pt x="443986" y="68579"/>
                  </a:lnTo>
                  <a:close/>
                </a:path>
                <a:path w="470535" h="135889" extrusionOk="0">
                  <a:moveTo>
                    <a:pt x="4328" y="0"/>
                  </a:moveTo>
                  <a:lnTo>
                    <a:pt x="0" y="28712"/>
                  </a:lnTo>
                  <a:lnTo>
                    <a:pt x="386884" y="88146"/>
                  </a:lnTo>
                  <a:lnTo>
                    <a:pt x="413573" y="77647"/>
                  </a:lnTo>
                  <a:lnTo>
                    <a:pt x="391191" y="59548"/>
                  </a:lnTo>
                  <a:lnTo>
                    <a:pt x="4328" y="0"/>
                  </a:lnTo>
                  <a:close/>
                </a:path>
                <a:path w="470535" h="135889" extrusionOk="0">
                  <a:moveTo>
                    <a:pt x="391191" y="59548"/>
                  </a:moveTo>
                  <a:lnTo>
                    <a:pt x="413573" y="77647"/>
                  </a:lnTo>
                  <a:lnTo>
                    <a:pt x="436625" y="68579"/>
                  </a:lnTo>
                  <a:lnTo>
                    <a:pt x="443986" y="68579"/>
                  </a:lnTo>
                  <a:lnTo>
                    <a:pt x="444124" y="67696"/>
                  </a:lnTo>
                  <a:lnTo>
                    <a:pt x="391191" y="595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79" name="Google Shape;579;p50"/>
            <p:cNvSpPr/>
            <p:nvPr/>
          </p:nvSpPr>
          <p:spPr>
            <a:xfrm>
              <a:off x="1324986" y="3487551"/>
              <a:ext cx="134619" cy="864235"/>
            </a:xfrm>
            <a:custGeom>
              <a:avLst/>
              <a:gdLst/>
              <a:ahLst/>
              <a:cxnLst/>
              <a:rect l="l" t="t" r="r" b="b"/>
              <a:pathLst>
                <a:path w="134619" h="864235" extrusionOk="0">
                  <a:moveTo>
                    <a:pt x="16133" y="731900"/>
                  </a:moveTo>
                  <a:lnTo>
                    <a:pt x="2285" y="740033"/>
                  </a:lnTo>
                  <a:lnTo>
                    <a:pt x="0" y="748796"/>
                  </a:lnTo>
                  <a:lnTo>
                    <a:pt x="67187" y="864107"/>
                  </a:lnTo>
                  <a:lnTo>
                    <a:pt x="83980" y="835283"/>
                  </a:lnTo>
                  <a:lnTo>
                    <a:pt x="52709" y="835283"/>
                  </a:lnTo>
                  <a:lnTo>
                    <a:pt x="52709" y="781895"/>
                  </a:lnTo>
                  <a:lnTo>
                    <a:pt x="28955" y="741176"/>
                  </a:lnTo>
                  <a:lnTo>
                    <a:pt x="25027" y="734318"/>
                  </a:lnTo>
                  <a:lnTo>
                    <a:pt x="16133" y="731900"/>
                  </a:lnTo>
                  <a:close/>
                </a:path>
                <a:path w="134619" h="864235" extrusionOk="0">
                  <a:moveTo>
                    <a:pt x="52709" y="781895"/>
                  </a:moveTo>
                  <a:lnTo>
                    <a:pt x="52709" y="835283"/>
                  </a:lnTo>
                  <a:lnTo>
                    <a:pt x="81665" y="835283"/>
                  </a:lnTo>
                  <a:lnTo>
                    <a:pt x="81665" y="828044"/>
                  </a:lnTo>
                  <a:lnTo>
                    <a:pt x="54745" y="828044"/>
                  </a:lnTo>
                  <a:lnTo>
                    <a:pt x="67187" y="806715"/>
                  </a:lnTo>
                  <a:lnTo>
                    <a:pt x="52709" y="781895"/>
                  </a:lnTo>
                  <a:close/>
                </a:path>
                <a:path w="134619" h="864235" extrusionOk="0">
                  <a:moveTo>
                    <a:pt x="118241" y="731900"/>
                  </a:moveTo>
                  <a:lnTo>
                    <a:pt x="109346" y="734318"/>
                  </a:lnTo>
                  <a:lnTo>
                    <a:pt x="105418" y="741176"/>
                  </a:lnTo>
                  <a:lnTo>
                    <a:pt x="81665" y="781895"/>
                  </a:lnTo>
                  <a:lnTo>
                    <a:pt x="81665" y="835283"/>
                  </a:lnTo>
                  <a:lnTo>
                    <a:pt x="83980" y="835283"/>
                  </a:lnTo>
                  <a:lnTo>
                    <a:pt x="134374" y="748796"/>
                  </a:lnTo>
                  <a:lnTo>
                    <a:pt x="132088" y="740033"/>
                  </a:lnTo>
                  <a:lnTo>
                    <a:pt x="118241" y="731900"/>
                  </a:lnTo>
                  <a:close/>
                </a:path>
                <a:path w="134619" h="864235" extrusionOk="0">
                  <a:moveTo>
                    <a:pt x="67187" y="806715"/>
                  </a:moveTo>
                  <a:lnTo>
                    <a:pt x="54745" y="828044"/>
                  </a:lnTo>
                  <a:lnTo>
                    <a:pt x="79628" y="828044"/>
                  </a:lnTo>
                  <a:lnTo>
                    <a:pt x="67187" y="806715"/>
                  </a:lnTo>
                  <a:close/>
                </a:path>
                <a:path w="134619" h="864235" extrusionOk="0">
                  <a:moveTo>
                    <a:pt x="81665" y="781895"/>
                  </a:moveTo>
                  <a:lnTo>
                    <a:pt x="67187" y="806715"/>
                  </a:lnTo>
                  <a:lnTo>
                    <a:pt x="79628" y="828044"/>
                  </a:lnTo>
                  <a:lnTo>
                    <a:pt x="81665" y="828044"/>
                  </a:lnTo>
                  <a:lnTo>
                    <a:pt x="81665" y="781895"/>
                  </a:lnTo>
                  <a:close/>
                </a:path>
                <a:path w="134619" h="864235" extrusionOk="0">
                  <a:moveTo>
                    <a:pt x="81665" y="0"/>
                  </a:moveTo>
                  <a:lnTo>
                    <a:pt x="52709" y="0"/>
                  </a:lnTo>
                  <a:lnTo>
                    <a:pt x="52709" y="781895"/>
                  </a:lnTo>
                  <a:lnTo>
                    <a:pt x="67187" y="806715"/>
                  </a:lnTo>
                  <a:lnTo>
                    <a:pt x="81665" y="781895"/>
                  </a:lnTo>
                  <a:lnTo>
                    <a:pt x="8166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0" name="Google Shape;580;p50"/>
            <p:cNvSpPr/>
            <p:nvPr/>
          </p:nvSpPr>
          <p:spPr>
            <a:xfrm rot="648264">
              <a:off x="2454992" y="3483945"/>
              <a:ext cx="195625" cy="579888"/>
            </a:xfrm>
            <a:custGeom>
              <a:avLst/>
              <a:gdLst/>
              <a:ahLst/>
              <a:cxnLst/>
              <a:rect l="l" t="t" r="r" b="b"/>
              <a:pathLst>
                <a:path w="195580" h="579754" extrusionOk="0">
                  <a:moveTo>
                    <a:pt x="76580" y="463814"/>
                  </a:moveTo>
                  <a:lnTo>
                    <a:pt x="65150" y="475000"/>
                  </a:lnTo>
                  <a:lnTo>
                    <a:pt x="65019" y="484144"/>
                  </a:lnTo>
                  <a:lnTo>
                    <a:pt x="158114" y="579638"/>
                  </a:lnTo>
                  <a:lnTo>
                    <a:pt x="165214" y="555254"/>
                  </a:lnTo>
                  <a:lnTo>
                    <a:pt x="137159" y="555254"/>
                  </a:lnTo>
                  <a:lnTo>
                    <a:pt x="124172" y="503352"/>
                  </a:lnTo>
                  <a:lnTo>
                    <a:pt x="85724" y="463936"/>
                  </a:lnTo>
                  <a:lnTo>
                    <a:pt x="76580" y="463814"/>
                  </a:lnTo>
                  <a:close/>
                </a:path>
                <a:path w="195580" h="579754" extrusionOk="0">
                  <a:moveTo>
                    <a:pt x="124172" y="503352"/>
                  </a:moveTo>
                  <a:lnTo>
                    <a:pt x="137159" y="555254"/>
                  </a:lnTo>
                  <a:lnTo>
                    <a:pt x="165222" y="548274"/>
                  </a:lnTo>
                  <a:lnTo>
                    <a:pt x="165093" y="547756"/>
                  </a:lnTo>
                  <a:lnTo>
                    <a:pt x="137291" y="547756"/>
                  </a:lnTo>
                  <a:lnTo>
                    <a:pt x="144217" y="523899"/>
                  </a:lnTo>
                  <a:lnTo>
                    <a:pt x="124172" y="503352"/>
                  </a:lnTo>
                  <a:close/>
                </a:path>
                <a:path w="195580" h="579754" extrusionOk="0">
                  <a:moveTo>
                    <a:pt x="175640" y="439033"/>
                  </a:moveTo>
                  <a:lnTo>
                    <a:pt x="167639" y="443483"/>
                  </a:lnTo>
                  <a:lnTo>
                    <a:pt x="165353" y="451103"/>
                  </a:lnTo>
                  <a:lnTo>
                    <a:pt x="152232" y="496296"/>
                  </a:lnTo>
                  <a:lnTo>
                    <a:pt x="165222" y="548274"/>
                  </a:lnTo>
                  <a:lnTo>
                    <a:pt x="137159" y="555254"/>
                  </a:lnTo>
                  <a:lnTo>
                    <a:pt x="165214" y="555254"/>
                  </a:lnTo>
                  <a:lnTo>
                    <a:pt x="193166" y="459242"/>
                  </a:lnTo>
                  <a:lnTo>
                    <a:pt x="195321" y="451500"/>
                  </a:lnTo>
                  <a:lnTo>
                    <a:pt x="191012" y="443483"/>
                  </a:lnTo>
                  <a:lnTo>
                    <a:pt x="183260" y="441319"/>
                  </a:lnTo>
                  <a:lnTo>
                    <a:pt x="175640" y="439033"/>
                  </a:lnTo>
                  <a:close/>
                </a:path>
                <a:path w="195580" h="579754" extrusionOk="0">
                  <a:moveTo>
                    <a:pt x="144217" y="523899"/>
                  </a:moveTo>
                  <a:lnTo>
                    <a:pt x="137291" y="547756"/>
                  </a:lnTo>
                  <a:lnTo>
                    <a:pt x="161543" y="541660"/>
                  </a:lnTo>
                  <a:lnTo>
                    <a:pt x="144217" y="523899"/>
                  </a:lnTo>
                  <a:close/>
                </a:path>
                <a:path w="195580" h="579754" extrusionOk="0">
                  <a:moveTo>
                    <a:pt x="152232" y="496296"/>
                  </a:moveTo>
                  <a:lnTo>
                    <a:pt x="144217" y="523899"/>
                  </a:lnTo>
                  <a:lnTo>
                    <a:pt x="161543" y="541660"/>
                  </a:lnTo>
                  <a:lnTo>
                    <a:pt x="137291" y="547756"/>
                  </a:lnTo>
                  <a:lnTo>
                    <a:pt x="165093" y="547756"/>
                  </a:lnTo>
                  <a:lnTo>
                    <a:pt x="152232" y="496296"/>
                  </a:lnTo>
                  <a:close/>
                </a:path>
                <a:path w="195580" h="579754" extrusionOk="0">
                  <a:moveTo>
                    <a:pt x="28193" y="0"/>
                  </a:moveTo>
                  <a:lnTo>
                    <a:pt x="0" y="7132"/>
                  </a:lnTo>
                  <a:lnTo>
                    <a:pt x="124172" y="503352"/>
                  </a:lnTo>
                  <a:lnTo>
                    <a:pt x="144217" y="523899"/>
                  </a:lnTo>
                  <a:lnTo>
                    <a:pt x="152232" y="496296"/>
                  </a:lnTo>
                  <a:lnTo>
                    <a:pt x="2819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1" name="Google Shape;581;p50"/>
            <p:cNvSpPr txBox="1"/>
            <p:nvPr/>
          </p:nvSpPr>
          <p:spPr>
            <a:xfrm>
              <a:off x="2292985" y="4104451"/>
              <a:ext cx="67164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onsolas"/>
                  <a:ea typeface="Consolas"/>
                  <a:cs typeface="Consolas"/>
                  <a:sym typeface="Consolas"/>
                </a:rPr>
                <a:t>Hostname (machine’s name)</a:t>
              </a:r>
              <a:endParaRPr sz="18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2" name="Google Shape;582;p50"/>
            <p:cNvSpPr txBox="1"/>
            <p:nvPr/>
          </p:nvSpPr>
          <p:spPr>
            <a:xfrm>
              <a:off x="3713362" y="3802092"/>
              <a:ext cx="5865900" cy="6462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Consolas"/>
                <a:buNone/>
              </a:pPr>
              <a:r>
                <a:rPr lang="es-ES" sz="1800" b="0" i="0" u="none" strike="noStrike" cap="none">
                  <a:solidFill>
                    <a:schemeClr val="dk1"/>
                  </a:solidFill>
                  <a:latin typeface="Consolas"/>
                  <a:ea typeface="Consolas"/>
                  <a:cs typeface="Consolas"/>
                  <a:sym typeface="Consolas"/>
                </a:rPr>
                <a:t>Current directory (pwd)</a:t>
              </a:r>
              <a:endParaRPr sz="1800" b="0" i="0" u="none" strike="noStrike" cap="none">
                <a:solidFill>
                  <a:schemeClr val="dk1"/>
                </a:solidFill>
                <a:latin typeface="Consolas"/>
                <a:ea typeface="Consolas"/>
                <a:cs typeface="Consolas"/>
                <a:sym typeface="Consolas"/>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3" name="Google Shape;583;p50"/>
            <p:cNvSpPr txBox="1"/>
            <p:nvPr/>
          </p:nvSpPr>
          <p:spPr>
            <a:xfrm>
              <a:off x="4416770" y="3078985"/>
              <a:ext cx="4069800" cy="9234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Consolas"/>
                <a:buNone/>
              </a:pPr>
              <a:r>
                <a:rPr lang="es-ES" sz="1800" b="1" i="0" u="none" strike="noStrike" cap="none">
                  <a:solidFill>
                    <a:schemeClr val="dk1"/>
                  </a:solidFill>
                  <a:latin typeface="Consolas"/>
                  <a:ea typeface="Consolas"/>
                  <a:cs typeface="Consolas"/>
                  <a:sym typeface="Consolas"/>
                </a:rPr>
                <a:t>$ </a:t>
              </a:r>
              <a:r>
                <a:rPr lang="es-ES" sz="1800" b="0" i="0" u="none" strike="noStrike" cap="none">
                  <a:solidFill>
                    <a:schemeClr val="dk1"/>
                  </a:solidFill>
                  <a:latin typeface="Consolas"/>
                  <a:ea typeface="Consolas"/>
                  <a:cs typeface="Consolas"/>
                  <a:sym typeface="Consolas"/>
                </a:rPr>
                <a:t>no privileges</a:t>
              </a:r>
              <a:endParaRPr sz="1800" b="0" i="0" u="none" strike="noStrike" cap="none">
                <a:solidFill>
                  <a:schemeClr val="dk1"/>
                </a:solidFill>
                <a:latin typeface="Consolas"/>
                <a:ea typeface="Consolas"/>
                <a:cs typeface="Consolas"/>
                <a:sym typeface="Consolas"/>
              </a:endParaRPr>
            </a:p>
            <a:p>
              <a:pPr marL="0" marR="0" lvl="0" indent="0" algn="just" rtl="0">
                <a:lnSpc>
                  <a:spcPct val="100000"/>
                </a:lnSpc>
                <a:spcBef>
                  <a:spcPts val="0"/>
                </a:spcBef>
                <a:spcAft>
                  <a:spcPts val="0"/>
                </a:spcAft>
                <a:buClr>
                  <a:srgbClr val="000000"/>
                </a:buClr>
                <a:buSzPts val="1800"/>
                <a:buFont typeface="Arial"/>
                <a:buNone/>
              </a:pPr>
              <a:r>
                <a:rPr lang="es-ES" sz="1800" b="1" i="0" u="none" strike="noStrike" cap="none">
                  <a:solidFill>
                    <a:schemeClr val="dk1"/>
                  </a:solidFill>
                  <a:latin typeface="Consolas"/>
                  <a:ea typeface="Consolas"/>
                  <a:cs typeface="Consolas"/>
                  <a:sym typeface="Consolas"/>
                </a:rPr>
                <a:t># </a:t>
              </a:r>
              <a:r>
                <a:rPr lang="es-ES" sz="1800" b="0" i="0" u="none" strike="noStrike" cap="none">
                  <a:solidFill>
                    <a:schemeClr val="dk1"/>
                  </a:solidFill>
                  <a:latin typeface="Consolas"/>
                  <a:ea typeface="Consolas"/>
                  <a:cs typeface="Consolas"/>
                  <a:sym typeface="Consolas"/>
                </a:rPr>
                <a:t>privileges</a:t>
              </a:r>
              <a:endParaRPr sz="1800" b="0" i="0" u="none" strike="noStrike" cap="none">
                <a:solidFill>
                  <a:schemeClr val="dk1"/>
                </a:solidFill>
                <a:latin typeface="Consolas"/>
                <a:ea typeface="Consolas"/>
                <a:cs typeface="Consolas"/>
                <a:sym typeface="Consolas"/>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4" name="Google Shape;584;p50"/>
            <p:cNvSpPr/>
            <p:nvPr/>
          </p:nvSpPr>
          <p:spPr>
            <a:xfrm>
              <a:off x="3472562" y="3410455"/>
              <a:ext cx="385683" cy="364822"/>
            </a:xfrm>
            <a:custGeom>
              <a:avLst/>
              <a:gdLst/>
              <a:ahLst/>
              <a:cxnLst/>
              <a:rect l="l" t="t" r="r" b="b"/>
              <a:pathLst>
                <a:path w="273050" h="297814" extrusionOk="0">
                  <a:moveTo>
                    <a:pt x="153923" y="230123"/>
                  </a:moveTo>
                  <a:lnTo>
                    <a:pt x="145785" y="234330"/>
                  </a:lnTo>
                  <a:lnTo>
                    <a:pt x="143377" y="242072"/>
                  </a:lnTo>
                  <a:lnTo>
                    <a:pt x="140969" y="249692"/>
                  </a:lnTo>
                  <a:lnTo>
                    <a:pt x="145176" y="257799"/>
                  </a:lnTo>
                  <a:lnTo>
                    <a:pt x="272430" y="297820"/>
                  </a:lnTo>
                  <a:lnTo>
                    <a:pt x="269976" y="286268"/>
                  </a:lnTo>
                  <a:lnTo>
                    <a:pt x="242437" y="286268"/>
                  </a:lnTo>
                  <a:lnTo>
                    <a:pt x="206466" y="246696"/>
                  </a:lnTo>
                  <a:lnTo>
                    <a:pt x="153923" y="230123"/>
                  </a:lnTo>
                  <a:close/>
                </a:path>
                <a:path w="273050" h="297814" extrusionOk="0">
                  <a:moveTo>
                    <a:pt x="206466" y="246696"/>
                  </a:moveTo>
                  <a:lnTo>
                    <a:pt x="242437" y="286268"/>
                  </a:lnTo>
                  <a:lnTo>
                    <a:pt x="249828" y="279532"/>
                  </a:lnTo>
                  <a:lnTo>
                    <a:pt x="238902" y="279532"/>
                  </a:lnTo>
                  <a:lnTo>
                    <a:pt x="233763" y="255304"/>
                  </a:lnTo>
                  <a:lnTo>
                    <a:pt x="206466" y="246696"/>
                  </a:lnTo>
                  <a:close/>
                </a:path>
                <a:path w="273050" h="297814" extrusionOk="0">
                  <a:moveTo>
                    <a:pt x="236981" y="162427"/>
                  </a:moveTo>
                  <a:lnTo>
                    <a:pt x="221376" y="165750"/>
                  </a:lnTo>
                  <a:lnTo>
                    <a:pt x="216407" y="173370"/>
                  </a:lnTo>
                  <a:lnTo>
                    <a:pt x="218053" y="181234"/>
                  </a:lnTo>
                  <a:lnTo>
                    <a:pt x="227812" y="227243"/>
                  </a:lnTo>
                  <a:lnTo>
                    <a:pt x="263773" y="266821"/>
                  </a:lnTo>
                  <a:lnTo>
                    <a:pt x="242437" y="286268"/>
                  </a:lnTo>
                  <a:lnTo>
                    <a:pt x="269976" y="286268"/>
                  </a:lnTo>
                  <a:lnTo>
                    <a:pt x="244723" y="167396"/>
                  </a:lnTo>
                  <a:lnTo>
                    <a:pt x="236981" y="162427"/>
                  </a:lnTo>
                  <a:close/>
                </a:path>
                <a:path w="273050" h="297814" extrusionOk="0">
                  <a:moveTo>
                    <a:pt x="233763" y="255304"/>
                  </a:moveTo>
                  <a:lnTo>
                    <a:pt x="238902" y="279532"/>
                  </a:lnTo>
                  <a:lnTo>
                    <a:pt x="257434" y="262768"/>
                  </a:lnTo>
                  <a:lnTo>
                    <a:pt x="233763" y="255304"/>
                  </a:lnTo>
                  <a:close/>
                </a:path>
                <a:path w="273050" h="297814" extrusionOk="0">
                  <a:moveTo>
                    <a:pt x="227812" y="227243"/>
                  </a:moveTo>
                  <a:lnTo>
                    <a:pt x="233763" y="255304"/>
                  </a:lnTo>
                  <a:lnTo>
                    <a:pt x="257434" y="262768"/>
                  </a:lnTo>
                  <a:lnTo>
                    <a:pt x="238902" y="279532"/>
                  </a:lnTo>
                  <a:lnTo>
                    <a:pt x="249828" y="279532"/>
                  </a:lnTo>
                  <a:lnTo>
                    <a:pt x="263773" y="266821"/>
                  </a:lnTo>
                  <a:lnTo>
                    <a:pt x="227812" y="227243"/>
                  </a:lnTo>
                  <a:close/>
                </a:path>
                <a:path w="273050" h="297814" extrusionOk="0">
                  <a:moveTo>
                    <a:pt x="21335" y="0"/>
                  </a:moveTo>
                  <a:lnTo>
                    <a:pt x="0" y="19568"/>
                  </a:lnTo>
                  <a:lnTo>
                    <a:pt x="206466" y="246696"/>
                  </a:lnTo>
                  <a:lnTo>
                    <a:pt x="233763" y="255304"/>
                  </a:lnTo>
                  <a:lnTo>
                    <a:pt x="227812" y="227243"/>
                  </a:lnTo>
                  <a:lnTo>
                    <a:pt x="2133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g344e220f39a_0_108"/>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3. Basic Commands</a:t>
            </a:r>
            <a:endParaRPr/>
          </a:p>
        </p:txBody>
      </p:sp>
      <p:sp>
        <p:nvSpPr>
          <p:cNvPr id="591" name="Google Shape;591;g344e220f39a_0_108"/>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30200" algn="l" rtl="0">
              <a:lnSpc>
                <a:spcPct val="150000"/>
              </a:lnSpc>
              <a:spcBef>
                <a:spcPts val="400"/>
              </a:spcBef>
              <a:spcAft>
                <a:spcPts val="0"/>
              </a:spcAft>
              <a:buSzPts val="1800"/>
              <a:buAutoNum type="arabicPeriod"/>
            </a:pPr>
            <a:r>
              <a:rPr lang="es-ES" b="0" u="none"/>
              <a:t>Shell</a:t>
            </a:r>
            <a:endParaRPr b="0" u="none"/>
          </a:p>
          <a:p>
            <a:pPr marL="342900" lvl="0" indent="-330200" algn="l" rtl="0">
              <a:lnSpc>
                <a:spcPct val="150000"/>
              </a:lnSpc>
              <a:spcBef>
                <a:spcPts val="400"/>
              </a:spcBef>
              <a:spcAft>
                <a:spcPts val="0"/>
              </a:spcAft>
              <a:buSzPts val="1800"/>
              <a:buAutoNum type="arabicPeriod"/>
            </a:pPr>
            <a:r>
              <a:rPr lang="es-ES" b="0" u="none"/>
              <a:t>Prompt</a:t>
            </a:r>
            <a:endParaRPr b="0" u="none"/>
          </a:p>
          <a:p>
            <a:pPr marL="342900" lvl="0" indent="-330200" algn="l" rtl="0">
              <a:lnSpc>
                <a:spcPct val="150000"/>
              </a:lnSpc>
              <a:spcBef>
                <a:spcPts val="400"/>
              </a:spcBef>
              <a:spcAft>
                <a:spcPts val="0"/>
              </a:spcAft>
              <a:buSzPts val="1800"/>
              <a:buAutoNum type="arabicPeriod"/>
            </a:pPr>
            <a:r>
              <a:rPr lang="es-ES" b="0" u="none"/>
              <a:t>Basic Commands</a:t>
            </a:r>
            <a:endParaRPr b="0" u="none"/>
          </a:p>
        </p:txBody>
      </p:sp>
      <p:sp>
        <p:nvSpPr>
          <p:cNvPr id="592" name="Google Shape;592;g344e220f39a_0_10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48</a:t>
            </a:fld>
            <a:endParaRPr/>
          </a:p>
        </p:txBody>
      </p:sp>
      <p:sp>
        <p:nvSpPr>
          <p:cNvPr id="593" name="Google Shape;593;g344e220f39a_0_108"/>
          <p:cNvSpPr/>
          <p:nvPr/>
        </p:nvSpPr>
        <p:spPr>
          <a:xfrm>
            <a:off x="457200" y="2954914"/>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g3712ee0af76_0_44"/>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pwd (Print Working Directory) </a:t>
            </a:r>
            <a:endParaRPr/>
          </a:p>
        </p:txBody>
      </p:sp>
      <p:sp>
        <p:nvSpPr>
          <p:cNvPr id="600" name="Google Shape;600;g3712ee0af76_0_44"/>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Shows the current directory</a:t>
            </a:r>
            <a:endParaRPr b="0" u="none"/>
          </a:p>
        </p:txBody>
      </p:sp>
      <p:sp>
        <p:nvSpPr>
          <p:cNvPr id="601" name="Google Shape;601;g3712ee0af76_0_4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49</a:t>
            </a:fld>
            <a:endParaRPr/>
          </a:p>
        </p:txBody>
      </p:sp>
      <p:pic>
        <p:nvPicPr>
          <p:cNvPr id="602" name="Google Shape;602;g3712ee0af76_0_44"/>
          <p:cNvPicPr preferRelativeResize="0"/>
          <p:nvPr/>
        </p:nvPicPr>
        <p:blipFill rotWithShape="1">
          <a:blip r:embed="rId3">
            <a:alphaModFix/>
          </a:blip>
          <a:srcRect/>
          <a:stretch/>
        </p:blipFill>
        <p:spPr>
          <a:xfrm>
            <a:off x="241650" y="2978893"/>
            <a:ext cx="6700900" cy="1528650"/>
          </a:xfrm>
          <a:prstGeom prst="rect">
            <a:avLst/>
          </a:prstGeom>
          <a:noFill/>
          <a:ln>
            <a:noFill/>
          </a:ln>
        </p:spPr>
      </p:pic>
      <p:pic>
        <p:nvPicPr>
          <p:cNvPr id="603" name="Google Shape;603;g3712ee0af76_0_44"/>
          <p:cNvPicPr preferRelativeResize="0"/>
          <p:nvPr/>
        </p:nvPicPr>
        <p:blipFill rotWithShape="1">
          <a:blip r:embed="rId4">
            <a:alphaModFix/>
          </a:blip>
          <a:srcRect l="20912" t="11626" r="25270" b="13645"/>
          <a:stretch/>
        </p:blipFill>
        <p:spPr>
          <a:xfrm>
            <a:off x="5325725" y="2692625"/>
            <a:ext cx="685625" cy="9520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pic>
        <p:nvPicPr>
          <p:cNvPr id="609" name="Google Shape;609;g3715fd0d4a0_0_2"/>
          <p:cNvPicPr preferRelativeResize="0"/>
          <p:nvPr/>
        </p:nvPicPr>
        <p:blipFill rotWithShape="1">
          <a:blip r:embed="rId3">
            <a:alphaModFix/>
          </a:blip>
          <a:srcRect/>
          <a:stretch/>
        </p:blipFill>
        <p:spPr>
          <a:xfrm>
            <a:off x="457200" y="2713512"/>
            <a:ext cx="8023801" cy="2414037"/>
          </a:xfrm>
          <a:prstGeom prst="rect">
            <a:avLst/>
          </a:prstGeom>
          <a:noFill/>
          <a:ln>
            <a:noFill/>
          </a:ln>
        </p:spPr>
      </p:pic>
      <p:sp>
        <p:nvSpPr>
          <p:cNvPr id="610" name="Google Shape;610;g3715fd0d4a0_0_2"/>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ls (List) </a:t>
            </a:r>
            <a:endParaRPr/>
          </a:p>
        </p:txBody>
      </p:sp>
      <p:sp>
        <p:nvSpPr>
          <p:cNvPr id="611" name="Google Shape;611;g3715fd0d4a0_0_2"/>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List the content of a directory</a:t>
            </a:r>
            <a:endParaRPr b="0" u="none"/>
          </a:p>
        </p:txBody>
      </p:sp>
      <p:sp>
        <p:nvSpPr>
          <p:cNvPr id="612" name="Google Shape;612;g3715fd0d4a0_0_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50</a:t>
            </a:fld>
            <a:endParaRPr/>
          </a:p>
        </p:txBody>
      </p:sp>
      <p:pic>
        <p:nvPicPr>
          <p:cNvPr id="613" name="Google Shape;613;g3715fd0d4a0_0_2"/>
          <p:cNvPicPr preferRelativeResize="0"/>
          <p:nvPr/>
        </p:nvPicPr>
        <p:blipFill rotWithShape="1">
          <a:blip r:embed="rId4">
            <a:alphaModFix/>
          </a:blip>
          <a:srcRect l="20912" t="11626" r="25270" b="13645"/>
          <a:stretch/>
        </p:blipFill>
        <p:spPr>
          <a:xfrm>
            <a:off x="8196850" y="3444488"/>
            <a:ext cx="685625" cy="9520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g3715fd0d4a0_0_12"/>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cd (Change Directory) </a:t>
            </a:r>
            <a:endParaRPr/>
          </a:p>
        </p:txBody>
      </p:sp>
      <p:sp>
        <p:nvSpPr>
          <p:cNvPr id="620" name="Google Shape;620;g3715fd0d4a0_0_12"/>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Move from one directory to another</a:t>
            </a:r>
            <a:endParaRPr b="0" u="none"/>
          </a:p>
        </p:txBody>
      </p:sp>
      <p:sp>
        <p:nvSpPr>
          <p:cNvPr id="621" name="Google Shape;621;g3715fd0d4a0_0_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51</a:t>
            </a:fld>
            <a:endParaRPr/>
          </a:p>
        </p:txBody>
      </p:sp>
      <p:pic>
        <p:nvPicPr>
          <p:cNvPr id="622" name="Google Shape;622;g3715fd0d4a0_0_12"/>
          <p:cNvPicPr preferRelativeResize="0"/>
          <p:nvPr/>
        </p:nvPicPr>
        <p:blipFill rotWithShape="1">
          <a:blip r:embed="rId3">
            <a:alphaModFix/>
          </a:blip>
          <a:srcRect/>
          <a:stretch/>
        </p:blipFill>
        <p:spPr>
          <a:xfrm>
            <a:off x="457200" y="2439725"/>
            <a:ext cx="7657650" cy="3468860"/>
          </a:xfrm>
          <a:prstGeom prst="rect">
            <a:avLst/>
          </a:prstGeom>
          <a:noFill/>
          <a:ln>
            <a:noFill/>
          </a:ln>
        </p:spPr>
      </p:pic>
      <p:pic>
        <p:nvPicPr>
          <p:cNvPr id="623" name="Google Shape;623;g3715fd0d4a0_0_12"/>
          <p:cNvPicPr preferRelativeResize="0"/>
          <p:nvPr/>
        </p:nvPicPr>
        <p:blipFill rotWithShape="1">
          <a:blip r:embed="rId4">
            <a:alphaModFix/>
          </a:blip>
          <a:srcRect l="20912" t="11626" r="25270" b="13645"/>
          <a:stretch/>
        </p:blipFill>
        <p:spPr>
          <a:xfrm>
            <a:off x="7173038" y="3557525"/>
            <a:ext cx="685625" cy="952075"/>
          </a:xfrm>
          <a:prstGeom prst="rect">
            <a:avLst/>
          </a:prstGeom>
          <a:noFill/>
          <a:ln>
            <a:noFill/>
          </a:ln>
        </p:spPr>
      </p:pic>
      <p:pic>
        <p:nvPicPr>
          <p:cNvPr id="624" name="Google Shape;624;g3715fd0d4a0_0_12"/>
          <p:cNvPicPr preferRelativeResize="0"/>
          <p:nvPr/>
        </p:nvPicPr>
        <p:blipFill rotWithShape="1">
          <a:blip r:embed="rId4">
            <a:alphaModFix/>
          </a:blip>
          <a:srcRect l="20912" t="11626" r="25270" b="13645"/>
          <a:stretch/>
        </p:blipFill>
        <p:spPr>
          <a:xfrm>
            <a:off x="7027913" y="4509600"/>
            <a:ext cx="685625" cy="9520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g3715fd0d4a0_3_3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cd (Change Direcotry) </a:t>
            </a:r>
            <a:endParaRPr/>
          </a:p>
        </p:txBody>
      </p:sp>
      <p:sp>
        <p:nvSpPr>
          <p:cNvPr id="631" name="Google Shape;631;g3715fd0d4a0_3_30"/>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Move from one directory to another</a:t>
            </a:r>
            <a:endParaRPr b="0" u="none"/>
          </a:p>
        </p:txBody>
      </p:sp>
      <p:sp>
        <p:nvSpPr>
          <p:cNvPr id="632" name="Google Shape;632;g3715fd0d4a0_3_3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52</a:t>
            </a:fld>
            <a:endParaRPr/>
          </a:p>
        </p:txBody>
      </p:sp>
      <p:pic>
        <p:nvPicPr>
          <p:cNvPr id="633" name="Google Shape;633;g3715fd0d4a0_3_30"/>
          <p:cNvPicPr preferRelativeResize="0"/>
          <p:nvPr/>
        </p:nvPicPr>
        <p:blipFill rotWithShape="1">
          <a:blip r:embed="rId3">
            <a:alphaModFix/>
          </a:blip>
          <a:srcRect/>
          <a:stretch/>
        </p:blipFill>
        <p:spPr>
          <a:xfrm>
            <a:off x="511125" y="2492995"/>
            <a:ext cx="5791100" cy="3172525"/>
          </a:xfrm>
          <a:prstGeom prst="rect">
            <a:avLst/>
          </a:prstGeom>
          <a:noFill/>
          <a:ln>
            <a:noFill/>
          </a:ln>
        </p:spPr>
      </p:pic>
      <p:sp>
        <p:nvSpPr>
          <p:cNvPr id="634" name="Google Shape;634;g3715fd0d4a0_3_30"/>
          <p:cNvSpPr txBox="1">
            <a:spLocks noGrp="1"/>
          </p:cNvSpPr>
          <p:nvPr>
            <p:ph type="body" idx="1"/>
          </p:nvPr>
        </p:nvSpPr>
        <p:spPr>
          <a:xfrm>
            <a:off x="6378425" y="3885125"/>
            <a:ext cx="2757600" cy="792000"/>
          </a:xfrm>
          <a:prstGeom prst="rect">
            <a:avLst/>
          </a:prstGeom>
          <a:noFill/>
          <a:ln>
            <a:noFill/>
          </a:ln>
        </p:spPr>
        <p:txBody>
          <a:bodyPr spcFirstLastPara="1" wrap="square" lIns="91425" tIns="45700" rIns="91425" bIns="45700" anchor="t" anchorCtr="0">
            <a:normAutofit fontScale="85000"/>
          </a:bodyPr>
          <a:lstStyle/>
          <a:p>
            <a:pPr marL="0" lvl="0" indent="0" algn="l" rtl="0">
              <a:lnSpc>
                <a:spcPct val="100000"/>
              </a:lnSpc>
              <a:spcBef>
                <a:spcPts val="360"/>
              </a:spcBef>
              <a:spcAft>
                <a:spcPts val="0"/>
              </a:spcAft>
              <a:buSzPct val="105882"/>
              <a:buNone/>
            </a:pPr>
            <a:r>
              <a:rPr lang="es-ES" b="0" u="none"/>
              <a:t>. = Current pwd</a:t>
            </a:r>
            <a:endParaRPr b="0" u="none"/>
          </a:p>
          <a:p>
            <a:pPr marL="0" lvl="0" indent="0" algn="l" rtl="0">
              <a:lnSpc>
                <a:spcPct val="100000"/>
              </a:lnSpc>
              <a:spcBef>
                <a:spcPts val="360"/>
              </a:spcBef>
              <a:spcAft>
                <a:spcPts val="0"/>
              </a:spcAft>
              <a:buSzPct val="105882"/>
              <a:buNone/>
            </a:pPr>
            <a:r>
              <a:rPr lang="es-ES" b="0" u="none"/>
              <a:t>.. = Parent directory</a:t>
            </a:r>
            <a:endParaRPr b="0" u="non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g3715fd0d4a0_0_23"/>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mkdir (Make Directory) </a:t>
            </a:r>
            <a:endParaRPr/>
          </a:p>
        </p:txBody>
      </p:sp>
      <p:sp>
        <p:nvSpPr>
          <p:cNvPr id="641" name="Google Shape;641;g3715fd0d4a0_0_23"/>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Create an empty directory</a:t>
            </a:r>
            <a:endParaRPr b="0" u="none"/>
          </a:p>
        </p:txBody>
      </p:sp>
      <p:sp>
        <p:nvSpPr>
          <p:cNvPr id="642" name="Google Shape;642;g3715fd0d4a0_0_2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53</a:t>
            </a:fld>
            <a:endParaRPr/>
          </a:p>
        </p:txBody>
      </p:sp>
      <p:pic>
        <p:nvPicPr>
          <p:cNvPr id="643" name="Google Shape;643;g3715fd0d4a0_0_23"/>
          <p:cNvPicPr preferRelativeResize="0"/>
          <p:nvPr/>
        </p:nvPicPr>
        <p:blipFill rotWithShape="1">
          <a:blip r:embed="rId3">
            <a:alphaModFix/>
          </a:blip>
          <a:srcRect/>
          <a:stretch/>
        </p:blipFill>
        <p:spPr>
          <a:xfrm>
            <a:off x="732488" y="2889621"/>
            <a:ext cx="7679026" cy="23022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pic>
        <p:nvPicPr>
          <p:cNvPr id="648" name="Google Shape;648;p55"/>
          <p:cNvPicPr preferRelativeResize="0">
            <a:picLocks noGrp="1"/>
          </p:cNvPicPr>
          <p:nvPr>
            <p:ph type="body" idx="1"/>
          </p:nvPr>
        </p:nvPicPr>
        <p:blipFill rotWithShape="1">
          <a:blip r:embed="rId3">
            <a:alphaModFix/>
          </a:blip>
          <a:srcRect/>
          <a:stretch/>
        </p:blipFill>
        <p:spPr>
          <a:xfrm>
            <a:off x="628650" y="1957253"/>
            <a:ext cx="7886700" cy="4084906"/>
          </a:xfrm>
          <a:prstGeom prst="rect">
            <a:avLst/>
          </a:prstGeom>
          <a:noFill/>
          <a:ln>
            <a:noFill/>
          </a:ln>
        </p:spPr>
      </p:pic>
      <p:sp>
        <p:nvSpPr>
          <p:cNvPr id="649" name="Google Shape;649;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54</a:t>
            </a:fld>
            <a:endParaRPr/>
          </a:p>
        </p:txBody>
      </p:sp>
      <p:sp>
        <p:nvSpPr>
          <p:cNvPr id="650" name="Google Shape;650;p55"/>
          <p:cNvSpPr/>
          <p:nvPr/>
        </p:nvSpPr>
        <p:spPr>
          <a:xfrm>
            <a:off x="3492280" y="2040210"/>
            <a:ext cx="393920" cy="550589"/>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55"/>
          <p:cNvSpPr txBox="1"/>
          <p:nvPr/>
        </p:nvSpPr>
        <p:spPr>
          <a:xfrm>
            <a:off x="2444530" y="3657600"/>
            <a:ext cx="1289270" cy="523220"/>
          </a:xfrm>
          <a:prstGeom prst="rect">
            <a:avLst/>
          </a:prstGeom>
          <a:solidFill>
            <a:srgbClr val="FF0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lt1"/>
                </a:solidFill>
                <a:latin typeface="Calibri"/>
                <a:ea typeface="Calibri"/>
                <a:cs typeface="Calibri"/>
                <a:sym typeface="Calibri"/>
              </a:rPr>
              <a:t>mkdir</a:t>
            </a:r>
            <a:endParaRPr sz="2800" b="0" i="0" u="none" strike="noStrike" cap="none">
              <a:solidFill>
                <a:schemeClr val="lt1"/>
              </a:solidFill>
              <a:latin typeface="Calibri"/>
              <a:ea typeface="Calibri"/>
              <a:cs typeface="Calibri"/>
              <a:sym typeface="Calibri"/>
            </a:endParaRPr>
          </a:p>
        </p:txBody>
      </p:sp>
      <p:cxnSp>
        <p:nvCxnSpPr>
          <p:cNvPr id="652" name="Google Shape;652;p55"/>
          <p:cNvCxnSpPr>
            <a:stCxn id="651" idx="0"/>
            <a:endCxn id="650" idx="2"/>
          </p:cNvCxnSpPr>
          <p:nvPr/>
        </p:nvCxnSpPr>
        <p:spPr>
          <a:xfrm rot="10800000" flipH="1">
            <a:off x="3089165" y="2590800"/>
            <a:ext cx="600000" cy="1066800"/>
          </a:xfrm>
          <a:prstGeom prst="straightConnector1">
            <a:avLst/>
          </a:prstGeom>
          <a:noFill/>
          <a:ln w="57150" cap="flat" cmpd="sng">
            <a:solidFill>
              <a:srgbClr val="FF0000"/>
            </a:solidFill>
            <a:prstDash val="solid"/>
            <a:round/>
            <a:headEnd type="triangle" w="med" len="med"/>
            <a:tailEnd type="triangle" w="med" len="med"/>
          </a:ln>
        </p:spPr>
      </p:cxnSp>
      <p:sp>
        <p:nvSpPr>
          <p:cNvPr id="653" name="Google Shape;653;p55"/>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mkdir (Make Directory)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g3715fd0d4a0_0_34"/>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rm (Remove) </a:t>
            </a:r>
            <a:endParaRPr/>
          </a:p>
        </p:txBody>
      </p:sp>
      <p:sp>
        <p:nvSpPr>
          <p:cNvPr id="660" name="Google Shape;660;g3715fd0d4a0_0_34"/>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Remove files</a:t>
            </a:r>
            <a:endParaRPr b="0" u="none"/>
          </a:p>
        </p:txBody>
      </p:sp>
      <p:sp>
        <p:nvSpPr>
          <p:cNvPr id="661" name="Google Shape;661;g3715fd0d4a0_0_3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55</a:t>
            </a:fld>
            <a:endParaRPr/>
          </a:p>
        </p:txBody>
      </p:sp>
      <p:sp>
        <p:nvSpPr>
          <p:cNvPr id="662" name="Google Shape;662;g3715fd0d4a0_0_34"/>
          <p:cNvSpPr txBox="1">
            <a:spLocks noGrp="1"/>
          </p:cNvSpPr>
          <p:nvPr>
            <p:ph type="body" idx="1"/>
          </p:nvPr>
        </p:nvSpPr>
        <p:spPr>
          <a:xfrm>
            <a:off x="587125" y="6314656"/>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It doesn’t ask for a confirmation</a:t>
            </a:r>
            <a:endParaRPr b="0" u="none"/>
          </a:p>
        </p:txBody>
      </p:sp>
      <p:pic>
        <p:nvPicPr>
          <p:cNvPr id="663" name="Google Shape;663;g3715fd0d4a0_0_34" descr="Attention line icon. Exclamation, hazard danger, warning in triangle symbol, outline style pictogram on white background. Construction sign for mobile concept or web design. Vector graphics. (proporcionado por Getty Images)"/>
          <p:cNvPicPr preferRelativeResize="0"/>
          <p:nvPr/>
        </p:nvPicPr>
        <p:blipFill rotWithShape="1">
          <a:blip r:embed="rId3">
            <a:alphaModFix/>
          </a:blip>
          <a:srcRect/>
          <a:stretch/>
        </p:blipFill>
        <p:spPr>
          <a:xfrm>
            <a:off x="43775" y="6267224"/>
            <a:ext cx="543350" cy="543350"/>
          </a:xfrm>
          <a:prstGeom prst="rect">
            <a:avLst/>
          </a:prstGeom>
          <a:noFill/>
          <a:ln>
            <a:noFill/>
          </a:ln>
        </p:spPr>
      </p:pic>
      <p:pic>
        <p:nvPicPr>
          <p:cNvPr id="664" name="Google Shape;664;g3715fd0d4a0_0_34"/>
          <p:cNvPicPr preferRelativeResize="0"/>
          <p:nvPr/>
        </p:nvPicPr>
        <p:blipFill rotWithShape="1">
          <a:blip r:embed="rId4">
            <a:alphaModFix/>
          </a:blip>
          <a:srcRect/>
          <a:stretch/>
        </p:blipFill>
        <p:spPr>
          <a:xfrm>
            <a:off x="152400" y="2681369"/>
            <a:ext cx="8534400" cy="226609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pic>
        <p:nvPicPr>
          <p:cNvPr id="669" name="Google Shape;669;p54"/>
          <p:cNvPicPr preferRelativeResize="0">
            <a:picLocks noGrp="1"/>
          </p:cNvPicPr>
          <p:nvPr>
            <p:ph type="body" idx="1"/>
          </p:nvPr>
        </p:nvPicPr>
        <p:blipFill rotWithShape="1">
          <a:blip r:embed="rId3">
            <a:alphaModFix/>
          </a:blip>
          <a:srcRect/>
          <a:stretch/>
        </p:blipFill>
        <p:spPr>
          <a:xfrm>
            <a:off x="628650" y="1957253"/>
            <a:ext cx="7886700" cy="4084906"/>
          </a:xfrm>
          <a:prstGeom prst="rect">
            <a:avLst/>
          </a:prstGeom>
          <a:noFill/>
          <a:ln>
            <a:noFill/>
          </a:ln>
        </p:spPr>
      </p:pic>
      <p:sp>
        <p:nvSpPr>
          <p:cNvPr id="670" name="Google Shape;670;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56</a:t>
            </a:fld>
            <a:endParaRPr/>
          </a:p>
        </p:txBody>
      </p:sp>
      <p:sp>
        <p:nvSpPr>
          <p:cNvPr id="671" name="Google Shape;671;p54"/>
          <p:cNvSpPr/>
          <p:nvPr/>
        </p:nvSpPr>
        <p:spPr>
          <a:xfrm>
            <a:off x="2895600" y="2057400"/>
            <a:ext cx="381000" cy="45720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54"/>
          <p:cNvSpPr txBox="1"/>
          <p:nvPr/>
        </p:nvSpPr>
        <p:spPr>
          <a:xfrm>
            <a:off x="1066800" y="2971800"/>
            <a:ext cx="685800" cy="523220"/>
          </a:xfrm>
          <a:prstGeom prst="rect">
            <a:avLst/>
          </a:prstGeom>
          <a:solidFill>
            <a:srgbClr val="FF0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lt1"/>
                </a:solidFill>
                <a:latin typeface="Calibri"/>
                <a:ea typeface="Calibri"/>
                <a:cs typeface="Calibri"/>
                <a:sym typeface="Calibri"/>
              </a:rPr>
              <a:t>rm</a:t>
            </a:r>
            <a:endParaRPr sz="2800" b="0" i="0" u="none" strike="noStrike" cap="none">
              <a:solidFill>
                <a:schemeClr val="lt1"/>
              </a:solidFill>
              <a:latin typeface="Calibri"/>
              <a:ea typeface="Calibri"/>
              <a:cs typeface="Calibri"/>
              <a:sym typeface="Calibri"/>
            </a:endParaRPr>
          </a:p>
        </p:txBody>
      </p:sp>
      <p:cxnSp>
        <p:nvCxnSpPr>
          <p:cNvPr id="673" name="Google Shape;673;p54"/>
          <p:cNvCxnSpPr>
            <a:stCxn id="672" idx="0"/>
            <a:endCxn id="671" idx="2"/>
          </p:cNvCxnSpPr>
          <p:nvPr/>
        </p:nvCxnSpPr>
        <p:spPr>
          <a:xfrm rot="10800000" flipH="1">
            <a:off x="1409700" y="2514600"/>
            <a:ext cx="1676400" cy="457200"/>
          </a:xfrm>
          <a:prstGeom prst="straightConnector1">
            <a:avLst/>
          </a:prstGeom>
          <a:noFill/>
          <a:ln w="57150" cap="flat" cmpd="sng">
            <a:solidFill>
              <a:srgbClr val="FF0000"/>
            </a:solidFill>
            <a:prstDash val="solid"/>
            <a:round/>
            <a:headEnd type="triangle" w="med" len="med"/>
            <a:tailEnd type="triangle" w="med" len="med"/>
          </a:ln>
        </p:spPr>
      </p:cxnSp>
      <p:sp>
        <p:nvSpPr>
          <p:cNvPr id="674" name="Google Shape;674;p54"/>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rm (Remove)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3715fd0d4a0_0_45"/>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rmdir (Remove Directory) </a:t>
            </a:r>
            <a:endParaRPr/>
          </a:p>
        </p:txBody>
      </p:sp>
      <p:sp>
        <p:nvSpPr>
          <p:cNvPr id="681" name="Google Shape;681;g3715fd0d4a0_0_45"/>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Remove empty directories</a:t>
            </a:r>
            <a:endParaRPr b="0" u="none"/>
          </a:p>
        </p:txBody>
      </p:sp>
      <p:sp>
        <p:nvSpPr>
          <p:cNvPr id="682" name="Google Shape;682;g3715fd0d4a0_0_4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57</a:t>
            </a:fld>
            <a:endParaRPr/>
          </a:p>
        </p:txBody>
      </p:sp>
      <p:sp>
        <p:nvSpPr>
          <p:cNvPr id="683" name="Google Shape;683;g3715fd0d4a0_0_45"/>
          <p:cNvSpPr txBox="1">
            <a:spLocks noGrp="1"/>
          </p:cNvSpPr>
          <p:nvPr>
            <p:ph type="body" idx="1"/>
          </p:nvPr>
        </p:nvSpPr>
        <p:spPr>
          <a:xfrm>
            <a:off x="587125" y="6314656"/>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It doesn’t ask for a confirmation</a:t>
            </a:r>
            <a:endParaRPr b="0" u="none"/>
          </a:p>
        </p:txBody>
      </p:sp>
      <p:pic>
        <p:nvPicPr>
          <p:cNvPr id="684" name="Google Shape;684;g3715fd0d4a0_0_45" descr="Attention line icon. Exclamation, hazard danger, warning in triangle symbol, outline style pictogram on white background. Construction sign for mobile concept or web design. Vector graphics. (proporcionado por Getty Images)"/>
          <p:cNvPicPr preferRelativeResize="0"/>
          <p:nvPr/>
        </p:nvPicPr>
        <p:blipFill rotWithShape="1">
          <a:blip r:embed="rId3">
            <a:alphaModFix/>
          </a:blip>
          <a:srcRect/>
          <a:stretch/>
        </p:blipFill>
        <p:spPr>
          <a:xfrm>
            <a:off x="43775" y="6267224"/>
            <a:ext cx="543350" cy="543350"/>
          </a:xfrm>
          <a:prstGeom prst="rect">
            <a:avLst/>
          </a:prstGeom>
          <a:noFill/>
          <a:ln>
            <a:noFill/>
          </a:ln>
        </p:spPr>
      </p:pic>
      <p:pic>
        <p:nvPicPr>
          <p:cNvPr id="685" name="Google Shape;685;g3715fd0d4a0_0_45"/>
          <p:cNvPicPr preferRelativeResize="0"/>
          <p:nvPr/>
        </p:nvPicPr>
        <p:blipFill rotWithShape="1">
          <a:blip r:embed="rId4">
            <a:alphaModFix/>
          </a:blip>
          <a:srcRect/>
          <a:stretch/>
        </p:blipFill>
        <p:spPr>
          <a:xfrm>
            <a:off x="360675" y="2509680"/>
            <a:ext cx="8073734" cy="2821688"/>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690"/>
        <p:cNvGrpSpPr/>
        <p:nvPr/>
      </p:nvGrpSpPr>
      <p:grpSpPr>
        <a:xfrm>
          <a:off x="0" y="0"/>
          <a:ext cx="0" cy="0"/>
          <a:chOff x="0" y="0"/>
          <a:chExt cx="0" cy="0"/>
        </a:xfrm>
      </p:grpSpPr>
      <p:sp>
        <p:nvSpPr>
          <p:cNvPr id="691" name="Google Shape;691;g3715fd0d4a0_0_56"/>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cp (Copy) </a:t>
            </a:r>
            <a:endParaRPr/>
          </a:p>
        </p:txBody>
      </p:sp>
      <p:sp>
        <p:nvSpPr>
          <p:cNvPr id="692" name="Google Shape;692;g3715fd0d4a0_0_56"/>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Copy a file</a:t>
            </a:r>
            <a:endParaRPr b="0" u="none"/>
          </a:p>
        </p:txBody>
      </p:sp>
      <p:sp>
        <p:nvSpPr>
          <p:cNvPr id="693" name="Google Shape;693;g3715fd0d4a0_0_5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58</a:t>
            </a:fld>
            <a:endParaRPr/>
          </a:p>
        </p:txBody>
      </p:sp>
      <p:pic>
        <p:nvPicPr>
          <p:cNvPr id="694" name="Google Shape;694;g3715fd0d4a0_0_56"/>
          <p:cNvPicPr preferRelativeResize="0"/>
          <p:nvPr/>
        </p:nvPicPr>
        <p:blipFill rotWithShape="1">
          <a:blip r:embed="rId3">
            <a:alphaModFix/>
          </a:blip>
          <a:srcRect/>
          <a:stretch/>
        </p:blipFill>
        <p:spPr>
          <a:xfrm>
            <a:off x="536700" y="2691170"/>
            <a:ext cx="7454624" cy="23695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699" name="Google Shape;699;p52"/>
          <p:cNvPicPr preferRelativeResize="0">
            <a:picLocks noGrp="1"/>
          </p:cNvPicPr>
          <p:nvPr>
            <p:ph type="body" idx="1"/>
          </p:nvPr>
        </p:nvPicPr>
        <p:blipFill rotWithShape="1">
          <a:blip r:embed="rId3">
            <a:alphaModFix/>
          </a:blip>
          <a:srcRect/>
          <a:stretch/>
        </p:blipFill>
        <p:spPr>
          <a:xfrm>
            <a:off x="628650" y="1957253"/>
            <a:ext cx="7886700" cy="4084906"/>
          </a:xfrm>
          <a:prstGeom prst="rect">
            <a:avLst/>
          </a:prstGeom>
          <a:noFill/>
          <a:ln>
            <a:noFill/>
          </a:ln>
        </p:spPr>
      </p:pic>
      <p:sp>
        <p:nvSpPr>
          <p:cNvPr id="700" name="Google Shape;700;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59</a:t>
            </a:fld>
            <a:endParaRPr/>
          </a:p>
        </p:txBody>
      </p:sp>
      <p:sp>
        <p:nvSpPr>
          <p:cNvPr id="701" name="Google Shape;701;p52"/>
          <p:cNvSpPr/>
          <p:nvPr/>
        </p:nvSpPr>
        <p:spPr>
          <a:xfrm>
            <a:off x="1047750" y="2090745"/>
            <a:ext cx="609600" cy="423855"/>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52"/>
          <p:cNvSpPr txBox="1"/>
          <p:nvPr/>
        </p:nvSpPr>
        <p:spPr>
          <a:xfrm>
            <a:off x="1066800" y="2971800"/>
            <a:ext cx="609600" cy="523220"/>
          </a:xfrm>
          <a:prstGeom prst="rect">
            <a:avLst/>
          </a:prstGeom>
          <a:solidFill>
            <a:srgbClr val="FF0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lt1"/>
                </a:solidFill>
                <a:latin typeface="Calibri"/>
                <a:ea typeface="Calibri"/>
                <a:cs typeface="Calibri"/>
                <a:sym typeface="Calibri"/>
              </a:rPr>
              <a:t>cp</a:t>
            </a:r>
            <a:endParaRPr sz="2800" b="0" i="0" u="none" strike="noStrike" cap="none">
              <a:solidFill>
                <a:schemeClr val="lt1"/>
              </a:solidFill>
              <a:latin typeface="Calibri"/>
              <a:ea typeface="Calibri"/>
              <a:cs typeface="Calibri"/>
              <a:sym typeface="Calibri"/>
            </a:endParaRPr>
          </a:p>
        </p:txBody>
      </p:sp>
      <p:cxnSp>
        <p:nvCxnSpPr>
          <p:cNvPr id="703" name="Google Shape;703;p52"/>
          <p:cNvCxnSpPr>
            <a:stCxn id="702" idx="0"/>
            <a:endCxn id="701" idx="2"/>
          </p:cNvCxnSpPr>
          <p:nvPr/>
        </p:nvCxnSpPr>
        <p:spPr>
          <a:xfrm rot="10800000">
            <a:off x="1352400" y="2514600"/>
            <a:ext cx="19200" cy="457200"/>
          </a:xfrm>
          <a:prstGeom prst="straightConnector1">
            <a:avLst/>
          </a:prstGeom>
          <a:noFill/>
          <a:ln w="57150" cap="flat" cmpd="sng">
            <a:solidFill>
              <a:srgbClr val="FF0000"/>
            </a:solidFill>
            <a:prstDash val="solid"/>
            <a:round/>
            <a:headEnd type="triangle" w="med" len="med"/>
            <a:tailEnd type="triangle" w="med" len="med"/>
          </a:ln>
        </p:spPr>
      </p:cxnSp>
      <p:sp>
        <p:nvSpPr>
          <p:cNvPr id="704" name="Google Shape;704;p52"/>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cp (Copy)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709"/>
        <p:cNvGrpSpPr/>
        <p:nvPr/>
      </p:nvGrpSpPr>
      <p:grpSpPr>
        <a:xfrm>
          <a:off x="0" y="0"/>
          <a:ext cx="0" cy="0"/>
          <a:chOff x="0" y="0"/>
          <a:chExt cx="0" cy="0"/>
        </a:xfrm>
      </p:grpSpPr>
      <p:sp>
        <p:nvSpPr>
          <p:cNvPr id="710" name="Google Shape;710;g3715fd0d4a0_3_1"/>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mv (Move) </a:t>
            </a:r>
            <a:endParaRPr/>
          </a:p>
        </p:txBody>
      </p:sp>
      <p:sp>
        <p:nvSpPr>
          <p:cNvPr id="711" name="Google Shape;711;g3715fd0d4a0_3_1"/>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Rename a file or move it to another directory</a:t>
            </a:r>
            <a:endParaRPr b="0" u="none"/>
          </a:p>
        </p:txBody>
      </p:sp>
      <p:sp>
        <p:nvSpPr>
          <p:cNvPr id="712" name="Google Shape;712;g3715fd0d4a0_3_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60</a:t>
            </a:fld>
            <a:endParaRPr/>
          </a:p>
        </p:txBody>
      </p:sp>
      <p:grpSp>
        <p:nvGrpSpPr>
          <p:cNvPr id="713" name="Google Shape;713;g3715fd0d4a0_3_1"/>
          <p:cNvGrpSpPr/>
          <p:nvPr/>
        </p:nvGrpSpPr>
        <p:grpSpPr>
          <a:xfrm>
            <a:off x="152407" y="2517837"/>
            <a:ext cx="7915847" cy="3049564"/>
            <a:chOff x="152400" y="2517728"/>
            <a:chExt cx="5143500" cy="1981523"/>
          </a:xfrm>
        </p:grpSpPr>
        <p:pic>
          <p:nvPicPr>
            <p:cNvPr id="714" name="Google Shape;714;g3715fd0d4a0_3_1"/>
            <p:cNvPicPr preferRelativeResize="0"/>
            <p:nvPr/>
          </p:nvPicPr>
          <p:blipFill rotWithShape="1">
            <a:blip r:embed="rId3">
              <a:alphaModFix/>
            </a:blip>
            <a:srcRect b="41978"/>
            <a:stretch/>
          </p:blipFill>
          <p:spPr>
            <a:xfrm>
              <a:off x="152400" y="2517728"/>
              <a:ext cx="5143500" cy="1541900"/>
            </a:xfrm>
            <a:prstGeom prst="rect">
              <a:avLst/>
            </a:prstGeom>
            <a:noFill/>
            <a:ln>
              <a:noFill/>
            </a:ln>
          </p:spPr>
        </p:pic>
        <p:pic>
          <p:nvPicPr>
            <p:cNvPr id="715" name="Google Shape;715;g3715fd0d4a0_3_1"/>
            <p:cNvPicPr preferRelativeResize="0"/>
            <p:nvPr/>
          </p:nvPicPr>
          <p:blipFill rotWithShape="1">
            <a:blip r:embed="rId3">
              <a:alphaModFix/>
            </a:blip>
            <a:srcRect t="83122"/>
            <a:stretch/>
          </p:blipFill>
          <p:spPr>
            <a:xfrm>
              <a:off x="152400" y="4050751"/>
              <a:ext cx="5143500" cy="448500"/>
            </a:xfrm>
            <a:prstGeom prst="rect">
              <a:avLst/>
            </a:prstGeom>
            <a:noFill/>
            <a:ln>
              <a:noFill/>
            </a:ln>
          </p:spPr>
        </p:pic>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pic>
        <p:nvPicPr>
          <p:cNvPr id="720" name="Google Shape;720;p53"/>
          <p:cNvPicPr preferRelativeResize="0">
            <a:picLocks noGrp="1"/>
          </p:cNvPicPr>
          <p:nvPr>
            <p:ph type="body" idx="1"/>
          </p:nvPr>
        </p:nvPicPr>
        <p:blipFill rotWithShape="1">
          <a:blip r:embed="rId3">
            <a:alphaModFix/>
          </a:blip>
          <a:srcRect/>
          <a:stretch/>
        </p:blipFill>
        <p:spPr>
          <a:xfrm>
            <a:off x="628650" y="1957253"/>
            <a:ext cx="7886700" cy="4084906"/>
          </a:xfrm>
          <a:prstGeom prst="rect">
            <a:avLst/>
          </a:prstGeom>
          <a:noFill/>
          <a:ln>
            <a:noFill/>
          </a:ln>
        </p:spPr>
      </p:pic>
      <p:sp>
        <p:nvSpPr>
          <p:cNvPr id="721" name="Google Shape;721;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61</a:t>
            </a:fld>
            <a:endParaRPr/>
          </a:p>
        </p:txBody>
      </p:sp>
      <p:sp>
        <p:nvSpPr>
          <p:cNvPr id="722" name="Google Shape;722;p53"/>
          <p:cNvSpPr/>
          <p:nvPr/>
        </p:nvSpPr>
        <p:spPr>
          <a:xfrm>
            <a:off x="1524000" y="2060415"/>
            <a:ext cx="623180" cy="267396"/>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3" name="Google Shape;723;p53"/>
          <p:cNvSpPr txBox="1"/>
          <p:nvPr/>
        </p:nvSpPr>
        <p:spPr>
          <a:xfrm>
            <a:off x="990600" y="2971800"/>
            <a:ext cx="762000" cy="523220"/>
          </a:xfrm>
          <a:prstGeom prst="rect">
            <a:avLst/>
          </a:prstGeom>
          <a:solidFill>
            <a:srgbClr val="FF0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lt1"/>
                </a:solidFill>
                <a:latin typeface="Calibri"/>
                <a:ea typeface="Calibri"/>
                <a:cs typeface="Calibri"/>
                <a:sym typeface="Calibri"/>
              </a:rPr>
              <a:t>mv</a:t>
            </a:r>
            <a:endParaRPr sz="1400" b="0" i="0" u="none" strike="noStrike" cap="none">
              <a:solidFill>
                <a:srgbClr val="000000"/>
              </a:solidFill>
              <a:latin typeface="Arial"/>
              <a:ea typeface="Arial"/>
              <a:cs typeface="Arial"/>
              <a:sym typeface="Arial"/>
            </a:endParaRPr>
          </a:p>
        </p:txBody>
      </p:sp>
      <p:cxnSp>
        <p:nvCxnSpPr>
          <p:cNvPr id="724" name="Google Shape;724;p53"/>
          <p:cNvCxnSpPr>
            <a:stCxn id="723" idx="0"/>
            <a:endCxn id="722" idx="2"/>
          </p:cNvCxnSpPr>
          <p:nvPr/>
        </p:nvCxnSpPr>
        <p:spPr>
          <a:xfrm rot="10800000" flipH="1">
            <a:off x="1371600" y="2327700"/>
            <a:ext cx="464100" cy="644100"/>
          </a:xfrm>
          <a:prstGeom prst="straightConnector1">
            <a:avLst/>
          </a:prstGeom>
          <a:noFill/>
          <a:ln w="57150" cap="flat" cmpd="sng">
            <a:solidFill>
              <a:srgbClr val="FF0000"/>
            </a:solidFill>
            <a:prstDash val="solid"/>
            <a:round/>
            <a:headEnd type="triangle" w="med" len="med"/>
            <a:tailEnd type="triangle" w="med" len="med"/>
          </a:ln>
        </p:spPr>
      </p:cxnSp>
      <p:sp>
        <p:nvSpPr>
          <p:cNvPr id="725" name="Google Shape;725;p53"/>
          <p:cNvSpPr/>
          <p:nvPr/>
        </p:nvSpPr>
        <p:spPr>
          <a:xfrm>
            <a:off x="3200400" y="2049257"/>
            <a:ext cx="381000" cy="557107"/>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726" name="Google Shape;726;p53"/>
          <p:cNvCxnSpPr/>
          <p:nvPr/>
        </p:nvCxnSpPr>
        <p:spPr>
          <a:xfrm rot="10800000" flipH="1">
            <a:off x="1759390" y="2642003"/>
            <a:ext cx="1603689" cy="588174"/>
          </a:xfrm>
          <a:prstGeom prst="straightConnector1">
            <a:avLst/>
          </a:prstGeom>
          <a:noFill/>
          <a:ln w="57150" cap="flat" cmpd="sng">
            <a:solidFill>
              <a:srgbClr val="FF0000"/>
            </a:solidFill>
            <a:prstDash val="solid"/>
            <a:round/>
            <a:headEnd type="triangle" w="med" len="med"/>
            <a:tailEnd type="triangle" w="med" len="med"/>
          </a:ln>
        </p:spPr>
      </p:cxnSp>
      <p:sp>
        <p:nvSpPr>
          <p:cNvPr id="727" name="Google Shape;727;p53"/>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mv (Move)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732"/>
        <p:cNvGrpSpPr/>
        <p:nvPr/>
      </p:nvGrpSpPr>
      <p:grpSpPr>
        <a:xfrm>
          <a:off x="0" y="0"/>
          <a:ext cx="0" cy="0"/>
          <a:chOff x="0" y="0"/>
          <a:chExt cx="0" cy="0"/>
        </a:xfrm>
      </p:grpSpPr>
      <p:sp>
        <p:nvSpPr>
          <p:cNvPr id="733" name="Google Shape;733;g3715fd0d4a0_3_12"/>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history</a:t>
            </a:r>
            <a:endParaRPr/>
          </a:p>
        </p:txBody>
      </p:sp>
      <p:sp>
        <p:nvSpPr>
          <p:cNvPr id="734" name="Google Shape;734;g3715fd0d4a0_3_12"/>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Show history of commands used</a:t>
            </a:r>
            <a:endParaRPr b="0" u="none"/>
          </a:p>
        </p:txBody>
      </p:sp>
      <p:sp>
        <p:nvSpPr>
          <p:cNvPr id="735" name="Google Shape;735;g3715fd0d4a0_3_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62</a:t>
            </a:fld>
            <a:endParaRPr/>
          </a:p>
        </p:txBody>
      </p:sp>
      <p:pic>
        <p:nvPicPr>
          <p:cNvPr id="736" name="Google Shape;736;g3715fd0d4a0_3_12"/>
          <p:cNvPicPr preferRelativeResize="0"/>
          <p:nvPr/>
        </p:nvPicPr>
        <p:blipFill rotWithShape="1">
          <a:blip r:embed="rId3">
            <a:alphaModFix/>
          </a:blip>
          <a:srcRect t="18593"/>
          <a:stretch/>
        </p:blipFill>
        <p:spPr>
          <a:xfrm>
            <a:off x="562600" y="2699375"/>
            <a:ext cx="4709250" cy="365100"/>
          </a:xfrm>
          <a:prstGeom prst="rect">
            <a:avLst/>
          </a:prstGeom>
          <a:noFill/>
          <a:ln>
            <a:noFill/>
          </a:ln>
        </p:spPr>
      </p:pic>
      <p:pic>
        <p:nvPicPr>
          <p:cNvPr id="737" name="Google Shape;737;g3715fd0d4a0_3_12"/>
          <p:cNvPicPr preferRelativeResize="0"/>
          <p:nvPr/>
        </p:nvPicPr>
        <p:blipFill rotWithShape="1">
          <a:blip r:embed="rId4">
            <a:alphaModFix/>
          </a:blip>
          <a:srcRect/>
          <a:stretch/>
        </p:blipFill>
        <p:spPr>
          <a:xfrm>
            <a:off x="562600" y="3064475"/>
            <a:ext cx="6429900" cy="21641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pic>
        <p:nvPicPr>
          <p:cNvPr id="742" name="Google Shape;742;p56"/>
          <p:cNvPicPr preferRelativeResize="0">
            <a:picLocks noGrp="1"/>
          </p:cNvPicPr>
          <p:nvPr>
            <p:ph type="body" idx="1"/>
          </p:nvPr>
        </p:nvPicPr>
        <p:blipFill rotWithShape="1">
          <a:blip r:embed="rId3">
            <a:alphaModFix/>
          </a:blip>
          <a:srcRect/>
          <a:stretch/>
        </p:blipFill>
        <p:spPr>
          <a:xfrm>
            <a:off x="628650" y="1957253"/>
            <a:ext cx="7886700" cy="4084906"/>
          </a:xfrm>
          <a:prstGeom prst="rect">
            <a:avLst/>
          </a:prstGeom>
          <a:noFill/>
          <a:ln>
            <a:noFill/>
          </a:ln>
        </p:spPr>
      </p:pic>
      <p:sp>
        <p:nvSpPr>
          <p:cNvPr id="743" name="Google Shape;74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63</a:t>
            </a:fld>
            <a:endParaRPr/>
          </a:p>
        </p:txBody>
      </p:sp>
      <p:sp>
        <p:nvSpPr>
          <p:cNvPr id="744" name="Google Shape;744;p56"/>
          <p:cNvSpPr/>
          <p:nvPr/>
        </p:nvSpPr>
        <p:spPr>
          <a:xfrm>
            <a:off x="4953000" y="2286000"/>
            <a:ext cx="483040" cy="304800"/>
          </a:xfrm>
          <a:prstGeom prst="rect">
            <a:avLst/>
          </a:prstGeom>
          <a:noFill/>
          <a:ln w="571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5" name="Google Shape;745;p56"/>
          <p:cNvSpPr txBox="1"/>
          <p:nvPr/>
        </p:nvSpPr>
        <p:spPr>
          <a:xfrm>
            <a:off x="2444530" y="3657600"/>
            <a:ext cx="1441670" cy="523220"/>
          </a:xfrm>
          <a:prstGeom prst="rect">
            <a:avLst/>
          </a:prstGeom>
          <a:solidFill>
            <a:srgbClr val="FF0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lt1"/>
                </a:solidFill>
                <a:latin typeface="Calibri"/>
                <a:ea typeface="Calibri"/>
                <a:cs typeface="Calibri"/>
                <a:sym typeface="Calibri"/>
              </a:rPr>
              <a:t>history</a:t>
            </a:r>
            <a:endParaRPr sz="2800" b="0" i="0" u="none" strike="noStrike" cap="none">
              <a:solidFill>
                <a:schemeClr val="lt1"/>
              </a:solidFill>
              <a:latin typeface="Calibri"/>
              <a:ea typeface="Calibri"/>
              <a:cs typeface="Calibri"/>
              <a:sym typeface="Calibri"/>
            </a:endParaRPr>
          </a:p>
        </p:txBody>
      </p:sp>
      <p:cxnSp>
        <p:nvCxnSpPr>
          <p:cNvPr id="746" name="Google Shape;746;p56"/>
          <p:cNvCxnSpPr>
            <a:stCxn id="745" idx="0"/>
            <a:endCxn id="744" idx="2"/>
          </p:cNvCxnSpPr>
          <p:nvPr/>
        </p:nvCxnSpPr>
        <p:spPr>
          <a:xfrm rot="10800000" flipH="1">
            <a:off x="3165365" y="2590800"/>
            <a:ext cx="2029200" cy="1066800"/>
          </a:xfrm>
          <a:prstGeom prst="straightConnector1">
            <a:avLst/>
          </a:prstGeom>
          <a:noFill/>
          <a:ln w="57150" cap="flat" cmpd="sng">
            <a:solidFill>
              <a:srgbClr val="FF0000"/>
            </a:solidFill>
            <a:prstDash val="solid"/>
            <a:round/>
            <a:headEnd type="triangle" w="med" len="med"/>
            <a:tailEnd type="triangle" w="med" len="med"/>
          </a:ln>
        </p:spPr>
      </p:cxnSp>
      <p:cxnSp>
        <p:nvCxnSpPr>
          <p:cNvPr id="747" name="Google Shape;747;p56"/>
          <p:cNvCxnSpPr/>
          <p:nvPr/>
        </p:nvCxnSpPr>
        <p:spPr>
          <a:xfrm rot="10800000">
            <a:off x="6444208" y="3789040"/>
            <a:ext cx="0" cy="472316"/>
          </a:xfrm>
          <a:prstGeom prst="straightConnector1">
            <a:avLst/>
          </a:prstGeom>
          <a:noFill/>
          <a:ln w="76200" cap="flat" cmpd="sng">
            <a:solidFill>
              <a:srgbClr val="4A7DBA"/>
            </a:solidFill>
            <a:prstDash val="solid"/>
            <a:round/>
            <a:headEnd type="none" w="sm" len="sm"/>
            <a:tailEnd type="triangle" w="med" len="med"/>
          </a:ln>
        </p:spPr>
      </p:cxnSp>
      <p:cxnSp>
        <p:nvCxnSpPr>
          <p:cNvPr id="748" name="Google Shape;748;p56"/>
          <p:cNvCxnSpPr/>
          <p:nvPr/>
        </p:nvCxnSpPr>
        <p:spPr>
          <a:xfrm>
            <a:off x="6444208" y="4413756"/>
            <a:ext cx="0" cy="527412"/>
          </a:xfrm>
          <a:prstGeom prst="straightConnector1">
            <a:avLst/>
          </a:prstGeom>
          <a:noFill/>
          <a:ln w="76200" cap="flat" cmpd="sng">
            <a:solidFill>
              <a:srgbClr val="4A7DBA"/>
            </a:solidFill>
            <a:prstDash val="solid"/>
            <a:round/>
            <a:headEnd type="none" w="sm" len="sm"/>
            <a:tailEnd type="triangle" w="med" len="med"/>
          </a:ln>
        </p:spPr>
      </p:cxnSp>
      <p:sp>
        <p:nvSpPr>
          <p:cNvPr id="749" name="Google Shape;749;p56"/>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history</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754"/>
        <p:cNvGrpSpPr/>
        <p:nvPr/>
      </p:nvGrpSpPr>
      <p:grpSpPr>
        <a:xfrm>
          <a:off x="0" y="0"/>
          <a:ext cx="0" cy="0"/>
          <a:chOff x="0" y="0"/>
          <a:chExt cx="0" cy="0"/>
        </a:xfrm>
      </p:grpSpPr>
      <p:sp>
        <p:nvSpPr>
          <p:cNvPr id="755" name="Google Shape;755;g3715fd0d4a0_3_53"/>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less (Historial) </a:t>
            </a:r>
            <a:endParaRPr/>
          </a:p>
        </p:txBody>
      </p:sp>
      <p:sp>
        <p:nvSpPr>
          <p:cNvPr id="756" name="Google Shape;756;g3715fd0d4a0_3_53"/>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Show content of a file</a:t>
            </a:r>
            <a:endParaRPr b="0" u="none"/>
          </a:p>
        </p:txBody>
      </p:sp>
      <p:sp>
        <p:nvSpPr>
          <p:cNvPr id="757" name="Google Shape;757;g3715fd0d4a0_3_5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64</a:t>
            </a:fld>
            <a:endParaRPr/>
          </a:p>
        </p:txBody>
      </p:sp>
      <p:pic>
        <p:nvPicPr>
          <p:cNvPr id="758" name="Google Shape;758;g3715fd0d4a0_3_53"/>
          <p:cNvPicPr preferRelativeResize="0"/>
          <p:nvPr/>
        </p:nvPicPr>
        <p:blipFill rotWithShape="1">
          <a:blip r:embed="rId3">
            <a:alphaModFix/>
          </a:blip>
          <a:srcRect/>
          <a:stretch/>
        </p:blipFill>
        <p:spPr>
          <a:xfrm>
            <a:off x="585350" y="2567221"/>
            <a:ext cx="6878625" cy="22447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763"/>
        <p:cNvGrpSpPr/>
        <p:nvPr/>
      </p:nvGrpSpPr>
      <p:grpSpPr>
        <a:xfrm>
          <a:off x="0" y="0"/>
          <a:ext cx="0" cy="0"/>
          <a:chOff x="0" y="0"/>
          <a:chExt cx="0" cy="0"/>
        </a:xfrm>
      </p:grpSpPr>
      <p:sp>
        <p:nvSpPr>
          <p:cNvPr id="764" name="Google Shape;764;g3715fd0d4a0_3_68"/>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nano</a:t>
            </a:r>
            <a:endParaRPr/>
          </a:p>
        </p:txBody>
      </p:sp>
      <p:sp>
        <p:nvSpPr>
          <p:cNvPr id="765" name="Google Shape;765;g3715fd0d4a0_3_68"/>
          <p:cNvSpPr txBox="1">
            <a:spLocks noGrp="1"/>
          </p:cNvSpPr>
          <p:nvPr>
            <p:ph type="body" idx="1"/>
          </p:nvPr>
        </p:nvSpPr>
        <p:spPr>
          <a:xfrm>
            <a:off x="457200" y="1916831"/>
            <a:ext cx="8229600" cy="448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Text editor</a:t>
            </a:r>
            <a:endParaRPr b="0" u="none"/>
          </a:p>
        </p:txBody>
      </p:sp>
      <p:sp>
        <p:nvSpPr>
          <p:cNvPr id="766" name="Google Shape;766;g3715fd0d4a0_3_6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65</a:t>
            </a:fld>
            <a:endParaRPr/>
          </a:p>
        </p:txBody>
      </p:sp>
      <p:pic>
        <p:nvPicPr>
          <p:cNvPr id="767" name="Google Shape;767;g3715fd0d4a0_3_68"/>
          <p:cNvPicPr preferRelativeResize="0"/>
          <p:nvPr/>
        </p:nvPicPr>
        <p:blipFill rotWithShape="1">
          <a:blip r:embed="rId3">
            <a:alphaModFix/>
          </a:blip>
          <a:srcRect/>
          <a:stretch/>
        </p:blipFill>
        <p:spPr>
          <a:xfrm>
            <a:off x="1166750" y="2365318"/>
            <a:ext cx="4857500" cy="2588025"/>
          </a:xfrm>
          <a:prstGeom prst="rect">
            <a:avLst/>
          </a:prstGeom>
          <a:noFill/>
          <a:ln>
            <a:noFill/>
          </a:ln>
        </p:spPr>
      </p:pic>
      <p:sp>
        <p:nvSpPr>
          <p:cNvPr id="768" name="Google Shape;768;g3715fd0d4a0_3_68"/>
          <p:cNvSpPr txBox="1">
            <a:spLocks noGrp="1"/>
          </p:cNvSpPr>
          <p:nvPr>
            <p:ph type="body" idx="1"/>
          </p:nvPr>
        </p:nvSpPr>
        <p:spPr>
          <a:xfrm>
            <a:off x="1113300" y="5430600"/>
            <a:ext cx="4787400" cy="925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Save: ctrl+o &gt; Intro</a:t>
            </a:r>
            <a:endParaRPr b="0" u="none"/>
          </a:p>
          <a:p>
            <a:pPr marL="0" lvl="0" indent="0" algn="l" rtl="0">
              <a:lnSpc>
                <a:spcPct val="100000"/>
              </a:lnSpc>
              <a:spcBef>
                <a:spcPts val="360"/>
              </a:spcBef>
              <a:spcAft>
                <a:spcPts val="0"/>
              </a:spcAft>
              <a:buSzPts val="1800"/>
              <a:buNone/>
            </a:pPr>
            <a:r>
              <a:rPr lang="es-ES" b="0" u="none"/>
              <a:t>Exit: ctrl+x</a:t>
            </a:r>
            <a:endParaRPr b="0" u="non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57"/>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Basic Commands</a:t>
            </a:r>
            <a:endParaRPr/>
          </a:p>
        </p:txBody>
      </p:sp>
      <p:sp>
        <p:nvSpPr>
          <p:cNvPr id="775" name="Google Shape;775;p57"/>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2000"/>
              <a:buNone/>
            </a:pPr>
            <a:endParaRPr b="0" u="none"/>
          </a:p>
          <a:p>
            <a:pPr marL="0" lvl="0" indent="0" algn="ctr" rtl="0">
              <a:lnSpc>
                <a:spcPct val="100000"/>
              </a:lnSpc>
              <a:spcBef>
                <a:spcPts val="560"/>
              </a:spcBef>
              <a:spcAft>
                <a:spcPts val="0"/>
              </a:spcAft>
              <a:buClr>
                <a:schemeClr val="dk1"/>
              </a:buClr>
              <a:buSzPts val="2800"/>
              <a:buNone/>
            </a:pPr>
            <a:r>
              <a:rPr lang="es-ES" sz="2800" u="none"/>
              <a:t>REMEMBER:</a:t>
            </a:r>
            <a:endParaRPr/>
          </a:p>
          <a:p>
            <a:pPr marL="0" lvl="0" indent="0" algn="ctr" rtl="0">
              <a:lnSpc>
                <a:spcPct val="100000"/>
              </a:lnSpc>
              <a:spcBef>
                <a:spcPts val="560"/>
              </a:spcBef>
              <a:spcAft>
                <a:spcPts val="0"/>
              </a:spcAft>
              <a:buClr>
                <a:schemeClr val="dk1"/>
              </a:buClr>
              <a:buSzPts val="2800"/>
              <a:buNone/>
            </a:pPr>
            <a:endParaRPr sz="2800" u="none"/>
          </a:p>
          <a:p>
            <a:pPr marL="0" lvl="0" indent="0" algn="ctr" rtl="0">
              <a:lnSpc>
                <a:spcPct val="100000"/>
              </a:lnSpc>
              <a:spcBef>
                <a:spcPts val="560"/>
              </a:spcBef>
              <a:spcAft>
                <a:spcPts val="0"/>
              </a:spcAft>
              <a:buClr>
                <a:schemeClr val="dk1"/>
              </a:buClr>
              <a:buSzPts val="2800"/>
              <a:buNone/>
            </a:pPr>
            <a:r>
              <a:rPr lang="es-ES" sz="2800" u="none"/>
              <a:t>TAB is your friend!</a:t>
            </a:r>
            <a:endParaRPr/>
          </a:p>
          <a:p>
            <a:pPr marL="0" lvl="0" indent="0" algn="ctr" rtl="0">
              <a:lnSpc>
                <a:spcPct val="100000"/>
              </a:lnSpc>
              <a:spcBef>
                <a:spcPts val="560"/>
              </a:spcBef>
              <a:spcAft>
                <a:spcPts val="0"/>
              </a:spcAft>
              <a:buClr>
                <a:schemeClr val="dk1"/>
              </a:buClr>
              <a:buSzPts val="2800"/>
              <a:buNone/>
            </a:pPr>
            <a:endParaRPr sz="2800" u="none"/>
          </a:p>
          <a:p>
            <a:pPr marL="0" lvl="0" indent="0" algn="ctr" rtl="0">
              <a:lnSpc>
                <a:spcPct val="100000"/>
              </a:lnSpc>
              <a:spcBef>
                <a:spcPts val="560"/>
              </a:spcBef>
              <a:spcAft>
                <a:spcPts val="0"/>
              </a:spcAft>
              <a:buClr>
                <a:schemeClr val="dk1"/>
              </a:buClr>
              <a:buSzPts val="2800"/>
              <a:buNone/>
            </a:pPr>
            <a:r>
              <a:rPr lang="es-ES" sz="2800" u="none"/>
              <a:t>Hit it to autocomplete a command, file, path or get suggestion to do it</a:t>
            </a:r>
            <a:endParaRPr/>
          </a:p>
        </p:txBody>
      </p:sp>
      <p:sp>
        <p:nvSpPr>
          <p:cNvPr id="776" name="Google Shape;776;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344e220f39a_0_7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Overview</a:t>
            </a:r>
            <a:endParaRPr/>
          </a:p>
        </p:txBody>
      </p:sp>
      <p:sp>
        <p:nvSpPr>
          <p:cNvPr id="783" name="Google Shape;783;g344e220f39a_0_70"/>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400"/>
              </a:spcBef>
              <a:spcAft>
                <a:spcPts val="0"/>
              </a:spcAft>
              <a:buSzPts val="1800"/>
              <a:buAutoNum type="arabicPeriod"/>
            </a:pPr>
            <a:r>
              <a:rPr lang="es-ES" b="0" u="none"/>
              <a:t>Linux OS</a:t>
            </a:r>
            <a:endParaRPr/>
          </a:p>
          <a:p>
            <a:pPr marL="457200" lvl="0" indent="-342900" algn="l" rtl="0">
              <a:lnSpc>
                <a:spcPct val="150000"/>
              </a:lnSpc>
              <a:spcBef>
                <a:spcPts val="0"/>
              </a:spcBef>
              <a:spcAft>
                <a:spcPts val="0"/>
              </a:spcAft>
              <a:buSzPts val="1800"/>
              <a:buAutoNum type="arabicPeriod"/>
            </a:pPr>
            <a:r>
              <a:rPr lang="es-ES" b="0" u="none"/>
              <a:t>Linux file system</a:t>
            </a:r>
            <a:endParaRPr b="0" u="none"/>
          </a:p>
          <a:p>
            <a:pPr marL="457200" lvl="0" indent="-342900" algn="l" rtl="0">
              <a:lnSpc>
                <a:spcPct val="150000"/>
              </a:lnSpc>
              <a:spcBef>
                <a:spcPts val="0"/>
              </a:spcBef>
              <a:spcAft>
                <a:spcPts val="0"/>
              </a:spcAft>
              <a:buSzPts val="1800"/>
              <a:buAutoNum type="arabicPeriod"/>
            </a:pPr>
            <a:r>
              <a:rPr lang="es-ES" b="0" u="none"/>
              <a:t>Basic commands</a:t>
            </a:r>
            <a:endParaRPr/>
          </a:p>
          <a:p>
            <a:pPr marL="457200" lvl="0" indent="-342900" algn="l" rtl="0">
              <a:lnSpc>
                <a:spcPct val="150000"/>
              </a:lnSpc>
              <a:spcBef>
                <a:spcPts val="0"/>
              </a:spcBef>
              <a:spcAft>
                <a:spcPts val="0"/>
              </a:spcAft>
              <a:buSzPts val="1800"/>
              <a:buAutoNum type="arabicPeriod"/>
            </a:pPr>
            <a:r>
              <a:rPr lang="es-ES" b="0" u="none"/>
              <a:t>Command line syntax</a:t>
            </a:r>
            <a:endParaRPr b="0" u="none"/>
          </a:p>
          <a:p>
            <a:pPr marL="457200" lvl="0" indent="-342900" algn="l" rtl="0">
              <a:lnSpc>
                <a:spcPct val="150000"/>
              </a:lnSpc>
              <a:spcBef>
                <a:spcPts val="0"/>
              </a:spcBef>
              <a:spcAft>
                <a:spcPts val="0"/>
              </a:spcAft>
              <a:buSzPts val="1800"/>
              <a:buAutoNum type="arabicPeriod"/>
            </a:pPr>
            <a:r>
              <a:rPr lang="es-ES" b="0" u="none"/>
              <a:t>Linux users and privileges</a:t>
            </a:r>
            <a:endParaRPr/>
          </a:p>
          <a:p>
            <a:pPr marL="0" lvl="0" indent="0" algn="l" rtl="0">
              <a:lnSpc>
                <a:spcPct val="150000"/>
              </a:lnSpc>
              <a:spcBef>
                <a:spcPts val="400"/>
              </a:spcBef>
              <a:spcAft>
                <a:spcPts val="0"/>
              </a:spcAft>
              <a:buSzPts val="1800"/>
              <a:buNone/>
            </a:pPr>
            <a:endParaRPr b="0" u="none"/>
          </a:p>
        </p:txBody>
      </p:sp>
      <p:sp>
        <p:nvSpPr>
          <p:cNvPr id="784" name="Google Shape;784;g344e220f39a_0_7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67</a:t>
            </a:fld>
            <a:endParaRPr/>
          </a:p>
        </p:txBody>
      </p:sp>
      <p:sp>
        <p:nvSpPr>
          <p:cNvPr id="785" name="Google Shape;785;g344e220f39a_0_70"/>
          <p:cNvSpPr/>
          <p:nvPr/>
        </p:nvSpPr>
        <p:spPr>
          <a:xfrm>
            <a:off x="457200" y="3424268"/>
            <a:ext cx="4254300" cy="4242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344e220f39a_0_13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 Command Line Syntax</a:t>
            </a:r>
            <a:endParaRPr/>
          </a:p>
        </p:txBody>
      </p:sp>
      <p:sp>
        <p:nvSpPr>
          <p:cNvPr id="792" name="Google Shape;792;g344e220f39a_0_130"/>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30200" algn="l" rtl="0">
              <a:lnSpc>
                <a:spcPct val="150000"/>
              </a:lnSpc>
              <a:spcBef>
                <a:spcPts val="400"/>
              </a:spcBef>
              <a:spcAft>
                <a:spcPts val="0"/>
              </a:spcAft>
              <a:buSzPts val="1800"/>
              <a:buAutoNum type="arabicPeriod"/>
            </a:pPr>
            <a:r>
              <a:rPr lang="es-ES" b="0" u="none"/>
              <a:t>Syntax</a:t>
            </a:r>
            <a:endParaRPr b="0" u="none"/>
          </a:p>
          <a:p>
            <a:pPr marL="342900" lvl="0" indent="-330200" algn="l" rtl="0">
              <a:lnSpc>
                <a:spcPct val="150000"/>
              </a:lnSpc>
              <a:spcBef>
                <a:spcPts val="400"/>
              </a:spcBef>
              <a:spcAft>
                <a:spcPts val="0"/>
              </a:spcAft>
              <a:buSzPts val="1800"/>
              <a:buAutoNum type="arabicPeriod"/>
            </a:pPr>
            <a:r>
              <a:rPr lang="es-ES" b="0" u="none"/>
              <a:t>Input</a:t>
            </a:r>
            <a:endParaRPr b="0" u="none"/>
          </a:p>
          <a:p>
            <a:pPr marL="342900" lvl="0" indent="-330200" algn="l" rtl="0">
              <a:lnSpc>
                <a:spcPct val="150000"/>
              </a:lnSpc>
              <a:spcBef>
                <a:spcPts val="400"/>
              </a:spcBef>
              <a:spcAft>
                <a:spcPts val="0"/>
              </a:spcAft>
              <a:buSzPts val="1800"/>
              <a:buAutoNum type="arabicPeriod"/>
            </a:pPr>
            <a:r>
              <a:rPr lang="es-ES" b="0" u="none"/>
              <a:t>Output</a:t>
            </a:r>
            <a:endParaRPr b="0" u="none"/>
          </a:p>
          <a:p>
            <a:pPr marL="342900" lvl="0" indent="-330200" algn="l" rtl="0">
              <a:lnSpc>
                <a:spcPct val="150000"/>
              </a:lnSpc>
              <a:spcBef>
                <a:spcPts val="400"/>
              </a:spcBef>
              <a:spcAft>
                <a:spcPts val="0"/>
              </a:spcAft>
              <a:buSzPts val="1800"/>
              <a:buAutoNum type="arabicPeriod"/>
            </a:pPr>
            <a:r>
              <a:rPr lang="es-ES" b="0" u="none"/>
              <a:t>Redirect</a:t>
            </a:r>
            <a:endParaRPr b="0" u="none"/>
          </a:p>
          <a:p>
            <a:pPr marL="342900" lvl="0" indent="-330200" algn="l" rtl="0">
              <a:lnSpc>
                <a:spcPct val="150000"/>
              </a:lnSpc>
              <a:spcBef>
                <a:spcPts val="400"/>
              </a:spcBef>
              <a:spcAft>
                <a:spcPts val="0"/>
              </a:spcAft>
              <a:buSzPts val="1800"/>
              <a:buAutoNum type="arabicPeriod"/>
            </a:pPr>
            <a:r>
              <a:rPr lang="es-ES" b="0" u="none"/>
              <a:t>Pipes</a:t>
            </a:r>
            <a:endParaRPr b="0" u="none"/>
          </a:p>
          <a:p>
            <a:pPr marL="342900" lvl="0" indent="-330200" algn="l" rtl="0">
              <a:lnSpc>
                <a:spcPct val="150000"/>
              </a:lnSpc>
              <a:spcBef>
                <a:spcPts val="400"/>
              </a:spcBef>
              <a:spcAft>
                <a:spcPts val="0"/>
              </a:spcAft>
              <a:buSzPts val="1800"/>
              <a:buAutoNum type="arabicPeriod"/>
            </a:pPr>
            <a:r>
              <a:rPr lang="es-ES" b="0" u="none"/>
              <a:t>WildCards and Regular expressions</a:t>
            </a:r>
            <a:endParaRPr b="0" u="none"/>
          </a:p>
        </p:txBody>
      </p:sp>
      <p:sp>
        <p:nvSpPr>
          <p:cNvPr id="793" name="Google Shape;793;g344e220f39a_0_13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68</a:t>
            </a:fld>
            <a:endParaRPr/>
          </a:p>
        </p:txBody>
      </p:sp>
      <p:sp>
        <p:nvSpPr>
          <p:cNvPr id="794" name="Google Shape;794;g344e220f39a_0_130"/>
          <p:cNvSpPr/>
          <p:nvPr/>
        </p:nvSpPr>
        <p:spPr>
          <a:xfrm>
            <a:off x="457200" y="1956964"/>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59"/>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4.1. Command Line Syntax</a:t>
            </a:r>
            <a:endParaRPr/>
          </a:p>
        </p:txBody>
      </p:sp>
      <p:sp>
        <p:nvSpPr>
          <p:cNvPr id="801" name="Google Shape;801;p59"/>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b="0" u="none"/>
              <a:t>Linux command line follows a simple syntax common to every command and program you can execute on it:</a:t>
            </a:r>
            <a:endParaRPr/>
          </a:p>
          <a:p>
            <a:pPr marL="0" lvl="0" indent="0" algn="l" rtl="0">
              <a:lnSpc>
                <a:spcPct val="100000"/>
              </a:lnSpc>
              <a:spcBef>
                <a:spcPts val="400"/>
              </a:spcBef>
              <a:spcAft>
                <a:spcPts val="0"/>
              </a:spcAft>
              <a:buClr>
                <a:schemeClr val="dk1"/>
              </a:buClr>
              <a:buSzPts val="2000"/>
              <a:buNone/>
            </a:pPr>
            <a:endParaRPr b="0" u="none"/>
          </a:p>
          <a:p>
            <a:pPr marL="0" lvl="0" indent="0" algn="ctr" rtl="0">
              <a:lnSpc>
                <a:spcPct val="100000"/>
              </a:lnSpc>
              <a:spcBef>
                <a:spcPts val="400"/>
              </a:spcBef>
              <a:spcAft>
                <a:spcPts val="0"/>
              </a:spcAft>
              <a:buClr>
                <a:schemeClr val="dk1"/>
              </a:buClr>
              <a:buSzPts val="2000"/>
              <a:buNone/>
            </a:pPr>
            <a:r>
              <a:rPr lang="es-ES" b="0" u="none"/>
              <a:t>Command [options o parameters] [arguments]</a:t>
            </a:r>
            <a:endParaRPr/>
          </a:p>
          <a:p>
            <a:pPr marL="0" lvl="0" indent="0" algn="l" rtl="0">
              <a:lnSpc>
                <a:spcPct val="100000"/>
              </a:lnSpc>
              <a:spcBef>
                <a:spcPts val="400"/>
              </a:spcBef>
              <a:spcAft>
                <a:spcPts val="0"/>
              </a:spcAft>
              <a:buClr>
                <a:schemeClr val="dk1"/>
              </a:buClr>
              <a:buSzPts val="2000"/>
              <a:buNone/>
            </a:pPr>
            <a:endParaRPr b="0" u="none"/>
          </a:p>
          <a:p>
            <a:pPr marL="342900" lvl="0" indent="-342900" algn="l" rtl="0">
              <a:lnSpc>
                <a:spcPct val="100000"/>
              </a:lnSpc>
              <a:spcBef>
                <a:spcPts val="400"/>
              </a:spcBef>
              <a:spcAft>
                <a:spcPts val="0"/>
              </a:spcAft>
              <a:buClr>
                <a:schemeClr val="dk1"/>
              </a:buClr>
              <a:buSzPts val="2000"/>
              <a:buChar char="•"/>
            </a:pPr>
            <a:r>
              <a:rPr lang="es-ES" b="0" u="none"/>
              <a:t>Options are characters or words preceded by a dash (`ls -la`). They change the way a program works by default.</a:t>
            </a:r>
            <a:endParaRPr/>
          </a:p>
          <a:p>
            <a:pPr marL="342900" lvl="0" indent="-342900" algn="l" rtl="0">
              <a:lnSpc>
                <a:spcPct val="100000"/>
              </a:lnSpc>
              <a:spcBef>
                <a:spcPts val="400"/>
              </a:spcBef>
              <a:spcAft>
                <a:spcPts val="0"/>
              </a:spcAft>
              <a:buClr>
                <a:schemeClr val="dk1"/>
              </a:buClr>
              <a:buSzPts val="2000"/>
              <a:buChar char="•"/>
            </a:pPr>
            <a:r>
              <a:rPr lang="es-ES" b="0" u="none"/>
              <a:t>Arguments are other parameters that the program may need to run. The most common ones usually are the input files.</a:t>
            </a:r>
            <a:endParaRPr/>
          </a:p>
          <a:p>
            <a:pPr marL="342900" lvl="0" indent="-342900" algn="l" rtl="0">
              <a:lnSpc>
                <a:spcPct val="100000"/>
              </a:lnSpc>
              <a:spcBef>
                <a:spcPts val="400"/>
              </a:spcBef>
              <a:spcAft>
                <a:spcPts val="0"/>
              </a:spcAft>
              <a:buClr>
                <a:schemeClr val="dk1"/>
              </a:buClr>
              <a:buSzPts val="2000"/>
              <a:buChar char="•"/>
            </a:pPr>
            <a:r>
              <a:rPr lang="es-ES" b="0" u="none"/>
              <a:t>REMEMBER: most programs have a –h or --help option which displays a short description and usage guide.</a:t>
            </a:r>
            <a:endParaRPr/>
          </a:p>
        </p:txBody>
      </p:sp>
      <p:sp>
        <p:nvSpPr>
          <p:cNvPr id="802" name="Google Shape;802;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3715fd0d4a0_3_78"/>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4.1. Command Line Syntax</a:t>
            </a:r>
            <a:endParaRPr/>
          </a:p>
        </p:txBody>
      </p:sp>
      <p:sp>
        <p:nvSpPr>
          <p:cNvPr id="809" name="Google Shape;809;g3715fd0d4a0_3_7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70</a:t>
            </a:fld>
            <a:endParaRPr/>
          </a:p>
        </p:txBody>
      </p:sp>
      <p:grpSp>
        <p:nvGrpSpPr>
          <p:cNvPr id="810" name="Google Shape;810;g3715fd0d4a0_3_78"/>
          <p:cNvGrpSpPr/>
          <p:nvPr/>
        </p:nvGrpSpPr>
        <p:grpSpPr>
          <a:xfrm>
            <a:off x="523503" y="1983449"/>
            <a:ext cx="7930137" cy="4016093"/>
            <a:chOff x="152400" y="1637097"/>
            <a:chExt cx="3299000" cy="1670727"/>
          </a:xfrm>
        </p:grpSpPr>
        <p:pic>
          <p:nvPicPr>
            <p:cNvPr id="811" name="Google Shape;811;g3715fd0d4a0_3_78"/>
            <p:cNvPicPr preferRelativeResize="0"/>
            <p:nvPr/>
          </p:nvPicPr>
          <p:blipFill rotWithShape="1">
            <a:blip r:embed="rId3">
              <a:alphaModFix/>
            </a:blip>
            <a:srcRect b="72749"/>
            <a:stretch/>
          </p:blipFill>
          <p:spPr>
            <a:xfrm>
              <a:off x="152400" y="1637097"/>
              <a:ext cx="3299000" cy="1381200"/>
            </a:xfrm>
            <a:prstGeom prst="rect">
              <a:avLst/>
            </a:prstGeom>
            <a:noFill/>
            <a:ln>
              <a:noFill/>
            </a:ln>
          </p:spPr>
        </p:pic>
        <p:pic>
          <p:nvPicPr>
            <p:cNvPr id="812" name="Google Shape;812;g3715fd0d4a0_3_78"/>
            <p:cNvPicPr preferRelativeResize="0"/>
            <p:nvPr/>
          </p:nvPicPr>
          <p:blipFill rotWithShape="1">
            <a:blip r:embed="rId3">
              <a:alphaModFix/>
            </a:blip>
            <a:srcRect t="38476" b="57842"/>
            <a:stretch/>
          </p:blipFill>
          <p:spPr>
            <a:xfrm>
              <a:off x="152400" y="3018300"/>
              <a:ext cx="3299000" cy="186551"/>
            </a:xfrm>
            <a:prstGeom prst="rect">
              <a:avLst/>
            </a:prstGeom>
            <a:noFill/>
            <a:ln>
              <a:noFill/>
            </a:ln>
          </p:spPr>
        </p:pic>
        <p:pic>
          <p:nvPicPr>
            <p:cNvPr id="813" name="Google Shape;813;g3715fd0d4a0_3_78"/>
            <p:cNvPicPr preferRelativeResize="0"/>
            <p:nvPr/>
          </p:nvPicPr>
          <p:blipFill rotWithShape="1">
            <a:blip r:embed="rId3">
              <a:alphaModFix/>
            </a:blip>
            <a:srcRect t="79512" b="18454"/>
            <a:stretch/>
          </p:blipFill>
          <p:spPr>
            <a:xfrm>
              <a:off x="152400" y="3204850"/>
              <a:ext cx="3299000" cy="102974"/>
            </a:xfrm>
            <a:prstGeom prst="rect">
              <a:avLst/>
            </a:prstGeom>
            <a:noFill/>
            <a:ln>
              <a:noFill/>
            </a:ln>
          </p:spPr>
        </p:pic>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3715fd0d4a0_3_89"/>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4.1. Command Line Syntax</a:t>
            </a:r>
            <a:endParaRPr/>
          </a:p>
        </p:txBody>
      </p:sp>
      <p:sp>
        <p:nvSpPr>
          <p:cNvPr id="820" name="Google Shape;820;g3715fd0d4a0_3_8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71</a:t>
            </a:fld>
            <a:endParaRPr/>
          </a:p>
        </p:txBody>
      </p:sp>
      <p:pic>
        <p:nvPicPr>
          <p:cNvPr id="821" name="Google Shape;821;g3715fd0d4a0_3_89"/>
          <p:cNvPicPr preferRelativeResize="0"/>
          <p:nvPr/>
        </p:nvPicPr>
        <p:blipFill rotWithShape="1">
          <a:blip r:embed="rId3">
            <a:alphaModFix/>
          </a:blip>
          <a:srcRect/>
          <a:stretch/>
        </p:blipFill>
        <p:spPr>
          <a:xfrm>
            <a:off x="536700" y="2691170"/>
            <a:ext cx="7454624" cy="2369575"/>
          </a:xfrm>
          <a:prstGeom prst="rect">
            <a:avLst/>
          </a:prstGeom>
          <a:noFill/>
          <a:ln>
            <a:noFill/>
          </a:ln>
        </p:spPr>
      </p:pic>
      <p:sp>
        <p:nvSpPr>
          <p:cNvPr id="822" name="Google Shape;822;g3715fd0d4a0_3_89"/>
          <p:cNvSpPr/>
          <p:nvPr/>
        </p:nvSpPr>
        <p:spPr>
          <a:xfrm rot="-5400000">
            <a:off x="6489400" y="2382500"/>
            <a:ext cx="343800" cy="1892700"/>
          </a:xfrm>
          <a:prstGeom prst="rightBrace">
            <a:avLst>
              <a:gd name="adj1" fmla="val 50000"/>
              <a:gd name="adj2" fmla="val 50000"/>
            </a:avLst>
          </a:prstGeom>
          <a:noFill/>
          <a:ln w="19050"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23" name="Google Shape;823;g3715fd0d4a0_3_89"/>
          <p:cNvSpPr/>
          <p:nvPr/>
        </p:nvSpPr>
        <p:spPr>
          <a:xfrm rot="-5400000">
            <a:off x="4917150" y="2777075"/>
            <a:ext cx="272100" cy="1200000"/>
          </a:xfrm>
          <a:prstGeom prst="rightBrace">
            <a:avLst>
              <a:gd name="adj1" fmla="val 50000"/>
              <a:gd name="adj2" fmla="val 50000"/>
            </a:avLst>
          </a:prstGeom>
          <a:noFill/>
          <a:ln w="19050"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24" name="Google Shape;824;g3715fd0d4a0_3_89"/>
          <p:cNvSpPr txBox="1">
            <a:spLocks noGrp="1"/>
          </p:cNvSpPr>
          <p:nvPr>
            <p:ph type="body" idx="1"/>
          </p:nvPr>
        </p:nvSpPr>
        <p:spPr>
          <a:xfrm>
            <a:off x="4648200" y="2794200"/>
            <a:ext cx="4812000" cy="4824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solidFill>
                  <a:srgbClr val="9FC3FF"/>
                </a:solidFill>
              </a:rPr>
              <a:t>From         To</a:t>
            </a:r>
            <a:endParaRPr b="0" u="none">
              <a:solidFill>
                <a:srgbClr val="9FC3FF"/>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344e220f39a_0_138"/>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 Command Line Syntax</a:t>
            </a:r>
            <a:endParaRPr/>
          </a:p>
        </p:txBody>
      </p:sp>
      <p:sp>
        <p:nvSpPr>
          <p:cNvPr id="831" name="Google Shape;831;g344e220f39a_0_138"/>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30200" algn="l" rtl="0">
              <a:lnSpc>
                <a:spcPct val="150000"/>
              </a:lnSpc>
              <a:spcBef>
                <a:spcPts val="400"/>
              </a:spcBef>
              <a:spcAft>
                <a:spcPts val="0"/>
              </a:spcAft>
              <a:buSzPts val="1800"/>
              <a:buAutoNum type="arabicPeriod"/>
            </a:pPr>
            <a:r>
              <a:rPr lang="es-ES" b="0" u="none"/>
              <a:t>Syntax</a:t>
            </a:r>
            <a:endParaRPr b="0" u="none"/>
          </a:p>
          <a:p>
            <a:pPr marL="342900" lvl="0" indent="-330200" algn="l" rtl="0">
              <a:lnSpc>
                <a:spcPct val="150000"/>
              </a:lnSpc>
              <a:spcBef>
                <a:spcPts val="400"/>
              </a:spcBef>
              <a:spcAft>
                <a:spcPts val="0"/>
              </a:spcAft>
              <a:buSzPts val="1800"/>
              <a:buAutoNum type="arabicPeriod"/>
            </a:pPr>
            <a:r>
              <a:rPr lang="es-ES" b="0" u="none"/>
              <a:t>Input</a:t>
            </a:r>
            <a:endParaRPr b="0" u="none"/>
          </a:p>
          <a:p>
            <a:pPr marL="342900" lvl="0" indent="-330200" algn="l" rtl="0">
              <a:lnSpc>
                <a:spcPct val="150000"/>
              </a:lnSpc>
              <a:spcBef>
                <a:spcPts val="400"/>
              </a:spcBef>
              <a:spcAft>
                <a:spcPts val="0"/>
              </a:spcAft>
              <a:buSzPts val="1800"/>
              <a:buAutoNum type="arabicPeriod"/>
            </a:pPr>
            <a:r>
              <a:rPr lang="es-ES" b="0" u="none"/>
              <a:t>Output</a:t>
            </a:r>
            <a:endParaRPr b="0" u="none"/>
          </a:p>
          <a:p>
            <a:pPr marL="342900" lvl="0" indent="-330200" algn="l" rtl="0">
              <a:lnSpc>
                <a:spcPct val="150000"/>
              </a:lnSpc>
              <a:spcBef>
                <a:spcPts val="400"/>
              </a:spcBef>
              <a:spcAft>
                <a:spcPts val="0"/>
              </a:spcAft>
              <a:buSzPts val="1800"/>
              <a:buAutoNum type="arabicPeriod"/>
            </a:pPr>
            <a:r>
              <a:rPr lang="es-ES" b="0" u="none"/>
              <a:t>Redirect</a:t>
            </a:r>
            <a:endParaRPr b="0" u="none"/>
          </a:p>
          <a:p>
            <a:pPr marL="342900" lvl="0" indent="-342900" algn="l" rtl="0">
              <a:lnSpc>
                <a:spcPct val="150000"/>
              </a:lnSpc>
              <a:spcBef>
                <a:spcPts val="400"/>
              </a:spcBef>
              <a:spcAft>
                <a:spcPts val="0"/>
              </a:spcAft>
              <a:buSzPts val="1800"/>
              <a:buAutoNum type="arabicPeriod"/>
            </a:pPr>
            <a:r>
              <a:rPr lang="es-ES" b="0" u="none"/>
              <a:t>Pipes</a:t>
            </a:r>
            <a:endParaRPr b="0" u="none"/>
          </a:p>
          <a:p>
            <a:pPr marL="342900" lvl="0" indent="-342900" algn="l" rtl="0">
              <a:lnSpc>
                <a:spcPct val="150000"/>
              </a:lnSpc>
              <a:spcBef>
                <a:spcPts val="400"/>
              </a:spcBef>
              <a:spcAft>
                <a:spcPts val="0"/>
              </a:spcAft>
              <a:buSzPts val="1800"/>
              <a:buAutoNum type="arabicPeriod"/>
            </a:pPr>
            <a:r>
              <a:rPr lang="es-ES" b="0" u="none"/>
              <a:t>WildCards and Regular expressions</a:t>
            </a:r>
            <a:endParaRPr b="0" u="none"/>
          </a:p>
        </p:txBody>
      </p:sp>
      <p:sp>
        <p:nvSpPr>
          <p:cNvPr id="832" name="Google Shape;832;g344e220f39a_0_13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72</a:t>
            </a:fld>
            <a:endParaRPr/>
          </a:p>
        </p:txBody>
      </p:sp>
      <p:sp>
        <p:nvSpPr>
          <p:cNvPr id="833" name="Google Shape;833;g344e220f39a_0_138"/>
          <p:cNvSpPr/>
          <p:nvPr/>
        </p:nvSpPr>
        <p:spPr>
          <a:xfrm>
            <a:off x="457200" y="2444939"/>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344e220f39a_0_86"/>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4.2. Input</a:t>
            </a:r>
            <a:endParaRPr/>
          </a:p>
        </p:txBody>
      </p:sp>
      <p:sp>
        <p:nvSpPr>
          <p:cNvPr id="840" name="Google Shape;840;g344e220f39a_0_86"/>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Standard Input (stdin): The data a command receives.</a:t>
            </a:r>
            <a:endParaRPr b="0" u="none"/>
          </a:p>
        </p:txBody>
      </p:sp>
      <p:sp>
        <p:nvSpPr>
          <p:cNvPr id="841" name="Google Shape;841;g344e220f39a_0_8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73</a:t>
            </a:fld>
            <a:endParaRPr/>
          </a:p>
        </p:txBody>
      </p:sp>
      <p:pic>
        <p:nvPicPr>
          <p:cNvPr id="842" name="Google Shape;842;g344e220f39a_0_86"/>
          <p:cNvPicPr preferRelativeResize="0"/>
          <p:nvPr/>
        </p:nvPicPr>
        <p:blipFill rotWithShape="1">
          <a:blip r:embed="rId3">
            <a:alphaModFix/>
          </a:blip>
          <a:srcRect/>
          <a:stretch/>
        </p:blipFill>
        <p:spPr>
          <a:xfrm>
            <a:off x="1433925" y="2686784"/>
            <a:ext cx="5985175" cy="3041380"/>
          </a:xfrm>
          <a:prstGeom prst="rect">
            <a:avLst/>
          </a:prstGeom>
          <a:noFill/>
          <a:ln>
            <a:noFill/>
          </a:ln>
        </p:spPr>
      </p:pic>
      <p:sp>
        <p:nvSpPr>
          <p:cNvPr id="843" name="Google Shape;843;g344e220f39a_0_86"/>
          <p:cNvSpPr/>
          <p:nvPr/>
        </p:nvSpPr>
        <p:spPr>
          <a:xfrm>
            <a:off x="5269675" y="2783275"/>
            <a:ext cx="1360800" cy="346500"/>
          </a:xfrm>
          <a:prstGeom prst="rect">
            <a:avLst/>
          </a:prstGeom>
          <a:noFill/>
          <a:ln w="19050"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44" name="Google Shape;844;g344e220f39a_0_86"/>
          <p:cNvSpPr/>
          <p:nvPr/>
        </p:nvSpPr>
        <p:spPr>
          <a:xfrm>
            <a:off x="1578950" y="3899975"/>
            <a:ext cx="1360800" cy="243000"/>
          </a:xfrm>
          <a:prstGeom prst="rect">
            <a:avLst/>
          </a:prstGeom>
          <a:noFill/>
          <a:ln w="19050"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45" name="Google Shape;845;g344e220f39a_0_86"/>
          <p:cNvSpPr/>
          <p:nvPr/>
        </p:nvSpPr>
        <p:spPr>
          <a:xfrm>
            <a:off x="1578950" y="4513125"/>
            <a:ext cx="1360800" cy="243000"/>
          </a:xfrm>
          <a:prstGeom prst="rect">
            <a:avLst/>
          </a:prstGeom>
          <a:noFill/>
          <a:ln w="19050"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46" name="Google Shape;846;g344e220f39a_0_86"/>
          <p:cNvSpPr/>
          <p:nvPr/>
        </p:nvSpPr>
        <p:spPr>
          <a:xfrm>
            <a:off x="2584850" y="1918200"/>
            <a:ext cx="1039500" cy="383700"/>
          </a:xfrm>
          <a:prstGeom prst="rect">
            <a:avLst/>
          </a:prstGeom>
          <a:noFill/>
          <a:ln w="28575"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344e220f39a_0_146"/>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 Command Line Syntax</a:t>
            </a:r>
            <a:endParaRPr/>
          </a:p>
        </p:txBody>
      </p:sp>
      <p:sp>
        <p:nvSpPr>
          <p:cNvPr id="853" name="Google Shape;853;g344e220f39a_0_146"/>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30200" algn="l" rtl="0">
              <a:lnSpc>
                <a:spcPct val="150000"/>
              </a:lnSpc>
              <a:spcBef>
                <a:spcPts val="400"/>
              </a:spcBef>
              <a:spcAft>
                <a:spcPts val="0"/>
              </a:spcAft>
              <a:buSzPts val="1800"/>
              <a:buAutoNum type="arabicPeriod"/>
            </a:pPr>
            <a:r>
              <a:rPr lang="es-ES" b="0" u="none"/>
              <a:t>Syntax</a:t>
            </a:r>
            <a:endParaRPr b="0" u="none"/>
          </a:p>
          <a:p>
            <a:pPr marL="342900" lvl="0" indent="-330200" algn="l" rtl="0">
              <a:lnSpc>
                <a:spcPct val="150000"/>
              </a:lnSpc>
              <a:spcBef>
                <a:spcPts val="400"/>
              </a:spcBef>
              <a:spcAft>
                <a:spcPts val="0"/>
              </a:spcAft>
              <a:buSzPts val="1800"/>
              <a:buAutoNum type="arabicPeriod"/>
            </a:pPr>
            <a:r>
              <a:rPr lang="es-ES" b="0" u="none"/>
              <a:t>Input</a:t>
            </a:r>
            <a:endParaRPr b="0" u="none"/>
          </a:p>
          <a:p>
            <a:pPr marL="342900" lvl="0" indent="-330200" algn="l" rtl="0">
              <a:lnSpc>
                <a:spcPct val="150000"/>
              </a:lnSpc>
              <a:spcBef>
                <a:spcPts val="400"/>
              </a:spcBef>
              <a:spcAft>
                <a:spcPts val="0"/>
              </a:spcAft>
              <a:buSzPts val="1800"/>
              <a:buAutoNum type="arabicPeriod"/>
            </a:pPr>
            <a:r>
              <a:rPr lang="es-ES" b="0" u="none"/>
              <a:t>Output</a:t>
            </a:r>
            <a:endParaRPr b="0" u="none"/>
          </a:p>
          <a:p>
            <a:pPr marL="342900" lvl="0" indent="-330200" algn="l" rtl="0">
              <a:lnSpc>
                <a:spcPct val="150000"/>
              </a:lnSpc>
              <a:spcBef>
                <a:spcPts val="400"/>
              </a:spcBef>
              <a:spcAft>
                <a:spcPts val="0"/>
              </a:spcAft>
              <a:buSzPts val="1800"/>
              <a:buAutoNum type="arabicPeriod"/>
            </a:pPr>
            <a:r>
              <a:rPr lang="es-ES" b="0" u="none"/>
              <a:t>Redirect</a:t>
            </a:r>
            <a:endParaRPr b="0" u="none"/>
          </a:p>
          <a:p>
            <a:pPr marL="342900" lvl="0" indent="-342900" algn="l" rtl="0">
              <a:lnSpc>
                <a:spcPct val="150000"/>
              </a:lnSpc>
              <a:spcBef>
                <a:spcPts val="400"/>
              </a:spcBef>
              <a:spcAft>
                <a:spcPts val="0"/>
              </a:spcAft>
              <a:buSzPts val="1800"/>
              <a:buAutoNum type="arabicPeriod"/>
            </a:pPr>
            <a:r>
              <a:rPr lang="es-ES" b="0" u="none"/>
              <a:t>Pipes</a:t>
            </a:r>
            <a:endParaRPr b="0" u="none"/>
          </a:p>
          <a:p>
            <a:pPr marL="342900" lvl="0" indent="-342900" algn="l" rtl="0">
              <a:lnSpc>
                <a:spcPct val="150000"/>
              </a:lnSpc>
              <a:spcBef>
                <a:spcPts val="400"/>
              </a:spcBef>
              <a:spcAft>
                <a:spcPts val="0"/>
              </a:spcAft>
              <a:buSzPts val="1800"/>
              <a:buAutoNum type="arabicPeriod"/>
            </a:pPr>
            <a:r>
              <a:rPr lang="es-ES" b="0" u="none"/>
              <a:t>WildCards and Regular expressions</a:t>
            </a:r>
            <a:endParaRPr b="0" u="none"/>
          </a:p>
        </p:txBody>
      </p:sp>
      <p:sp>
        <p:nvSpPr>
          <p:cNvPr id="854" name="Google Shape;854;g344e220f39a_0_14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74</a:t>
            </a:fld>
            <a:endParaRPr/>
          </a:p>
        </p:txBody>
      </p:sp>
      <p:sp>
        <p:nvSpPr>
          <p:cNvPr id="855" name="Google Shape;855;g344e220f39a_0_146"/>
          <p:cNvSpPr/>
          <p:nvPr/>
        </p:nvSpPr>
        <p:spPr>
          <a:xfrm>
            <a:off x="457200" y="2978339"/>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344e220f39a_0_93"/>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4.3. Output</a:t>
            </a:r>
            <a:endParaRPr/>
          </a:p>
        </p:txBody>
      </p:sp>
      <p:sp>
        <p:nvSpPr>
          <p:cNvPr id="862" name="Google Shape;862;g344e220f39a_0_93"/>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Standard Output (stdout): data a command sends back as a result.</a:t>
            </a:r>
            <a:endParaRPr b="0" u="none"/>
          </a:p>
          <a:p>
            <a:pPr marL="0" lvl="0" indent="0" algn="l" rtl="0">
              <a:lnSpc>
                <a:spcPct val="100000"/>
              </a:lnSpc>
              <a:spcBef>
                <a:spcPts val="360"/>
              </a:spcBef>
              <a:spcAft>
                <a:spcPts val="0"/>
              </a:spcAft>
              <a:buSzPts val="1800"/>
              <a:buNone/>
            </a:pPr>
            <a:endParaRPr b="0" u="none"/>
          </a:p>
          <a:p>
            <a:pPr marL="0" lvl="0" indent="0" algn="l" rtl="0">
              <a:lnSpc>
                <a:spcPct val="100000"/>
              </a:lnSpc>
              <a:spcBef>
                <a:spcPts val="360"/>
              </a:spcBef>
              <a:spcAft>
                <a:spcPts val="0"/>
              </a:spcAft>
              <a:buSzPts val="1800"/>
              <a:buNone/>
            </a:pPr>
            <a:r>
              <a:rPr lang="es-ES" b="0" u="none"/>
              <a:t>By default, it is printed to the screen.</a:t>
            </a:r>
            <a:endParaRPr b="0" u="none"/>
          </a:p>
        </p:txBody>
      </p:sp>
      <p:sp>
        <p:nvSpPr>
          <p:cNvPr id="863" name="Google Shape;863;g344e220f39a_0_9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75</a:t>
            </a:fld>
            <a:endParaRPr/>
          </a:p>
        </p:txBody>
      </p:sp>
      <p:pic>
        <p:nvPicPr>
          <p:cNvPr id="864" name="Google Shape;864;g344e220f39a_0_93"/>
          <p:cNvPicPr preferRelativeResize="0"/>
          <p:nvPr/>
        </p:nvPicPr>
        <p:blipFill rotWithShape="1">
          <a:blip r:embed="rId3">
            <a:alphaModFix/>
          </a:blip>
          <a:srcRect/>
          <a:stretch/>
        </p:blipFill>
        <p:spPr>
          <a:xfrm>
            <a:off x="1409200" y="3429009"/>
            <a:ext cx="5985175" cy="3041380"/>
          </a:xfrm>
          <a:prstGeom prst="rect">
            <a:avLst/>
          </a:prstGeom>
          <a:noFill/>
          <a:ln>
            <a:noFill/>
          </a:ln>
        </p:spPr>
      </p:pic>
      <p:sp>
        <p:nvSpPr>
          <p:cNvPr id="865" name="Google Shape;865;g344e220f39a_0_93"/>
          <p:cNvSpPr/>
          <p:nvPr/>
        </p:nvSpPr>
        <p:spPr>
          <a:xfrm>
            <a:off x="1702650" y="3822375"/>
            <a:ext cx="2391900" cy="569100"/>
          </a:xfrm>
          <a:prstGeom prst="rect">
            <a:avLst/>
          </a:prstGeom>
          <a:noFill/>
          <a:ln w="19050" cap="flat" cmpd="sng">
            <a:solidFill>
              <a:srgbClr val="BD4B4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66" name="Google Shape;866;g344e220f39a_0_93"/>
          <p:cNvSpPr/>
          <p:nvPr/>
        </p:nvSpPr>
        <p:spPr>
          <a:xfrm>
            <a:off x="2782800" y="1834750"/>
            <a:ext cx="1138500" cy="569100"/>
          </a:xfrm>
          <a:prstGeom prst="rect">
            <a:avLst/>
          </a:prstGeom>
          <a:noFill/>
          <a:ln w="19050" cap="flat" cmpd="sng">
            <a:solidFill>
              <a:srgbClr val="BD4B4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67" name="Google Shape;867;g344e220f39a_0_93"/>
          <p:cNvSpPr/>
          <p:nvPr/>
        </p:nvSpPr>
        <p:spPr>
          <a:xfrm>
            <a:off x="1644300" y="4918875"/>
            <a:ext cx="1138500" cy="301200"/>
          </a:xfrm>
          <a:prstGeom prst="rect">
            <a:avLst/>
          </a:prstGeom>
          <a:noFill/>
          <a:ln w="19050" cap="flat" cmpd="sng">
            <a:solidFill>
              <a:srgbClr val="BD4B4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68" name="Google Shape;868;g344e220f39a_0_93"/>
          <p:cNvSpPr/>
          <p:nvPr/>
        </p:nvSpPr>
        <p:spPr>
          <a:xfrm>
            <a:off x="1644300" y="5467125"/>
            <a:ext cx="1138500" cy="301200"/>
          </a:xfrm>
          <a:prstGeom prst="rect">
            <a:avLst/>
          </a:prstGeom>
          <a:noFill/>
          <a:ln w="19050" cap="flat" cmpd="sng">
            <a:solidFill>
              <a:srgbClr val="BD4B4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3715fd0d4a0_3_125"/>
          <p:cNvSpPr txBox="1">
            <a:spLocks noGrp="1"/>
          </p:cNvSpPr>
          <p:nvPr>
            <p:ph type="body" idx="1"/>
          </p:nvPr>
        </p:nvSpPr>
        <p:spPr>
          <a:xfrm>
            <a:off x="457200" y="1916830"/>
            <a:ext cx="8229600" cy="1053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stdin            stdout</a:t>
            </a:r>
            <a:endParaRPr b="0" u="none"/>
          </a:p>
        </p:txBody>
      </p:sp>
      <p:sp>
        <p:nvSpPr>
          <p:cNvPr id="875" name="Google Shape;875;g3715fd0d4a0_3_125"/>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Input/Output</a:t>
            </a:r>
            <a:endParaRPr/>
          </a:p>
        </p:txBody>
      </p:sp>
      <p:sp>
        <p:nvSpPr>
          <p:cNvPr id="876" name="Google Shape;876;g3715fd0d4a0_3_125"/>
          <p:cNvSpPr txBox="1">
            <a:spLocks noGrp="1"/>
          </p:cNvSpPr>
          <p:nvPr>
            <p:ph type="sldNum" idx="12"/>
          </p:nvPr>
        </p:nvSpPr>
        <p:spPr>
          <a:xfrm>
            <a:off x="5410200" y="56705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76</a:t>
            </a:fld>
            <a:endParaRPr/>
          </a:p>
        </p:txBody>
      </p:sp>
      <p:pic>
        <p:nvPicPr>
          <p:cNvPr id="877" name="Google Shape;877;g3715fd0d4a0_3_125"/>
          <p:cNvPicPr preferRelativeResize="0"/>
          <p:nvPr/>
        </p:nvPicPr>
        <p:blipFill rotWithShape="1">
          <a:blip r:embed="rId3">
            <a:alphaModFix/>
          </a:blip>
          <a:srcRect/>
          <a:stretch/>
        </p:blipFill>
        <p:spPr>
          <a:xfrm>
            <a:off x="266200" y="2743209"/>
            <a:ext cx="5985175" cy="3041380"/>
          </a:xfrm>
          <a:prstGeom prst="rect">
            <a:avLst/>
          </a:prstGeom>
          <a:noFill/>
          <a:ln>
            <a:noFill/>
          </a:ln>
        </p:spPr>
      </p:pic>
      <p:sp>
        <p:nvSpPr>
          <p:cNvPr id="878" name="Google Shape;878;g3715fd0d4a0_3_125"/>
          <p:cNvSpPr/>
          <p:nvPr/>
        </p:nvSpPr>
        <p:spPr>
          <a:xfrm>
            <a:off x="559650" y="3136575"/>
            <a:ext cx="2391900" cy="569100"/>
          </a:xfrm>
          <a:prstGeom prst="rect">
            <a:avLst/>
          </a:prstGeom>
          <a:noFill/>
          <a:ln w="19050" cap="flat" cmpd="sng">
            <a:solidFill>
              <a:srgbClr val="BD4B4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79" name="Google Shape;879;g3715fd0d4a0_3_125"/>
          <p:cNvSpPr/>
          <p:nvPr/>
        </p:nvSpPr>
        <p:spPr>
          <a:xfrm>
            <a:off x="501300" y="4233075"/>
            <a:ext cx="1138500" cy="301200"/>
          </a:xfrm>
          <a:prstGeom prst="rect">
            <a:avLst/>
          </a:prstGeom>
          <a:noFill/>
          <a:ln w="19050" cap="flat" cmpd="sng">
            <a:solidFill>
              <a:srgbClr val="BD4B4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80" name="Google Shape;880;g3715fd0d4a0_3_125"/>
          <p:cNvSpPr/>
          <p:nvPr/>
        </p:nvSpPr>
        <p:spPr>
          <a:xfrm>
            <a:off x="501300" y="4781325"/>
            <a:ext cx="1138500" cy="301200"/>
          </a:xfrm>
          <a:prstGeom prst="rect">
            <a:avLst/>
          </a:prstGeom>
          <a:noFill/>
          <a:ln w="19050" cap="flat" cmpd="sng">
            <a:solidFill>
              <a:srgbClr val="BD4B4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81" name="Google Shape;881;g3715fd0d4a0_3_125"/>
          <p:cNvSpPr/>
          <p:nvPr/>
        </p:nvSpPr>
        <p:spPr>
          <a:xfrm>
            <a:off x="4126675" y="2859475"/>
            <a:ext cx="1360800" cy="346500"/>
          </a:xfrm>
          <a:prstGeom prst="rect">
            <a:avLst/>
          </a:prstGeom>
          <a:noFill/>
          <a:ln w="19050"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82" name="Google Shape;882;g3715fd0d4a0_3_125"/>
          <p:cNvSpPr/>
          <p:nvPr/>
        </p:nvSpPr>
        <p:spPr>
          <a:xfrm>
            <a:off x="435950" y="3976175"/>
            <a:ext cx="1360800" cy="243000"/>
          </a:xfrm>
          <a:prstGeom prst="rect">
            <a:avLst/>
          </a:prstGeom>
          <a:noFill/>
          <a:ln w="19050"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83" name="Google Shape;883;g3715fd0d4a0_3_125"/>
          <p:cNvSpPr/>
          <p:nvPr/>
        </p:nvSpPr>
        <p:spPr>
          <a:xfrm>
            <a:off x="435950" y="4589325"/>
            <a:ext cx="1360800" cy="243000"/>
          </a:xfrm>
          <a:prstGeom prst="rect">
            <a:avLst/>
          </a:prstGeom>
          <a:noFill/>
          <a:ln w="19050"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84" name="Google Shape;884;g3715fd0d4a0_3_125"/>
          <p:cNvSpPr/>
          <p:nvPr/>
        </p:nvSpPr>
        <p:spPr>
          <a:xfrm>
            <a:off x="2782800" y="1910950"/>
            <a:ext cx="1138500" cy="383700"/>
          </a:xfrm>
          <a:prstGeom prst="rect">
            <a:avLst/>
          </a:prstGeom>
          <a:noFill/>
          <a:ln w="19050" cap="flat" cmpd="sng">
            <a:solidFill>
              <a:srgbClr val="BD4B48"/>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
        <p:nvSpPr>
          <p:cNvPr id="885" name="Google Shape;885;g3715fd0d4a0_3_125"/>
          <p:cNvSpPr/>
          <p:nvPr/>
        </p:nvSpPr>
        <p:spPr>
          <a:xfrm>
            <a:off x="457200" y="1927450"/>
            <a:ext cx="1039500" cy="383700"/>
          </a:xfrm>
          <a:prstGeom prst="rect">
            <a:avLst/>
          </a:prstGeom>
          <a:noFill/>
          <a:ln w="28575" cap="flat" cmpd="sng">
            <a:solidFill>
              <a:srgbClr val="9FC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344e220f39a_0_154"/>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 Command Line Syntax</a:t>
            </a:r>
            <a:endParaRPr/>
          </a:p>
        </p:txBody>
      </p:sp>
      <p:sp>
        <p:nvSpPr>
          <p:cNvPr id="892" name="Google Shape;892;g344e220f39a_0_154"/>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30200" algn="l" rtl="0">
              <a:lnSpc>
                <a:spcPct val="150000"/>
              </a:lnSpc>
              <a:spcBef>
                <a:spcPts val="400"/>
              </a:spcBef>
              <a:spcAft>
                <a:spcPts val="0"/>
              </a:spcAft>
              <a:buSzPts val="1800"/>
              <a:buAutoNum type="arabicPeriod"/>
            </a:pPr>
            <a:r>
              <a:rPr lang="es-ES" b="0" u="none" dirty="0" err="1"/>
              <a:t>Syntax</a:t>
            </a:r>
            <a:endParaRPr b="0" u="none" dirty="0" err="1"/>
          </a:p>
          <a:p>
            <a:pPr marL="342900" lvl="0" indent="-330200" algn="l" rtl="0">
              <a:lnSpc>
                <a:spcPct val="150000"/>
              </a:lnSpc>
              <a:spcBef>
                <a:spcPts val="400"/>
              </a:spcBef>
              <a:spcAft>
                <a:spcPts val="0"/>
              </a:spcAft>
              <a:buSzPts val="1800"/>
              <a:buAutoNum type="arabicPeriod"/>
            </a:pPr>
            <a:r>
              <a:rPr lang="es-ES" b="0" u="none"/>
              <a:t>Input</a:t>
            </a:r>
            <a:endParaRPr b="0" u="none"/>
          </a:p>
          <a:p>
            <a:pPr marL="342900" lvl="0" indent="-330200" algn="l" rtl="0">
              <a:lnSpc>
                <a:spcPct val="150000"/>
              </a:lnSpc>
              <a:spcBef>
                <a:spcPts val="400"/>
              </a:spcBef>
              <a:spcAft>
                <a:spcPts val="0"/>
              </a:spcAft>
              <a:buSzPts val="1800"/>
              <a:buAutoNum type="arabicPeriod"/>
            </a:pPr>
            <a:r>
              <a:rPr lang="es-ES" b="0" u="none"/>
              <a:t>Output</a:t>
            </a:r>
            <a:endParaRPr b="0" u="none"/>
          </a:p>
          <a:p>
            <a:pPr marL="342900" lvl="0" indent="-330200" algn="l" rtl="0">
              <a:lnSpc>
                <a:spcPct val="150000"/>
              </a:lnSpc>
              <a:spcBef>
                <a:spcPts val="400"/>
              </a:spcBef>
              <a:spcAft>
                <a:spcPts val="0"/>
              </a:spcAft>
              <a:buSzPts val="1800"/>
              <a:buAutoNum type="arabicPeriod"/>
            </a:pPr>
            <a:r>
              <a:rPr lang="es-ES" b="0" u="none" dirty="0" err="1"/>
              <a:t>Redirect</a:t>
            </a:r>
            <a:endParaRPr b="0" u="none" dirty="0" err="1"/>
          </a:p>
          <a:p>
            <a:pPr marL="342900" lvl="0" indent="-342900" algn="l" rtl="0">
              <a:lnSpc>
                <a:spcPct val="150000"/>
              </a:lnSpc>
              <a:spcBef>
                <a:spcPts val="400"/>
              </a:spcBef>
              <a:spcAft>
                <a:spcPts val="0"/>
              </a:spcAft>
              <a:buSzPts val="1800"/>
              <a:buAutoNum type="arabicPeriod"/>
            </a:pPr>
            <a:r>
              <a:rPr lang="es-ES" b="0" u="none"/>
              <a:t>Pipes</a:t>
            </a:r>
          </a:p>
          <a:p>
            <a:pPr marL="342900">
              <a:lnSpc>
                <a:spcPct val="150000"/>
              </a:lnSpc>
              <a:spcBef>
                <a:spcPts val="400"/>
              </a:spcBef>
              <a:buAutoNum type="arabicPeriod"/>
            </a:pPr>
            <a:r>
              <a:rPr lang="es-ES" b="0" u="none"/>
              <a:t>WildCards and Regular expressions </a:t>
            </a:r>
            <a:endParaRPr lang="es-ES" b="0" u="none" dirty="0"/>
          </a:p>
        </p:txBody>
      </p:sp>
      <p:sp>
        <p:nvSpPr>
          <p:cNvPr id="893" name="Google Shape;893;g344e220f39a_0_15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77</a:t>
            </a:fld>
            <a:endParaRPr/>
          </a:p>
        </p:txBody>
      </p:sp>
      <p:sp>
        <p:nvSpPr>
          <p:cNvPr id="894" name="Google Shape;894;g344e220f39a_0_154"/>
          <p:cNvSpPr/>
          <p:nvPr/>
        </p:nvSpPr>
        <p:spPr>
          <a:xfrm>
            <a:off x="457200" y="3511739"/>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344e220f39a_0_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4.4. Redirect</a:t>
            </a:r>
            <a:endParaRPr/>
          </a:p>
        </p:txBody>
      </p:sp>
      <p:sp>
        <p:nvSpPr>
          <p:cNvPr id="901" name="Google Shape;901;g344e220f39a_0_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78</a:t>
            </a:fld>
            <a:endParaRPr/>
          </a:p>
        </p:txBody>
      </p:sp>
      <p:pic>
        <p:nvPicPr>
          <p:cNvPr id="902" name="Google Shape;902;g344e220f39a_0_0"/>
          <p:cNvPicPr preferRelativeResize="0"/>
          <p:nvPr/>
        </p:nvPicPr>
        <p:blipFill rotWithShape="1">
          <a:blip r:embed="rId3">
            <a:alphaModFix/>
          </a:blip>
          <a:srcRect/>
          <a:stretch/>
        </p:blipFill>
        <p:spPr>
          <a:xfrm>
            <a:off x="189500" y="2799903"/>
            <a:ext cx="7851300" cy="1566775"/>
          </a:xfrm>
          <a:prstGeom prst="rect">
            <a:avLst/>
          </a:prstGeom>
          <a:noFill/>
          <a:ln>
            <a:noFill/>
          </a:ln>
        </p:spPr>
      </p:pic>
      <p:sp>
        <p:nvSpPr>
          <p:cNvPr id="903" name="Google Shape;903;g344e220f39a_0_0"/>
          <p:cNvSpPr txBox="1">
            <a:spLocks noGrp="1"/>
          </p:cNvSpPr>
          <p:nvPr>
            <p:ph type="body" idx="1"/>
          </p:nvPr>
        </p:nvSpPr>
        <p:spPr>
          <a:xfrm>
            <a:off x="457200" y="1916823"/>
            <a:ext cx="4775400" cy="6561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Redirect stdout (&gt;)</a:t>
            </a:r>
            <a:endParaRPr b="0" u="none"/>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3715fd0d4a0_3_161"/>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4.4. Redirect</a:t>
            </a:r>
            <a:endParaRPr/>
          </a:p>
        </p:txBody>
      </p:sp>
      <p:sp>
        <p:nvSpPr>
          <p:cNvPr id="910" name="Google Shape;910;g3715fd0d4a0_3_16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79</a:t>
            </a:fld>
            <a:endParaRPr/>
          </a:p>
        </p:txBody>
      </p:sp>
      <p:pic>
        <p:nvPicPr>
          <p:cNvPr id="911" name="Google Shape;911;g3715fd0d4a0_3_161"/>
          <p:cNvPicPr preferRelativeResize="0"/>
          <p:nvPr/>
        </p:nvPicPr>
        <p:blipFill rotWithShape="1">
          <a:blip r:embed="rId3">
            <a:alphaModFix/>
          </a:blip>
          <a:srcRect/>
          <a:stretch/>
        </p:blipFill>
        <p:spPr>
          <a:xfrm>
            <a:off x="218338" y="2416429"/>
            <a:ext cx="8707325" cy="2878000"/>
          </a:xfrm>
          <a:prstGeom prst="rect">
            <a:avLst/>
          </a:prstGeom>
          <a:noFill/>
          <a:ln>
            <a:noFill/>
          </a:ln>
        </p:spPr>
      </p:pic>
      <p:sp>
        <p:nvSpPr>
          <p:cNvPr id="912" name="Google Shape;912;g3715fd0d4a0_3_161"/>
          <p:cNvSpPr txBox="1">
            <a:spLocks noGrp="1"/>
          </p:cNvSpPr>
          <p:nvPr>
            <p:ph type="body" idx="1"/>
          </p:nvPr>
        </p:nvSpPr>
        <p:spPr>
          <a:xfrm>
            <a:off x="457200" y="1760323"/>
            <a:ext cx="4775400" cy="6561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Redirect stdout at the end (&gt;&gt;)</a:t>
            </a:r>
            <a:endParaRPr b="0" u="none"/>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3715fd0d4a0_3_169"/>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4.4. Redirect</a:t>
            </a:r>
            <a:endParaRPr/>
          </a:p>
        </p:txBody>
      </p:sp>
      <p:sp>
        <p:nvSpPr>
          <p:cNvPr id="919" name="Google Shape;919;g3715fd0d4a0_3_16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80</a:t>
            </a:fld>
            <a:endParaRPr/>
          </a:p>
        </p:txBody>
      </p:sp>
      <p:pic>
        <p:nvPicPr>
          <p:cNvPr id="920" name="Google Shape;920;g3715fd0d4a0_3_169"/>
          <p:cNvPicPr preferRelativeResize="0"/>
          <p:nvPr/>
        </p:nvPicPr>
        <p:blipFill rotWithShape="1">
          <a:blip r:embed="rId3">
            <a:alphaModFix/>
          </a:blip>
          <a:srcRect/>
          <a:stretch/>
        </p:blipFill>
        <p:spPr>
          <a:xfrm>
            <a:off x="350325" y="2627067"/>
            <a:ext cx="7567025" cy="1603875"/>
          </a:xfrm>
          <a:prstGeom prst="rect">
            <a:avLst/>
          </a:prstGeom>
          <a:noFill/>
          <a:ln>
            <a:noFill/>
          </a:ln>
        </p:spPr>
      </p:pic>
      <p:sp>
        <p:nvSpPr>
          <p:cNvPr id="921" name="Google Shape;921;g3715fd0d4a0_3_169"/>
          <p:cNvSpPr txBox="1">
            <a:spLocks noGrp="1"/>
          </p:cNvSpPr>
          <p:nvPr>
            <p:ph type="body" idx="1"/>
          </p:nvPr>
        </p:nvSpPr>
        <p:spPr>
          <a:xfrm>
            <a:off x="457200" y="1760323"/>
            <a:ext cx="4775400" cy="6561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Input from file (&lt;)</a:t>
            </a:r>
            <a:endParaRPr b="0" u="none"/>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3715fd0d4a0_3_18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4.4. Redirect</a:t>
            </a:r>
            <a:endParaRPr/>
          </a:p>
        </p:txBody>
      </p:sp>
      <p:sp>
        <p:nvSpPr>
          <p:cNvPr id="928" name="Google Shape;928;g3715fd0d4a0_3_18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81</a:t>
            </a:fld>
            <a:endParaRPr/>
          </a:p>
        </p:txBody>
      </p:sp>
      <p:sp>
        <p:nvSpPr>
          <p:cNvPr id="929" name="Google Shape;929;g3715fd0d4a0_3_180"/>
          <p:cNvSpPr txBox="1">
            <a:spLocks noGrp="1"/>
          </p:cNvSpPr>
          <p:nvPr>
            <p:ph type="body" idx="1"/>
          </p:nvPr>
        </p:nvSpPr>
        <p:spPr>
          <a:xfrm>
            <a:off x="457200" y="1760323"/>
            <a:ext cx="4775400" cy="6561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Redirect error log (2&gt;)</a:t>
            </a:r>
            <a:endParaRPr b="0" u="none"/>
          </a:p>
        </p:txBody>
      </p:sp>
      <p:pic>
        <p:nvPicPr>
          <p:cNvPr id="930" name="Google Shape;930;g3715fd0d4a0_3_180"/>
          <p:cNvPicPr preferRelativeResize="0"/>
          <p:nvPr/>
        </p:nvPicPr>
        <p:blipFill rotWithShape="1">
          <a:blip r:embed="rId3">
            <a:alphaModFix/>
          </a:blip>
          <a:srcRect/>
          <a:stretch/>
        </p:blipFill>
        <p:spPr>
          <a:xfrm>
            <a:off x="233063" y="2972126"/>
            <a:ext cx="8677876" cy="18968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3715fd0d4a0_3_189"/>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4.4. Redirect</a:t>
            </a:r>
            <a:endParaRPr/>
          </a:p>
        </p:txBody>
      </p:sp>
      <p:sp>
        <p:nvSpPr>
          <p:cNvPr id="937" name="Google Shape;937;g3715fd0d4a0_3_18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82</a:t>
            </a:fld>
            <a:endParaRPr/>
          </a:p>
        </p:txBody>
      </p:sp>
      <p:sp>
        <p:nvSpPr>
          <p:cNvPr id="938" name="Google Shape;938;g3715fd0d4a0_3_189"/>
          <p:cNvSpPr txBox="1">
            <a:spLocks noGrp="1"/>
          </p:cNvSpPr>
          <p:nvPr>
            <p:ph type="body" idx="1"/>
          </p:nvPr>
        </p:nvSpPr>
        <p:spPr>
          <a:xfrm>
            <a:off x="457200" y="1760325"/>
            <a:ext cx="5567100" cy="656100"/>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400"/>
              </a:spcBef>
              <a:spcAft>
                <a:spcPts val="0"/>
              </a:spcAft>
              <a:buSzPts val="1800"/>
              <a:buNone/>
            </a:pPr>
            <a:r>
              <a:rPr lang="es-ES" b="0" u="none"/>
              <a:t>Redirect error log and output (2&gt;&amp;1)</a:t>
            </a:r>
            <a:endParaRPr b="0" u="none"/>
          </a:p>
        </p:txBody>
      </p:sp>
      <p:pic>
        <p:nvPicPr>
          <p:cNvPr id="939" name="Google Shape;939;g3715fd0d4a0_3_189"/>
          <p:cNvPicPr preferRelativeResize="0"/>
          <p:nvPr/>
        </p:nvPicPr>
        <p:blipFill rotWithShape="1">
          <a:blip r:embed="rId3">
            <a:alphaModFix/>
          </a:blip>
          <a:srcRect/>
          <a:stretch/>
        </p:blipFill>
        <p:spPr>
          <a:xfrm>
            <a:off x="201875" y="2692050"/>
            <a:ext cx="8872224" cy="138962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3715fd0d4a0_3_151"/>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 Command Line Syntax</a:t>
            </a:r>
            <a:endParaRPr/>
          </a:p>
        </p:txBody>
      </p:sp>
      <p:sp>
        <p:nvSpPr>
          <p:cNvPr id="946" name="Google Shape;946;g3715fd0d4a0_3_151"/>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30200" algn="l" rtl="0">
              <a:lnSpc>
                <a:spcPct val="150000"/>
              </a:lnSpc>
              <a:spcBef>
                <a:spcPts val="400"/>
              </a:spcBef>
              <a:spcAft>
                <a:spcPts val="0"/>
              </a:spcAft>
              <a:buSzPts val="1800"/>
              <a:buAutoNum type="arabicPeriod"/>
            </a:pPr>
            <a:r>
              <a:rPr lang="es-ES" b="0" u="none"/>
              <a:t>Syntax</a:t>
            </a:r>
            <a:endParaRPr b="0" u="none"/>
          </a:p>
          <a:p>
            <a:pPr marL="342900" lvl="0" indent="-330200" algn="l" rtl="0">
              <a:lnSpc>
                <a:spcPct val="150000"/>
              </a:lnSpc>
              <a:spcBef>
                <a:spcPts val="400"/>
              </a:spcBef>
              <a:spcAft>
                <a:spcPts val="0"/>
              </a:spcAft>
              <a:buSzPts val="1800"/>
              <a:buAutoNum type="arabicPeriod"/>
            </a:pPr>
            <a:r>
              <a:rPr lang="es-ES" b="0" u="none"/>
              <a:t>Input</a:t>
            </a:r>
            <a:endParaRPr b="0" u="none"/>
          </a:p>
          <a:p>
            <a:pPr marL="342900" lvl="0" indent="-330200" algn="l" rtl="0">
              <a:lnSpc>
                <a:spcPct val="150000"/>
              </a:lnSpc>
              <a:spcBef>
                <a:spcPts val="400"/>
              </a:spcBef>
              <a:spcAft>
                <a:spcPts val="0"/>
              </a:spcAft>
              <a:buSzPts val="1800"/>
              <a:buAutoNum type="arabicPeriod"/>
            </a:pPr>
            <a:r>
              <a:rPr lang="es-ES" b="0" u="none"/>
              <a:t>Output</a:t>
            </a:r>
            <a:endParaRPr b="0" u="none"/>
          </a:p>
          <a:p>
            <a:pPr marL="342900" lvl="0" indent="-330200" algn="l" rtl="0">
              <a:lnSpc>
                <a:spcPct val="150000"/>
              </a:lnSpc>
              <a:spcBef>
                <a:spcPts val="400"/>
              </a:spcBef>
              <a:spcAft>
                <a:spcPts val="0"/>
              </a:spcAft>
              <a:buSzPts val="1800"/>
              <a:buAutoNum type="arabicPeriod"/>
            </a:pPr>
            <a:r>
              <a:rPr lang="es-ES" b="0" u="none"/>
              <a:t>Redirect</a:t>
            </a:r>
            <a:endParaRPr b="0" u="none"/>
          </a:p>
          <a:p>
            <a:pPr marL="342900" lvl="0" indent="-342900" algn="l" rtl="0">
              <a:lnSpc>
                <a:spcPct val="150000"/>
              </a:lnSpc>
              <a:spcBef>
                <a:spcPts val="400"/>
              </a:spcBef>
              <a:spcAft>
                <a:spcPts val="0"/>
              </a:spcAft>
              <a:buSzPts val="1800"/>
              <a:buAutoNum type="arabicPeriod"/>
            </a:pPr>
            <a:r>
              <a:rPr lang="es-ES" b="0" u="none"/>
              <a:t>Pipes</a:t>
            </a:r>
            <a:endParaRPr b="0" u="none"/>
          </a:p>
          <a:p>
            <a:pPr marL="342900" lvl="0" indent="-342900" algn="l" rtl="0">
              <a:lnSpc>
                <a:spcPct val="150000"/>
              </a:lnSpc>
              <a:spcBef>
                <a:spcPts val="400"/>
              </a:spcBef>
              <a:spcAft>
                <a:spcPts val="0"/>
              </a:spcAft>
              <a:buSzPts val="1800"/>
              <a:buAutoNum type="arabicPeriod"/>
            </a:pPr>
            <a:r>
              <a:rPr lang="es-ES" b="0" u="none"/>
              <a:t>WildCards and Regular expressions</a:t>
            </a:r>
            <a:endParaRPr b="0" u="none"/>
          </a:p>
        </p:txBody>
      </p:sp>
      <p:sp>
        <p:nvSpPr>
          <p:cNvPr id="947" name="Google Shape;947;g3715fd0d4a0_3_15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83</a:t>
            </a:fld>
            <a:endParaRPr/>
          </a:p>
        </p:txBody>
      </p:sp>
      <p:sp>
        <p:nvSpPr>
          <p:cNvPr id="948" name="Google Shape;948;g3715fd0d4a0_3_151"/>
          <p:cNvSpPr/>
          <p:nvPr/>
        </p:nvSpPr>
        <p:spPr>
          <a:xfrm>
            <a:off x="457200" y="3968939"/>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3715fd0d4a0_3_144"/>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4.5. Pipes</a:t>
            </a:r>
            <a:endParaRPr/>
          </a:p>
        </p:txBody>
      </p:sp>
      <p:sp>
        <p:nvSpPr>
          <p:cNvPr id="955" name="Google Shape;955;g3715fd0d4a0_3_144"/>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Connect stdout from a command to stdin of another command</a:t>
            </a:r>
            <a:endParaRPr b="0" u="none"/>
          </a:p>
        </p:txBody>
      </p:sp>
      <p:sp>
        <p:nvSpPr>
          <p:cNvPr id="956" name="Google Shape;956;g3715fd0d4a0_3_14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84</a:t>
            </a:fld>
            <a:endParaRPr/>
          </a:p>
        </p:txBody>
      </p:sp>
      <p:pic>
        <p:nvPicPr>
          <p:cNvPr id="957" name="Google Shape;957;g3715fd0d4a0_3_144"/>
          <p:cNvPicPr preferRelativeResize="0"/>
          <p:nvPr/>
        </p:nvPicPr>
        <p:blipFill rotWithShape="1">
          <a:blip r:embed="rId3">
            <a:alphaModFix/>
          </a:blip>
          <a:srcRect/>
          <a:stretch/>
        </p:blipFill>
        <p:spPr>
          <a:xfrm>
            <a:off x="1092500" y="2628125"/>
            <a:ext cx="7073724" cy="679812"/>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3715fd0d4a0_3_225"/>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4.5. Pipes</a:t>
            </a:r>
            <a:endParaRPr/>
          </a:p>
        </p:txBody>
      </p:sp>
      <p:sp>
        <p:nvSpPr>
          <p:cNvPr id="964" name="Google Shape;964;g3715fd0d4a0_3_225"/>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Connect stdout from a command to stdin of another command</a:t>
            </a:r>
            <a:endParaRPr b="0" u="none"/>
          </a:p>
        </p:txBody>
      </p:sp>
      <p:sp>
        <p:nvSpPr>
          <p:cNvPr id="965" name="Google Shape;965;g3715fd0d4a0_3_22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85</a:t>
            </a:fld>
            <a:endParaRPr/>
          </a:p>
        </p:txBody>
      </p:sp>
      <p:pic>
        <p:nvPicPr>
          <p:cNvPr id="966" name="Google Shape;966;g3715fd0d4a0_3_225"/>
          <p:cNvPicPr preferRelativeResize="0"/>
          <p:nvPr/>
        </p:nvPicPr>
        <p:blipFill rotWithShape="1">
          <a:blip r:embed="rId3">
            <a:alphaModFix/>
          </a:blip>
          <a:srcRect/>
          <a:stretch/>
        </p:blipFill>
        <p:spPr>
          <a:xfrm>
            <a:off x="1092500" y="2628125"/>
            <a:ext cx="7073724" cy="679812"/>
          </a:xfrm>
          <a:prstGeom prst="rect">
            <a:avLst/>
          </a:prstGeom>
          <a:noFill/>
          <a:ln>
            <a:noFill/>
          </a:ln>
        </p:spPr>
      </p:pic>
      <p:pic>
        <p:nvPicPr>
          <p:cNvPr id="967" name="Google Shape;967;g3715fd0d4a0_3_225"/>
          <p:cNvPicPr preferRelativeResize="0"/>
          <p:nvPr/>
        </p:nvPicPr>
        <p:blipFill rotWithShape="1">
          <a:blip r:embed="rId4">
            <a:alphaModFix/>
          </a:blip>
          <a:srcRect b="26610"/>
          <a:stretch/>
        </p:blipFill>
        <p:spPr>
          <a:xfrm>
            <a:off x="1002600" y="3532500"/>
            <a:ext cx="7253526" cy="190755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383603ae38b_0_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4.5. Pipes</a:t>
            </a:r>
            <a:endParaRPr/>
          </a:p>
        </p:txBody>
      </p:sp>
      <p:sp>
        <p:nvSpPr>
          <p:cNvPr id="974" name="Google Shape;974;g383603ae38b_0_0"/>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s-ES" b="0" u="none"/>
              <a:t>Connect stdout from a command to stdin of another command</a:t>
            </a:r>
            <a:endParaRPr b="0" u="none"/>
          </a:p>
        </p:txBody>
      </p:sp>
      <p:sp>
        <p:nvSpPr>
          <p:cNvPr id="975" name="Google Shape;975;g383603ae38b_0_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86</a:t>
            </a:fld>
            <a:endParaRPr/>
          </a:p>
        </p:txBody>
      </p:sp>
      <p:pic>
        <p:nvPicPr>
          <p:cNvPr id="976" name="Google Shape;976;g383603ae38b_0_0"/>
          <p:cNvPicPr preferRelativeResize="0"/>
          <p:nvPr/>
        </p:nvPicPr>
        <p:blipFill rotWithShape="1">
          <a:blip r:embed="rId3">
            <a:alphaModFix/>
          </a:blip>
          <a:srcRect/>
          <a:stretch/>
        </p:blipFill>
        <p:spPr>
          <a:xfrm>
            <a:off x="1092500" y="2628125"/>
            <a:ext cx="7073724" cy="679812"/>
          </a:xfrm>
          <a:prstGeom prst="rect">
            <a:avLst/>
          </a:prstGeom>
          <a:noFill/>
          <a:ln>
            <a:noFill/>
          </a:ln>
        </p:spPr>
      </p:pic>
      <p:pic>
        <p:nvPicPr>
          <p:cNvPr id="977" name="Google Shape;977;g383603ae38b_0_0"/>
          <p:cNvPicPr preferRelativeResize="0"/>
          <p:nvPr/>
        </p:nvPicPr>
        <p:blipFill rotWithShape="1">
          <a:blip r:embed="rId4">
            <a:alphaModFix/>
          </a:blip>
          <a:srcRect/>
          <a:stretch/>
        </p:blipFill>
        <p:spPr>
          <a:xfrm>
            <a:off x="1002602" y="3532500"/>
            <a:ext cx="7253532" cy="259927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3715fd0d4a0_3_199"/>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4.5. Pipes</a:t>
            </a:r>
            <a:endParaRPr/>
          </a:p>
        </p:txBody>
      </p:sp>
      <p:sp>
        <p:nvSpPr>
          <p:cNvPr id="984" name="Google Shape;984;g3715fd0d4a0_3_19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87</a:t>
            </a:fld>
            <a:endParaRPr/>
          </a:p>
        </p:txBody>
      </p:sp>
      <p:pic>
        <p:nvPicPr>
          <p:cNvPr id="985" name="Google Shape;985;g3715fd0d4a0_3_199"/>
          <p:cNvPicPr preferRelativeResize="0"/>
          <p:nvPr/>
        </p:nvPicPr>
        <p:blipFill rotWithShape="1">
          <a:blip r:embed="rId3">
            <a:alphaModFix/>
          </a:blip>
          <a:srcRect/>
          <a:stretch/>
        </p:blipFill>
        <p:spPr>
          <a:xfrm>
            <a:off x="535850" y="2243251"/>
            <a:ext cx="7733351" cy="308827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364258a22eb_0_7"/>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4. Command Line Syntax</a:t>
            </a:r>
            <a:endParaRPr/>
          </a:p>
        </p:txBody>
      </p:sp>
      <p:sp>
        <p:nvSpPr>
          <p:cNvPr id="992" name="Google Shape;992;g364258a22eb_0_7"/>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30200" algn="l" rtl="0">
              <a:lnSpc>
                <a:spcPct val="150000"/>
              </a:lnSpc>
              <a:spcBef>
                <a:spcPts val="400"/>
              </a:spcBef>
              <a:spcAft>
                <a:spcPts val="0"/>
              </a:spcAft>
              <a:buSzPts val="1800"/>
              <a:buAutoNum type="arabicPeriod"/>
            </a:pPr>
            <a:r>
              <a:rPr lang="es-ES" b="0" u="none"/>
              <a:t>Syntax</a:t>
            </a:r>
            <a:endParaRPr b="0" u="none"/>
          </a:p>
          <a:p>
            <a:pPr marL="342900" lvl="0" indent="-330200" algn="l" rtl="0">
              <a:lnSpc>
                <a:spcPct val="150000"/>
              </a:lnSpc>
              <a:spcBef>
                <a:spcPts val="400"/>
              </a:spcBef>
              <a:spcAft>
                <a:spcPts val="0"/>
              </a:spcAft>
              <a:buSzPts val="1800"/>
              <a:buAutoNum type="arabicPeriod"/>
            </a:pPr>
            <a:r>
              <a:rPr lang="es-ES" b="0" u="none"/>
              <a:t>Input</a:t>
            </a:r>
            <a:endParaRPr b="0" u="none"/>
          </a:p>
          <a:p>
            <a:pPr marL="342900" lvl="0" indent="-330200" algn="l" rtl="0">
              <a:lnSpc>
                <a:spcPct val="150000"/>
              </a:lnSpc>
              <a:spcBef>
                <a:spcPts val="400"/>
              </a:spcBef>
              <a:spcAft>
                <a:spcPts val="0"/>
              </a:spcAft>
              <a:buSzPts val="1800"/>
              <a:buAutoNum type="arabicPeriod"/>
            </a:pPr>
            <a:r>
              <a:rPr lang="es-ES" b="0" u="none"/>
              <a:t>Output</a:t>
            </a:r>
            <a:endParaRPr b="0" u="none"/>
          </a:p>
          <a:p>
            <a:pPr marL="342900" lvl="0" indent="-330200" algn="l" rtl="0">
              <a:lnSpc>
                <a:spcPct val="150000"/>
              </a:lnSpc>
              <a:spcBef>
                <a:spcPts val="400"/>
              </a:spcBef>
              <a:spcAft>
                <a:spcPts val="0"/>
              </a:spcAft>
              <a:buSzPts val="1800"/>
              <a:buAutoNum type="arabicPeriod"/>
            </a:pPr>
            <a:r>
              <a:rPr lang="es-ES" b="0" u="none"/>
              <a:t>Redirect</a:t>
            </a:r>
            <a:endParaRPr b="0" u="none"/>
          </a:p>
          <a:p>
            <a:pPr marL="342900" lvl="0" indent="-342900" algn="l" rtl="0">
              <a:lnSpc>
                <a:spcPct val="150000"/>
              </a:lnSpc>
              <a:spcBef>
                <a:spcPts val="400"/>
              </a:spcBef>
              <a:spcAft>
                <a:spcPts val="0"/>
              </a:spcAft>
              <a:buSzPts val="1800"/>
              <a:buAutoNum type="arabicPeriod"/>
            </a:pPr>
            <a:r>
              <a:rPr lang="es-ES" b="0" u="none"/>
              <a:t>Pipes</a:t>
            </a:r>
            <a:endParaRPr b="0" u="none"/>
          </a:p>
          <a:p>
            <a:pPr marL="342900" lvl="0" indent="-342900" algn="l" rtl="0">
              <a:lnSpc>
                <a:spcPct val="150000"/>
              </a:lnSpc>
              <a:spcBef>
                <a:spcPts val="400"/>
              </a:spcBef>
              <a:spcAft>
                <a:spcPts val="0"/>
              </a:spcAft>
              <a:buSzPts val="1800"/>
              <a:buAutoNum type="arabicPeriod"/>
            </a:pPr>
            <a:r>
              <a:rPr lang="es-ES" b="0" u="none"/>
              <a:t>WildCards and Regular expressions</a:t>
            </a:r>
            <a:endParaRPr b="0" u="none"/>
          </a:p>
        </p:txBody>
      </p:sp>
      <p:sp>
        <p:nvSpPr>
          <p:cNvPr id="993" name="Google Shape;993;g364258a22eb_0_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88</a:t>
            </a:fld>
            <a:endParaRPr/>
          </a:p>
        </p:txBody>
      </p:sp>
      <p:sp>
        <p:nvSpPr>
          <p:cNvPr id="994" name="Google Shape;994;g364258a22eb_0_7"/>
          <p:cNvSpPr/>
          <p:nvPr/>
        </p:nvSpPr>
        <p:spPr>
          <a:xfrm>
            <a:off x="457200" y="4545268"/>
            <a:ext cx="5276700" cy="5079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364258a22eb_0_15"/>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s-ES"/>
              <a:t>4.6. WildCards and Regular expressions</a:t>
            </a:r>
            <a:endParaRPr/>
          </a:p>
        </p:txBody>
      </p:sp>
      <p:sp>
        <p:nvSpPr>
          <p:cNvPr id="1001" name="Google Shape;1001;g364258a22eb_0_1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89</a:t>
            </a:fld>
            <a:endParaRPr/>
          </a:p>
        </p:txBody>
      </p:sp>
      <p:sp>
        <p:nvSpPr>
          <p:cNvPr id="1002" name="Google Shape;1002;g364258a22eb_0_15"/>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SzPts val="1800"/>
              <a:buNone/>
            </a:pPr>
            <a:r>
              <a:rPr lang="es-ES" b="0" u="none"/>
              <a:t>Patterns used to search, match, or validate text in strings</a:t>
            </a:r>
            <a:endParaRPr b="0" u="none"/>
          </a:p>
          <a:p>
            <a:pPr marL="0" lvl="0" indent="0" algn="l" rtl="0">
              <a:lnSpc>
                <a:spcPct val="115000"/>
              </a:lnSpc>
              <a:spcBef>
                <a:spcPts val="1200"/>
              </a:spcBef>
              <a:spcAft>
                <a:spcPts val="0"/>
              </a:spcAft>
              <a:buSzPts val="1800"/>
              <a:buNone/>
            </a:pPr>
            <a:endParaRPr b="0" u="none"/>
          </a:p>
          <a:p>
            <a:pPr marL="0" lvl="0" indent="0" algn="l" rtl="0">
              <a:lnSpc>
                <a:spcPct val="115000"/>
              </a:lnSpc>
              <a:spcBef>
                <a:spcPts val="1200"/>
              </a:spcBef>
              <a:spcAft>
                <a:spcPts val="1200"/>
              </a:spcAft>
              <a:buSzPts val="1800"/>
              <a:buNone/>
            </a:pPr>
            <a:endParaRPr b="0" u="none"/>
          </a:p>
        </p:txBody>
      </p:sp>
      <p:graphicFrame>
        <p:nvGraphicFramePr>
          <p:cNvPr id="1003" name="Google Shape;1003;g364258a22eb_0_15"/>
          <p:cNvGraphicFramePr/>
          <p:nvPr/>
        </p:nvGraphicFramePr>
        <p:xfrm>
          <a:off x="740250" y="2476500"/>
          <a:ext cx="7701650" cy="4206060"/>
        </p:xfrm>
        <a:graphic>
          <a:graphicData uri="http://schemas.openxmlformats.org/drawingml/2006/table">
            <a:tbl>
              <a:tblPr>
                <a:noFill/>
                <a:tableStyleId>{0DA7D777-3BDA-417D-9A47-9BB397AF2953}</a:tableStyleId>
              </a:tblPr>
              <a:tblGrid>
                <a:gridCol w="940975">
                  <a:extLst>
                    <a:ext uri="{9D8B030D-6E8A-4147-A177-3AD203B41FA5}">
                      <a16:colId xmlns:a16="http://schemas.microsoft.com/office/drawing/2014/main" val="20000"/>
                    </a:ext>
                  </a:extLst>
                </a:gridCol>
                <a:gridCol w="2890775">
                  <a:extLst>
                    <a:ext uri="{9D8B030D-6E8A-4147-A177-3AD203B41FA5}">
                      <a16:colId xmlns:a16="http://schemas.microsoft.com/office/drawing/2014/main" val="20001"/>
                    </a:ext>
                  </a:extLst>
                </a:gridCol>
                <a:gridCol w="1944475">
                  <a:extLst>
                    <a:ext uri="{9D8B030D-6E8A-4147-A177-3AD203B41FA5}">
                      <a16:colId xmlns:a16="http://schemas.microsoft.com/office/drawing/2014/main" val="20002"/>
                    </a:ext>
                  </a:extLst>
                </a:gridCol>
                <a:gridCol w="1925425">
                  <a:extLst>
                    <a:ext uri="{9D8B030D-6E8A-4147-A177-3AD203B41FA5}">
                      <a16:colId xmlns:a16="http://schemas.microsoft.com/office/drawing/2014/main" val="20003"/>
                    </a:ext>
                  </a:extLst>
                </a:gridCol>
              </a:tblGrid>
              <a:tr h="405975">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Pattern</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Meaning</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Use example</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What finds</a:t>
                      </a:r>
                      <a:endParaRPr sz="1700" u="none" strike="noStrike" cap="none"/>
                    </a:p>
                  </a:txBody>
                  <a:tcPr marL="91425" marR="91425" marT="91425" marB="91425"/>
                </a:tc>
                <a:extLst>
                  <a:ext uri="{0D108BD9-81ED-4DB2-BD59-A6C34878D82A}">
                    <a16:rowId xmlns:a16="http://schemas.microsoft.com/office/drawing/2014/main" val="10000"/>
                  </a:ext>
                </a:extLst>
              </a:tr>
              <a:tr h="882000">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Zero or more repetitions</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file*.txt</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chemeClr val="dk1"/>
                        </a:buClr>
                        <a:buSzPts val="1100"/>
                        <a:buFont typeface="Arial"/>
                        <a:buNone/>
                      </a:pPr>
                      <a:r>
                        <a:rPr lang="es-ES" sz="1700" u="none" strike="noStrike" cap="none">
                          <a:solidFill>
                            <a:schemeClr val="dk1"/>
                          </a:solidFill>
                        </a:rPr>
                        <a:t>fileee.txt</a:t>
                      </a:r>
                      <a:endParaRPr sz="1700" u="none" strike="noStrike" cap="none">
                        <a:solidFill>
                          <a:schemeClr val="dk1"/>
                        </a:solidFill>
                      </a:endParaRPr>
                    </a:p>
                    <a:p>
                      <a:pPr marL="0" marR="0" lvl="0" indent="0" algn="l" rtl="0">
                        <a:lnSpc>
                          <a:spcPct val="100000"/>
                        </a:lnSpc>
                        <a:spcBef>
                          <a:spcPts val="0"/>
                        </a:spcBef>
                        <a:spcAft>
                          <a:spcPts val="0"/>
                        </a:spcAft>
                        <a:buClr>
                          <a:schemeClr val="dk1"/>
                        </a:buClr>
                        <a:buSzPts val="1100"/>
                        <a:buFont typeface="Arial"/>
                        <a:buNone/>
                      </a:pPr>
                      <a:r>
                        <a:rPr lang="es-ES" sz="1700" u="none" strike="noStrike" cap="none">
                          <a:solidFill>
                            <a:schemeClr val="dk1"/>
                          </a:solidFill>
                        </a:rPr>
                        <a:t>file1.txt</a:t>
                      </a:r>
                      <a:endParaRPr sz="1700" u="none" strike="noStrike" cap="none">
                        <a:solidFill>
                          <a:schemeClr val="dk1"/>
                        </a:solidFill>
                      </a:endParaRPr>
                    </a:p>
                    <a:p>
                      <a:pPr marL="0" marR="0" lvl="0" indent="0" algn="l" rtl="0">
                        <a:lnSpc>
                          <a:spcPct val="100000"/>
                        </a:lnSpc>
                        <a:spcBef>
                          <a:spcPts val="0"/>
                        </a:spcBef>
                        <a:spcAft>
                          <a:spcPts val="0"/>
                        </a:spcAft>
                        <a:buClr>
                          <a:srgbClr val="000000"/>
                        </a:buClr>
                        <a:buSzPts val="1700"/>
                        <a:buFont typeface="Arial"/>
                        <a:buNone/>
                      </a:pPr>
                      <a:r>
                        <a:rPr lang="es-ES" sz="1700" u="none" strike="noStrike" cap="none">
                          <a:solidFill>
                            <a:schemeClr val="dk1"/>
                          </a:solidFill>
                        </a:rPr>
                        <a:t>files.txt</a:t>
                      </a:r>
                      <a:endParaRPr sz="1700" u="none" strike="noStrike" cap="none"/>
                    </a:p>
                  </a:txBody>
                  <a:tcPr marL="91425" marR="91425" marT="91425" marB="91425"/>
                </a:tc>
                <a:extLst>
                  <a:ext uri="{0D108BD9-81ED-4DB2-BD59-A6C34878D82A}">
                    <a16:rowId xmlns:a16="http://schemas.microsoft.com/office/drawing/2014/main" val="10001"/>
                  </a:ext>
                </a:extLst>
              </a:tr>
              <a:tr h="882000">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Start of the string	</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^file</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file.pdf</a:t>
                      </a:r>
                      <a:endParaRPr sz="1700" u="none" strike="noStrike" cap="none"/>
                    </a:p>
                    <a:p>
                      <a:pPr marL="0" marR="0" lvl="0" indent="0" algn="l" rtl="0">
                        <a:lnSpc>
                          <a:spcPct val="100000"/>
                        </a:lnSpc>
                        <a:spcBef>
                          <a:spcPts val="0"/>
                        </a:spcBef>
                        <a:spcAft>
                          <a:spcPts val="0"/>
                        </a:spcAft>
                        <a:buClr>
                          <a:srgbClr val="000000"/>
                        </a:buClr>
                        <a:buSzPts val="1700"/>
                        <a:buFont typeface="Arial"/>
                        <a:buNone/>
                      </a:pPr>
                      <a:r>
                        <a:rPr lang="es-ES" sz="1700" u="none" strike="noStrike" cap="none"/>
                        <a:t>file.txt</a:t>
                      </a:r>
                      <a:endParaRPr sz="1700" u="none" strike="noStrike" cap="none"/>
                    </a:p>
                    <a:p>
                      <a:pPr marL="0" marR="0" lvl="0" indent="0" algn="l" rtl="0">
                        <a:lnSpc>
                          <a:spcPct val="100000"/>
                        </a:lnSpc>
                        <a:spcBef>
                          <a:spcPts val="0"/>
                        </a:spcBef>
                        <a:spcAft>
                          <a:spcPts val="0"/>
                        </a:spcAft>
                        <a:buClr>
                          <a:srgbClr val="000000"/>
                        </a:buClr>
                        <a:buSzPts val="1700"/>
                        <a:buFont typeface="Arial"/>
                        <a:buNone/>
                      </a:pPr>
                      <a:r>
                        <a:rPr lang="es-ES" sz="1700" u="none" strike="noStrike" cap="none"/>
                        <a:t>files.docx</a:t>
                      </a:r>
                      <a:endParaRPr sz="1700" u="none" strike="noStrike" cap="none"/>
                    </a:p>
                  </a:txBody>
                  <a:tcPr marL="91425" marR="91425" marT="91425" marB="91425"/>
                </a:tc>
                <a:extLst>
                  <a:ext uri="{0D108BD9-81ED-4DB2-BD59-A6C34878D82A}">
                    <a16:rowId xmlns:a16="http://schemas.microsoft.com/office/drawing/2014/main" val="10002"/>
                  </a:ext>
                </a:extLst>
              </a:tr>
              <a:tr h="644000">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End of the string	</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.txt$</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file.txt</a:t>
                      </a:r>
                      <a:endParaRPr sz="1700" u="none" strike="noStrike" cap="none"/>
                    </a:p>
                    <a:p>
                      <a:pPr marL="0" marR="0" lvl="0" indent="0" algn="l" rtl="0">
                        <a:lnSpc>
                          <a:spcPct val="100000"/>
                        </a:lnSpc>
                        <a:spcBef>
                          <a:spcPts val="0"/>
                        </a:spcBef>
                        <a:spcAft>
                          <a:spcPts val="0"/>
                        </a:spcAft>
                        <a:buClr>
                          <a:srgbClr val="000000"/>
                        </a:buClr>
                        <a:buSzPts val="1700"/>
                        <a:buFont typeface="Arial"/>
                        <a:buNone/>
                      </a:pPr>
                      <a:r>
                        <a:rPr lang="es-ES" sz="1700" u="none" strike="noStrike" cap="none"/>
                        <a:t>document.txt</a:t>
                      </a:r>
                      <a:endParaRPr sz="1700" u="none" strike="noStrike" cap="none"/>
                    </a:p>
                  </a:txBody>
                  <a:tcPr marL="91425" marR="91425" marT="91425" marB="91425"/>
                </a:tc>
                <a:extLst>
                  <a:ext uri="{0D108BD9-81ED-4DB2-BD59-A6C34878D82A}">
                    <a16:rowId xmlns:a16="http://schemas.microsoft.com/office/drawing/2014/main" val="10003"/>
                  </a:ext>
                </a:extLst>
              </a:tr>
              <a:tr h="644000">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\t</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Tabular</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Name\tAge</a:t>
                      </a:r>
                      <a:endParaRPr sz="1700" u="none" strike="noStrike" cap="none"/>
                    </a:p>
                    <a:p>
                      <a:pPr marL="0" marR="0" lvl="0" indent="0" algn="l" rtl="0">
                        <a:lnSpc>
                          <a:spcPct val="100000"/>
                        </a:lnSpc>
                        <a:spcBef>
                          <a:spcPts val="0"/>
                        </a:spcBef>
                        <a:spcAft>
                          <a:spcPts val="0"/>
                        </a:spcAft>
                        <a:buClr>
                          <a:srgbClr val="000000"/>
                        </a:buClr>
                        <a:buSzPts val="1700"/>
                        <a:buFont typeface="Arial"/>
                        <a:buNone/>
                      </a:pPr>
                      <a:r>
                        <a:rPr lang="es-ES" sz="1700" u="none" strike="noStrike" cap="none"/>
                        <a:t>John\t25</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Name    Age</a:t>
                      </a:r>
                      <a:endParaRPr sz="1700" u="none" strike="noStrike" cap="none"/>
                    </a:p>
                    <a:p>
                      <a:pPr marL="0" marR="0" lvl="0" indent="0" algn="l" rtl="0">
                        <a:lnSpc>
                          <a:spcPct val="100000"/>
                        </a:lnSpc>
                        <a:spcBef>
                          <a:spcPts val="0"/>
                        </a:spcBef>
                        <a:spcAft>
                          <a:spcPts val="0"/>
                        </a:spcAft>
                        <a:buClr>
                          <a:srgbClr val="000000"/>
                        </a:buClr>
                        <a:buSzPts val="1700"/>
                        <a:buFont typeface="Arial"/>
                        <a:buNone/>
                      </a:pPr>
                      <a:r>
                        <a:rPr lang="es-ES" sz="1700" u="none" strike="noStrike" cap="none"/>
                        <a:t>John      25</a:t>
                      </a:r>
                      <a:endParaRPr sz="1700" u="none" strike="noStrike" cap="none"/>
                    </a:p>
                  </a:txBody>
                  <a:tcPr marL="91425" marR="91425" marT="91425" marB="91425"/>
                </a:tc>
                <a:extLst>
                  <a:ext uri="{0D108BD9-81ED-4DB2-BD59-A6C34878D82A}">
                    <a16:rowId xmlns:a16="http://schemas.microsoft.com/office/drawing/2014/main" val="10004"/>
                  </a:ext>
                </a:extLst>
              </a:tr>
              <a:tr h="405975">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\s</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White space</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John\sSmith</a:t>
                      </a:r>
                      <a:endParaRPr sz="17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700"/>
                        <a:buFont typeface="Arial"/>
                        <a:buNone/>
                      </a:pPr>
                      <a:r>
                        <a:rPr lang="es-ES" sz="1700" u="none" strike="noStrike" cap="none"/>
                        <a:t>John Smith</a:t>
                      </a:r>
                      <a:endParaRPr sz="1700" u="none" strike="noStrike" cap="none"/>
                    </a:p>
                  </a:txBody>
                  <a:tcPr marL="91425" marR="91425" marT="91425" marB="91425"/>
                </a:tc>
                <a:extLst>
                  <a:ext uri="{0D108BD9-81ED-4DB2-BD59-A6C34878D82A}">
                    <a16:rowId xmlns:a16="http://schemas.microsoft.com/office/drawing/2014/main" val="10005"/>
                  </a:ext>
                </a:extLst>
              </a:tr>
            </a:tbl>
          </a:graphicData>
        </a:graphic>
      </p:graphicFrame>
      <p:graphicFrame>
        <p:nvGraphicFramePr>
          <p:cNvPr id="1004" name="Google Shape;1004;g364258a22eb_0_15"/>
          <p:cNvGraphicFramePr/>
          <p:nvPr/>
        </p:nvGraphicFramePr>
        <p:xfrm>
          <a:off x="152400" y="152400"/>
          <a:ext cx="208250" cy="518130"/>
        </p:xfrm>
        <a:graphic>
          <a:graphicData uri="http://schemas.openxmlformats.org/drawingml/2006/table">
            <a:tbl>
              <a:tblPr>
                <a:noFill/>
                <a:tableStyleId>{34F60D86-026C-42D8-B6DD-C1430C6ADAF2}</a:tableStyleId>
              </a:tblPr>
              <a:tblGrid>
                <a:gridCol w="208250">
                  <a:extLst>
                    <a:ext uri="{9D8B030D-6E8A-4147-A177-3AD203B41FA5}">
                      <a16:colId xmlns:a16="http://schemas.microsoft.com/office/drawing/2014/main" val="20000"/>
                    </a:ext>
                  </a:extLst>
                </a:gridCol>
              </a:tblGrid>
              <a:tr h="0">
                <a:tc>
                  <a:txBody>
                    <a:bodyPr/>
                    <a:lstStyle/>
                    <a:p>
                      <a:pPr marL="0" marR="0" lvl="0" indent="0" algn="l" rtl="0">
                        <a:lnSpc>
                          <a:spcPct val="100000"/>
                        </a:lnSpc>
                        <a:spcBef>
                          <a:spcPts val="0"/>
                        </a:spcBef>
                        <a:spcAft>
                          <a:spcPts val="0"/>
                        </a:spcAft>
                        <a:buClr>
                          <a:srgbClr val="000000"/>
                        </a:buClr>
                        <a:buSzPts val="1100"/>
                        <a:buFont typeface="Arial"/>
                        <a:buNone/>
                      </a:pPr>
                      <a:r>
                        <a:rPr lang="es-ES" sz="1100" u="none" strike="noStrike" cap="none">
                          <a:solidFill>
                            <a:srgbClr val="188038"/>
                          </a:solidFill>
                          <a:latin typeface="Roboto Mono"/>
                          <a:ea typeface="Roboto Mono"/>
                          <a:cs typeface="Roboto Mono"/>
                          <a:sym typeface="Roboto Mono"/>
                        </a:rPr>
                        <a:t>\s</a:t>
                      </a:r>
                      <a:endParaRPr sz="1100" u="none" strike="noStrike" cap="none">
                        <a:solidFill>
                          <a:srgbClr val="188038"/>
                        </a:solidFill>
                        <a:latin typeface="Roboto Mono"/>
                        <a:ea typeface="Roboto Mono"/>
                        <a:cs typeface="Roboto Mono"/>
                        <a:sym typeface="Roboto Mono"/>
                      </a:endParaRPr>
                    </a:p>
                  </a:txBody>
                  <a:tcPr marL="91425" marR="91425" marT="91425" marB="91425"/>
                </a:tc>
                <a:extLst>
                  <a:ext uri="{0D108BD9-81ED-4DB2-BD59-A6C34878D82A}">
                    <a16:rowId xmlns:a16="http://schemas.microsoft.com/office/drawing/2014/main" val="10000"/>
                  </a:ext>
                </a:extLst>
              </a:tr>
            </a:tbl>
          </a:graphicData>
        </a:graphic>
      </p:graphicFrame>
      <p:graphicFrame>
        <p:nvGraphicFramePr>
          <p:cNvPr id="1005" name="Google Shape;1005;g364258a22eb_0_15"/>
          <p:cNvGraphicFramePr/>
          <p:nvPr/>
        </p:nvGraphicFramePr>
        <p:xfrm>
          <a:off x="304800" y="304800"/>
          <a:ext cx="208250" cy="396210"/>
        </p:xfrm>
        <a:graphic>
          <a:graphicData uri="http://schemas.openxmlformats.org/drawingml/2006/table">
            <a:tbl>
              <a:tblPr>
                <a:noFill/>
                <a:tableStyleId>{34F60D86-026C-42D8-B6DD-C1430C6ADAF2}</a:tableStyleId>
              </a:tblPr>
              <a:tblGrid>
                <a:gridCol w="208250">
                  <a:extLst>
                    <a:ext uri="{9D8B030D-6E8A-4147-A177-3AD203B41FA5}">
                      <a16:colId xmlns:a16="http://schemas.microsoft.com/office/drawing/2014/main" val="20000"/>
                    </a:ext>
                  </a:extLst>
                </a:gridCol>
              </a:tblGrid>
              <a:tr h="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344e220f39a_0_62"/>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Overview</a:t>
            </a:r>
            <a:endParaRPr/>
          </a:p>
        </p:txBody>
      </p:sp>
      <p:sp>
        <p:nvSpPr>
          <p:cNvPr id="1012" name="Google Shape;1012;g344e220f39a_0_62"/>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457200" lvl="0" indent="-342900" algn="l" rtl="0">
              <a:lnSpc>
                <a:spcPct val="150000"/>
              </a:lnSpc>
              <a:spcBef>
                <a:spcPts val="400"/>
              </a:spcBef>
              <a:spcAft>
                <a:spcPts val="0"/>
              </a:spcAft>
              <a:buSzPts val="1800"/>
              <a:buAutoNum type="arabicPeriod"/>
            </a:pPr>
            <a:r>
              <a:rPr lang="es-ES" b="0" u="none"/>
              <a:t>Linux OS</a:t>
            </a:r>
            <a:endParaRPr/>
          </a:p>
          <a:p>
            <a:pPr marL="457200" lvl="0" indent="-342900" algn="l" rtl="0">
              <a:lnSpc>
                <a:spcPct val="150000"/>
              </a:lnSpc>
              <a:spcBef>
                <a:spcPts val="0"/>
              </a:spcBef>
              <a:spcAft>
                <a:spcPts val="0"/>
              </a:spcAft>
              <a:buSzPts val="1800"/>
              <a:buAutoNum type="arabicPeriod"/>
            </a:pPr>
            <a:r>
              <a:rPr lang="es-ES" b="0" u="none"/>
              <a:t>Linux file system</a:t>
            </a:r>
            <a:endParaRPr b="0" u="none"/>
          </a:p>
          <a:p>
            <a:pPr marL="457200" lvl="0" indent="-342900" algn="l" rtl="0">
              <a:lnSpc>
                <a:spcPct val="150000"/>
              </a:lnSpc>
              <a:spcBef>
                <a:spcPts val="0"/>
              </a:spcBef>
              <a:spcAft>
                <a:spcPts val="0"/>
              </a:spcAft>
              <a:buSzPts val="1800"/>
              <a:buAutoNum type="arabicPeriod"/>
            </a:pPr>
            <a:r>
              <a:rPr lang="es-ES" b="0" u="none"/>
              <a:t>Basic commands</a:t>
            </a:r>
            <a:endParaRPr/>
          </a:p>
          <a:p>
            <a:pPr marL="457200" lvl="0" indent="-342900" algn="l" rtl="0">
              <a:lnSpc>
                <a:spcPct val="150000"/>
              </a:lnSpc>
              <a:spcBef>
                <a:spcPts val="0"/>
              </a:spcBef>
              <a:spcAft>
                <a:spcPts val="0"/>
              </a:spcAft>
              <a:buSzPts val="1800"/>
              <a:buAutoNum type="arabicPeriod"/>
            </a:pPr>
            <a:r>
              <a:rPr lang="es-ES" b="0" u="none"/>
              <a:t>Command line syntax</a:t>
            </a:r>
            <a:endParaRPr b="0" u="none"/>
          </a:p>
          <a:p>
            <a:pPr marL="457200" lvl="0" indent="-342900" algn="l" rtl="0">
              <a:lnSpc>
                <a:spcPct val="150000"/>
              </a:lnSpc>
              <a:spcBef>
                <a:spcPts val="0"/>
              </a:spcBef>
              <a:spcAft>
                <a:spcPts val="0"/>
              </a:spcAft>
              <a:buSzPts val="1800"/>
              <a:buAutoNum type="arabicPeriod"/>
            </a:pPr>
            <a:r>
              <a:rPr lang="es-ES" b="0" u="none"/>
              <a:t>Linux users and privileges</a:t>
            </a:r>
            <a:endParaRPr/>
          </a:p>
          <a:p>
            <a:pPr marL="0" lvl="0" indent="0" algn="l" rtl="0">
              <a:lnSpc>
                <a:spcPct val="150000"/>
              </a:lnSpc>
              <a:spcBef>
                <a:spcPts val="400"/>
              </a:spcBef>
              <a:spcAft>
                <a:spcPts val="0"/>
              </a:spcAft>
              <a:buSzPts val="1800"/>
              <a:buNone/>
            </a:pPr>
            <a:endParaRPr b="0" u="none"/>
          </a:p>
        </p:txBody>
      </p:sp>
      <p:sp>
        <p:nvSpPr>
          <p:cNvPr id="1013" name="Google Shape;1013;g344e220f39a_0_6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90</a:t>
            </a:fld>
            <a:endParaRPr/>
          </a:p>
        </p:txBody>
      </p:sp>
      <p:sp>
        <p:nvSpPr>
          <p:cNvPr id="1014" name="Google Shape;1014;g344e220f39a_0_62"/>
          <p:cNvSpPr/>
          <p:nvPr/>
        </p:nvSpPr>
        <p:spPr>
          <a:xfrm>
            <a:off x="500130" y="3924398"/>
            <a:ext cx="4254300" cy="4242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g344e220f39a_0_23"/>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 Linux users and privileges</a:t>
            </a:r>
            <a:endParaRPr/>
          </a:p>
        </p:txBody>
      </p:sp>
      <p:sp>
        <p:nvSpPr>
          <p:cNvPr id="1021" name="Google Shape;1021;g344e220f39a_0_23"/>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400"/>
              </a:spcBef>
              <a:spcAft>
                <a:spcPts val="0"/>
              </a:spcAft>
              <a:buClr>
                <a:schemeClr val="dk1"/>
              </a:buClr>
              <a:buSzPts val="2000"/>
              <a:buAutoNum type="arabicPeriod"/>
            </a:pPr>
            <a:r>
              <a:rPr lang="es-ES" b="0" u="none"/>
              <a:t>Users</a:t>
            </a:r>
            <a:endParaRPr b="0" u="none"/>
          </a:p>
          <a:p>
            <a:pPr marL="342900" lvl="0" indent="-330200" algn="l" rtl="0">
              <a:lnSpc>
                <a:spcPct val="150000"/>
              </a:lnSpc>
              <a:spcBef>
                <a:spcPts val="400"/>
              </a:spcBef>
              <a:spcAft>
                <a:spcPts val="0"/>
              </a:spcAft>
              <a:buSzPts val="1800"/>
              <a:buAutoNum type="arabicPeriod"/>
            </a:pPr>
            <a:r>
              <a:rPr lang="es-ES" b="0" u="none"/>
              <a:t>Permissions</a:t>
            </a:r>
            <a:endParaRPr b="0" u="none"/>
          </a:p>
          <a:p>
            <a:pPr marL="342900" lvl="0" indent="-330200" algn="l" rtl="0">
              <a:lnSpc>
                <a:spcPct val="150000"/>
              </a:lnSpc>
              <a:spcBef>
                <a:spcPts val="400"/>
              </a:spcBef>
              <a:spcAft>
                <a:spcPts val="0"/>
              </a:spcAft>
              <a:buSzPts val="1800"/>
              <a:buAutoNum type="arabicPeriod"/>
            </a:pPr>
            <a:r>
              <a:rPr lang="es-ES" b="0" u="none"/>
              <a:t>Change permissions</a:t>
            </a:r>
            <a:endParaRPr b="0" u="none"/>
          </a:p>
        </p:txBody>
      </p:sp>
      <p:sp>
        <p:nvSpPr>
          <p:cNvPr id="1022" name="Google Shape;1022;g344e220f39a_0_2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91</a:t>
            </a:fld>
            <a:endParaRPr/>
          </a:p>
        </p:txBody>
      </p:sp>
      <p:sp>
        <p:nvSpPr>
          <p:cNvPr id="1023" name="Google Shape;1023;g344e220f39a_0_23"/>
          <p:cNvSpPr/>
          <p:nvPr/>
        </p:nvSpPr>
        <p:spPr>
          <a:xfrm>
            <a:off x="391775" y="1963214"/>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35"/>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5.1. Linux Users</a:t>
            </a:r>
            <a:endParaRPr/>
          </a:p>
        </p:txBody>
      </p:sp>
      <p:sp>
        <p:nvSpPr>
          <p:cNvPr id="1030" name="Google Shape;1030;p35"/>
          <p:cNvSpPr txBox="1">
            <a:spLocks noGrp="1"/>
          </p:cNvSpPr>
          <p:nvPr>
            <p:ph type="body" idx="1"/>
          </p:nvPr>
        </p:nvSpPr>
        <p:spPr>
          <a:xfrm>
            <a:off x="457200" y="1916824"/>
            <a:ext cx="8229600" cy="4540500"/>
          </a:xfrm>
          <a:prstGeom prst="rect">
            <a:avLst/>
          </a:prstGeom>
          <a:noFill/>
          <a:ln>
            <a:noFill/>
          </a:ln>
        </p:spPr>
        <p:txBody>
          <a:bodyPr spcFirstLastPara="1" wrap="square" lIns="91425" tIns="45700" rIns="91425" bIns="45700" anchor="t" anchorCtr="0">
            <a:normAutofit fontScale="47500"/>
          </a:bodyPr>
          <a:lstStyle/>
          <a:p>
            <a:pPr marL="342900" lvl="0" indent="-276225" algn="l" rtl="0">
              <a:lnSpc>
                <a:spcPct val="150000"/>
              </a:lnSpc>
              <a:spcBef>
                <a:spcPts val="400"/>
              </a:spcBef>
              <a:spcAft>
                <a:spcPts val="0"/>
              </a:spcAft>
              <a:buClr>
                <a:schemeClr val="dk1"/>
              </a:buClr>
              <a:buSzPct val="100000"/>
              <a:buChar char="•"/>
            </a:pPr>
            <a:r>
              <a:rPr lang="es-ES" b="0" u="none"/>
              <a:t>Access entity to system resources</a:t>
            </a:r>
            <a:endParaRPr b="0" u="none"/>
          </a:p>
          <a:p>
            <a:pPr marL="342900" lvl="0" indent="-270192" algn="l" rtl="0">
              <a:lnSpc>
                <a:spcPct val="150000"/>
              </a:lnSpc>
              <a:spcBef>
                <a:spcPts val="400"/>
              </a:spcBef>
              <a:spcAft>
                <a:spcPts val="0"/>
              </a:spcAft>
              <a:buSzPct val="90000"/>
              <a:buChar char="•"/>
            </a:pPr>
            <a:r>
              <a:rPr lang="es-ES" b="0" u="none"/>
              <a:t>Each user has:</a:t>
            </a:r>
            <a:endParaRPr b="0" u="none"/>
          </a:p>
          <a:p>
            <a:pPr marL="742950" lvl="1" indent="-225741" algn="l" rtl="0">
              <a:lnSpc>
                <a:spcPct val="150000"/>
              </a:lnSpc>
              <a:spcBef>
                <a:spcPts val="400"/>
              </a:spcBef>
              <a:spcAft>
                <a:spcPts val="0"/>
              </a:spcAft>
              <a:buSzPct val="90000"/>
              <a:buChar char="–"/>
            </a:pPr>
            <a:r>
              <a:rPr lang="es-ES"/>
              <a:t>A username</a:t>
            </a:r>
            <a:endParaRPr/>
          </a:p>
          <a:p>
            <a:pPr marL="742950" lvl="1" indent="-225741" algn="l" rtl="0">
              <a:lnSpc>
                <a:spcPct val="150000"/>
              </a:lnSpc>
              <a:spcBef>
                <a:spcPts val="400"/>
              </a:spcBef>
              <a:spcAft>
                <a:spcPts val="0"/>
              </a:spcAft>
              <a:buSzPct val="90000"/>
              <a:buChar char="–"/>
            </a:pPr>
            <a:r>
              <a:rPr lang="es-ES"/>
              <a:t>A user identifier (UID)</a:t>
            </a:r>
            <a:endParaRPr/>
          </a:p>
          <a:p>
            <a:pPr marL="742950" lvl="1" indent="-225741" algn="l" rtl="0">
              <a:lnSpc>
                <a:spcPct val="150000"/>
              </a:lnSpc>
              <a:spcBef>
                <a:spcPts val="400"/>
              </a:spcBef>
              <a:spcAft>
                <a:spcPts val="0"/>
              </a:spcAft>
              <a:buSzPct val="90000"/>
              <a:buChar char="–"/>
            </a:pPr>
            <a:r>
              <a:rPr lang="es-ES"/>
              <a:t>A primary group (GID)</a:t>
            </a:r>
            <a:endParaRPr/>
          </a:p>
          <a:p>
            <a:pPr marL="742950" lvl="1" indent="-225741" algn="l" rtl="0">
              <a:lnSpc>
                <a:spcPct val="150000"/>
              </a:lnSpc>
              <a:spcBef>
                <a:spcPts val="400"/>
              </a:spcBef>
              <a:spcAft>
                <a:spcPts val="0"/>
              </a:spcAft>
              <a:buSzPct val="90000"/>
              <a:buChar char="–"/>
            </a:pPr>
            <a:r>
              <a:rPr lang="es-ES"/>
              <a:t>A home directory (for example, /home/user)</a:t>
            </a:r>
            <a:endParaRPr/>
          </a:p>
          <a:p>
            <a:pPr marL="742950" lvl="1" indent="-225741" algn="l" rtl="0">
              <a:lnSpc>
                <a:spcPct val="150000"/>
              </a:lnSpc>
              <a:spcBef>
                <a:spcPts val="400"/>
              </a:spcBef>
              <a:spcAft>
                <a:spcPts val="0"/>
              </a:spcAft>
              <a:buSzPct val="90000"/>
              <a:buChar char="–"/>
            </a:pPr>
            <a:r>
              <a:rPr lang="es-ES"/>
              <a:t>A command-line interpreter (shell, such as /bin/bash)</a:t>
            </a:r>
            <a:endParaRPr/>
          </a:p>
          <a:p>
            <a:pPr marL="342900" lvl="0" indent="-282892" algn="l" rtl="0">
              <a:lnSpc>
                <a:spcPct val="150000"/>
              </a:lnSpc>
              <a:spcBef>
                <a:spcPts val="400"/>
              </a:spcBef>
              <a:spcAft>
                <a:spcPts val="0"/>
              </a:spcAft>
              <a:buSzPct val="90000"/>
              <a:buChar char="•"/>
            </a:pPr>
            <a:r>
              <a:rPr lang="es-ES" b="0" u="none"/>
              <a:t>Type of entities:</a:t>
            </a:r>
            <a:endParaRPr b="0" u="none"/>
          </a:p>
          <a:p>
            <a:pPr marL="742950" lvl="1" indent="-225741" algn="l" rtl="0">
              <a:lnSpc>
                <a:spcPct val="150000"/>
              </a:lnSpc>
              <a:spcBef>
                <a:spcPts val="400"/>
              </a:spcBef>
              <a:spcAft>
                <a:spcPts val="0"/>
              </a:spcAft>
              <a:buSzPct val="90000"/>
              <a:buChar char="–"/>
            </a:pPr>
            <a:r>
              <a:rPr lang="es-ES"/>
              <a:t>Normal user:</a:t>
            </a:r>
            <a:endParaRPr/>
          </a:p>
          <a:p>
            <a:pPr marL="1143000" lvl="2" indent="-168592" algn="l" rtl="0">
              <a:lnSpc>
                <a:spcPct val="150000"/>
              </a:lnSpc>
              <a:spcBef>
                <a:spcPts val="400"/>
              </a:spcBef>
              <a:spcAft>
                <a:spcPts val="0"/>
              </a:spcAft>
              <a:buSzPct val="90000"/>
              <a:buChar char="•"/>
            </a:pPr>
            <a:r>
              <a:rPr lang="es-ES"/>
              <a:t>Limited access</a:t>
            </a:r>
            <a:endParaRPr/>
          </a:p>
          <a:p>
            <a:pPr marL="1143000" lvl="2" indent="-168592" algn="l" rtl="0">
              <a:lnSpc>
                <a:spcPct val="150000"/>
              </a:lnSpc>
              <a:spcBef>
                <a:spcPts val="400"/>
              </a:spcBef>
              <a:spcAft>
                <a:spcPts val="0"/>
              </a:spcAft>
              <a:buSzPct val="90000"/>
              <a:buChar char="•"/>
            </a:pPr>
            <a:r>
              <a:rPr lang="es-ES"/>
              <a:t>Only modify owner files</a:t>
            </a:r>
            <a:endParaRPr/>
          </a:p>
          <a:p>
            <a:pPr marL="742950" lvl="1" indent="-225741" algn="l" rtl="0">
              <a:lnSpc>
                <a:spcPct val="150000"/>
              </a:lnSpc>
              <a:spcBef>
                <a:spcPts val="400"/>
              </a:spcBef>
              <a:spcAft>
                <a:spcPts val="0"/>
              </a:spcAft>
              <a:buSzPct val="90000"/>
              <a:buChar char="–"/>
            </a:pPr>
            <a:r>
              <a:rPr lang="es-ES"/>
              <a:t>Root user:</a:t>
            </a:r>
            <a:endParaRPr/>
          </a:p>
          <a:p>
            <a:pPr marL="1143000" lvl="2" indent="-168592" algn="l" rtl="0">
              <a:lnSpc>
                <a:spcPct val="150000"/>
              </a:lnSpc>
              <a:spcBef>
                <a:spcPts val="400"/>
              </a:spcBef>
              <a:spcAft>
                <a:spcPts val="0"/>
              </a:spcAft>
              <a:buSzPct val="90000"/>
              <a:buChar char="•"/>
            </a:pPr>
            <a:r>
              <a:rPr lang="es-ES"/>
              <a:t>Sysadmin</a:t>
            </a:r>
            <a:endParaRPr/>
          </a:p>
          <a:p>
            <a:pPr marL="1143000" lvl="2" indent="-168592" algn="l" rtl="0">
              <a:lnSpc>
                <a:spcPct val="150000"/>
              </a:lnSpc>
              <a:spcBef>
                <a:spcPts val="400"/>
              </a:spcBef>
              <a:spcAft>
                <a:spcPts val="0"/>
              </a:spcAft>
              <a:buSzPct val="90000"/>
              <a:buChar char="•"/>
            </a:pPr>
            <a:r>
              <a:rPr lang="es-ES"/>
              <a:t>Total access</a:t>
            </a:r>
            <a:endParaRPr/>
          </a:p>
          <a:p>
            <a:pPr marL="1143000" lvl="2" indent="-168592" algn="l" rtl="0">
              <a:lnSpc>
                <a:spcPct val="150000"/>
              </a:lnSpc>
              <a:spcBef>
                <a:spcPts val="400"/>
              </a:spcBef>
              <a:spcAft>
                <a:spcPts val="0"/>
              </a:spcAft>
              <a:buSzPct val="90000"/>
              <a:buChar char="•"/>
            </a:pPr>
            <a:r>
              <a:rPr lang="es-ES"/>
              <a:t>Un/Install software</a:t>
            </a:r>
            <a:endParaRPr/>
          </a:p>
          <a:p>
            <a:pPr marL="742950" lvl="1" indent="-225741" algn="l" rtl="0">
              <a:lnSpc>
                <a:spcPct val="150000"/>
              </a:lnSpc>
              <a:spcBef>
                <a:spcPts val="400"/>
              </a:spcBef>
              <a:spcAft>
                <a:spcPts val="0"/>
              </a:spcAft>
              <a:buSzPct val="90000"/>
              <a:buChar char="–"/>
            </a:pPr>
            <a:r>
              <a:rPr lang="es-ES"/>
              <a:t>Groups:</a:t>
            </a:r>
            <a:endParaRPr/>
          </a:p>
          <a:p>
            <a:pPr marL="1143000" lvl="2" indent="-168592" algn="l" rtl="0">
              <a:lnSpc>
                <a:spcPct val="150000"/>
              </a:lnSpc>
              <a:spcBef>
                <a:spcPts val="400"/>
              </a:spcBef>
              <a:spcAft>
                <a:spcPts val="0"/>
              </a:spcAft>
              <a:buSzPct val="90000"/>
              <a:buChar char="•"/>
            </a:pPr>
            <a:r>
              <a:rPr lang="es-ES"/>
              <a:t>Group of users to manage collective permissions.</a:t>
            </a:r>
            <a:endParaRPr/>
          </a:p>
        </p:txBody>
      </p:sp>
      <p:sp>
        <p:nvSpPr>
          <p:cNvPr id="1031" name="Google Shape;103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3715fd0d4a0_3_243"/>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5.1. Linux Users</a:t>
            </a:r>
            <a:endParaRPr/>
          </a:p>
        </p:txBody>
      </p:sp>
      <p:sp>
        <p:nvSpPr>
          <p:cNvPr id="1038" name="Google Shape;1038;g3715fd0d4a0_3_243"/>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000"/>
              <a:buChar char="•"/>
            </a:pPr>
            <a:r>
              <a:rPr lang="es-ES" b="0" u="none"/>
              <a:t>Users</a:t>
            </a:r>
            <a:r>
              <a:rPr lang="es-ES" u="none"/>
              <a:t> </a:t>
            </a:r>
            <a:r>
              <a:rPr lang="es-ES" b="0" u="none"/>
              <a:t>can be linked to a person or computer process</a:t>
            </a:r>
            <a:endParaRPr/>
          </a:p>
          <a:p>
            <a:pPr marL="342900" lvl="0" indent="-342900" algn="l" rtl="0">
              <a:lnSpc>
                <a:spcPct val="150000"/>
              </a:lnSpc>
              <a:spcBef>
                <a:spcPts val="400"/>
              </a:spcBef>
              <a:spcAft>
                <a:spcPts val="0"/>
              </a:spcAft>
              <a:buClr>
                <a:schemeClr val="dk1"/>
              </a:buClr>
              <a:buSzPts val="2000"/>
              <a:buChar char="•"/>
            </a:pPr>
            <a:r>
              <a:rPr lang="es-ES" b="0" u="none"/>
              <a:t>Every user may belong to one or more groups</a:t>
            </a:r>
            <a:endParaRPr/>
          </a:p>
          <a:p>
            <a:pPr marL="342900" lvl="0" indent="-342900" algn="l" rtl="0">
              <a:lnSpc>
                <a:spcPct val="150000"/>
              </a:lnSpc>
              <a:spcBef>
                <a:spcPts val="400"/>
              </a:spcBef>
              <a:spcAft>
                <a:spcPts val="0"/>
              </a:spcAft>
              <a:buClr>
                <a:schemeClr val="dk1"/>
              </a:buClr>
              <a:buSzPts val="2000"/>
              <a:buChar char="•"/>
            </a:pPr>
            <a:r>
              <a:rPr lang="es-ES" b="0" u="none"/>
              <a:t>Every user may has a home folder inside /home</a:t>
            </a:r>
            <a:endParaRPr/>
          </a:p>
          <a:p>
            <a:pPr marL="342900" lvl="0" indent="-342900" algn="l" rtl="0">
              <a:lnSpc>
                <a:spcPct val="150000"/>
              </a:lnSpc>
              <a:spcBef>
                <a:spcPts val="400"/>
              </a:spcBef>
              <a:spcAft>
                <a:spcPts val="0"/>
              </a:spcAft>
              <a:buClr>
                <a:schemeClr val="dk1"/>
              </a:buClr>
              <a:buSzPts val="2000"/>
              <a:buChar char="•"/>
            </a:pPr>
            <a:r>
              <a:rPr lang="es-ES" b="0" u="none"/>
              <a:t>Users own the files they create, directly or indirectly</a:t>
            </a:r>
            <a:endParaRPr/>
          </a:p>
          <a:p>
            <a:pPr marL="342900" lvl="0" indent="-342900" algn="l" rtl="0">
              <a:lnSpc>
                <a:spcPct val="150000"/>
              </a:lnSpc>
              <a:spcBef>
                <a:spcPts val="400"/>
              </a:spcBef>
              <a:spcAft>
                <a:spcPts val="0"/>
              </a:spcAft>
              <a:buClr>
                <a:schemeClr val="dk1"/>
              </a:buClr>
              <a:buSzPts val="2000"/>
              <a:buChar char="•"/>
            </a:pPr>
            <a:r>
              <a:rPr lang="es-ES" b="0" u="none"/>
              <a:t>Users can change permissions on files they own</a:t>
            </a:r>
            <a:endParaRPr/>
          </a:p>
          <a:p>
            <a:pPr marL="342900" lvl="0" indent="-342900" algn="l" rtl="0">
              <a:lnSpc>
                <a:spcPct val="150000"/>
              </a:lnSpc>
              <a:spcBef>
                <a:spcPts val="400"/>
              </a:spcBef>
              <a:spcAft>
                <a:spcPts val="0"/>
              </a:spcAft>
              <a:buClr>
                <a:schemeClr val="dk1"/>
              </a:buClr>
              <a:buSzPts val="2000"/>
              <a:buChar char="•"/>
            </a:pPr>
            <a:r>
              <a:rPr lang="es-ES" b="0" u="none"/>
              <a:t>Users also own processes they execute</a:t>
            </a:r>
            <a:endParaRPr/>
          </a:p>
          <a:p>
            <a:pPr marL="342900" lvl="0" indent="-342900" algn="l" rtl="0">
              <a:lnSpc>
                <a:spcPct val="150000"/>
              </a:lnSpc>
              <a:spcBef>
                <a:spcPts val="400"/>
              </a:spcBef>
              <a:spcAft>
                <a:spcPts val="0"/>
              </a:spcAft>
              <a:buClr>
                <a:schemeClr val="dk1"/>
              </a:buClr>
              <a:buSzPts val="2000"/>
              <a:buChar char="•"/>
            </a:pPr>
            <a:r>
              <a:rPr lang="es-ES" b="0" u="none"/>
              <a:t>Root rules over them all</a:t>
            </a:r>
            <a:endParaRPr/>
          </a:p>
          <a:p>
            <a:pPr marL="342900" lvl="0" indent="-342900" algn="l" rtl="0">
              <a:lnSpc>
                <a:spcPct val="150000"/>
              </a:lnSpc>
              <a:spcBef>
                <a:spcPts val="400"/>
              </a:spcBef>
              <a:spcAft>
                <a:spcPts val="0"/>
              </a:spcAft>
              <a:buClr>
                <a:schemeClr val="dk1"/>
              </a:buClr>
              <a:buSzPts val="2000"/>
              <a:buChar char="•"/>
            </a:pPr>
            <a:r>
              <a:rPr lang="es-ES" b="0" u="none"/>
              <a:t>Root home folder is in /root</a:t>
            </a:r>
            <a:endParaRPr/>
          </a:p>
        </p:txBody>
      </p:sp>
      <p:sp>
        <p:nvSpPr>
          <p:cNvPr id="1039" name="Google Shape;1039;g3715fd0d4a0_3_24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93</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g344e220f39a_0_39"/>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 Linux users and privileges</a:t>
            </a:r>
            <a:endParaRPr/>
          </a:p>
        </p:txBody>
      </p:sp>
      <p:sp>
        <p:nvSpPr>
          <p:cNvPr id="1046" name="Google Shape;1046;g344e220f39a_0_39"/>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400"/>
              </a:spcBef>
              <a:spcAft>
                <a:spcPts val="0"/>
              </a:spcAft>
              <a:buClr>
                <a:schemeClr val="dk1"/>
              </a:buClr>
              <a:buSzPts val="2000"/>
              <a:buAutoNum type="arabicPeriod"/>
            </a:pPr>
            <a:r>
              <a:rPr lang="es-ES" b="0" u="none"/>
              <a:t>Users</a:t>
            </a:r>
            <a:endParaRPr b="0" u="none"/>
          </a:p>
          <a:p>
            <a:pPr marL="342900" lvl="0" indent="-330200" algn="l" rtl="0">
              <a:lnSpc>
                <a:spcPct val="150000"/>
              </a:lnSpc>
              <a:spcBef>
                <a:spcPts val="400"/>
              </a:spcBef>
              <a:spcAft>
                <a:spcPts val="0"/>
              </a:spcAft>
              <a:buSzPts val="1800"/>
              <a:buAutoNum type="arabicPeriod"/>
            </a:pPr>
            <a:r>
              <a:rPr lang="es-ES" b="0" u="none"/>
              <a:t>Permissions</a:t>
            </a:r>
            <a:endParaRPr b="0" u="none"/>
          </a:p>
          <a:p>
            <a:pPr marL="342900" lvl="0" indent="-330200" algn="l" rtl="0">
              <a:lnSpc>
                <a:spcPct val="150000"/>
              </a:lnSpc>
              <a:spcBef>
                <a:spcPts val="400"/>
              </a:spcBef>
              <a:spcAft>
                <a:spcPts val="0"/>
              </a:spcAft>
              <a:buSzPts val="1800"/>
              <a:buAutoNum type="arabicPeriod"/>
            </a:pPr>
            <a:r>
              <a:rPr lang="es-ES" b="0" u="none"/>
              <a:t>Change permissions</a:t>
            </a:r>
            <a:endParaRPr b="0" u="none"/>
          </a:p>
        </p:txBody>
      </p:sp>
      <p:sp>
        <p:nvSpPr>
          <p:cNvPr id="1047" name="Google Shape;1047;g344e220f39a_0_3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94</a:t>
            </a:fld>
            <a:endParaRPr/>
          </a:p>
        </p:txBody>
      </p:sp>
      <p:sp>
        <p:nvSpPr>
          <p:cNvPr id="1048" name="Google Shape;1048;g344e220f39a_0_39"/>
          <p:cNvSpPr/>
          <p:nvPr/>
        </p:nvSpPr>
        <p:spPr>
          <a:xfrm>
            <a:off x="391775" y="2496614"/>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44"/>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055" name="Google Shape;1055;p44"/>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ts val="2000"/>
              <a:buNone/>
            </a:pPr>
            <a:r>
              <a:rPr lang="es-ES" b="0" u="none"/>
              <a:t>To view file permissions and ownership on files and directories, use the </a:t>
            </a:r>
            <a:r>
              <a:rPr lang="es-ES" u="none"/>
              <a:t>ls -l</a:t>
            </a:r>
            <a:r>
              <a:rPr lang="es-ES" b="0" u="none"/>
              <a:t> command. For example:</a:t>
            </a:r>
            <a:endParaRPr/>
          </a:p>
          <a:p>
            <a:pPr marL="0" lvl="0" indent="0" algn="l" rtl="0">
              <a:lnSpc>
                <a:spcPct val="100000"/>
              </a:lnSpc>
              <a:spcBef>
                <a:spcPts val="400"/>
              </a:spcBef>
              <a:spcAft>
                <a:spcPts val="0"/>
              </a:spcAft>
              <a:buClr>
                <a:schemeClr val="dk1"/>
              </a:buClr>
              <a:buSzPts val="2000"/>
              <a:buNone/>
            </a:pPr>
            <a:endParaRPr b="0" u="none"/>
          </a:p>
          <a:p>
            <a:pPr marL="0" lvl="0" indent="0" algn="l" rtl="0">
              <a:lnSpc>
                <a:spcPct val="100000"/>
              </a:lnSpc>
              <a:spcBef>
                <a:spcPts val="400"/>
              </a:spcBef>
              <a:spcAft>
                <a:spcPts val="0"/>
              </a:spcAft>
              <a:buClr>
                <a:schemeClr val="dk1"/>
              </a:buClr>
              <a:buSzPts val="2000"/>
              <a:buNone/>
            </a:pPr>
            <a:endParaRPr b="0" u="none"/>
          </a:p>
          <a:p>
            <a:pPr marL="0" lvl="0" indent="0" algn="l" rtl="0">
              <a:lnSpc>
                <a:spcPct val="100000"/>
              </a:lnSpc>
              <a:spcBef>
                <a:spcPts val="400"/>
              </a:spcBef>
              <a:spcAft>
                <a:spcPts val="0"/>
              </a:spcAft>
              <a:buClr>
                <a:schemeClr val="dk1"/>
              </a:buClr>
              <a:buSzPts val="2000"/>
              <a:buNone/>
            </a:pPr>
            <a:endParaRPr b="0" u="none"/>
          </a:p>
          <a:p>
            <a:pPr marL="0" lvl="0" indent="0" algn="l" rtl="0">
              <a:lnSpc>
                <a:spcPct val="100000"/>
              </a:lnSpc>
              <a:spcBef>
                <a:spcPts val="400"/>
              </a:spcBef>
              <a:spcAft>
                <a:spcPts val="0"/>
              </a:spcAft>
              <a:buClr>
                <a:schemeClr val="dk1"/>
              </a:buClr>
              <a:buSzPts val="2000"/>
              <a:buNone/>
            </a:pPr>
            <a:r>
              <a:rPr lang="es-ES" b="0" u="none"/>
              <a:t>`drwxrwxr-x` are the permissions</a:t>
            </a:r>
            <a:endParaRPr/>
          </a:p>
          <a:p>
            <a:pPr marL="0" lvl="0" indent="0" algn="l" rtl="0">
              <a:lnSpc>
                <a:spcPct val="100000"/>
              </a:lnSpc>
              <a:spcBef>
                <a:spcPts val="400"/>
              </a:spcBef>
              <a:spcAft>
                <a:spcPts val="0"/>
              </a:spcAft>
              <a:buClr>
                <a:schemeClr val="dk1"/>
              </a:buClr>
              <a:buSzPts val="2000"/>
              <a:buNone/>
            </a:pPr>
            <a:r>
              <a:rPr lang="es-ES" b="0" u="none"/>
              <a:t>`2` is the number of files or directories</a:t>
            </a:r>
            <a:endParaRPr/>
          </a:p>
          <a:p>
            <a:pPr marL="0" lvl="0" indent="0" algn="l" rtl="0">
              <a:lnSpc>
                <a:spcPct val="100000"/>
              </a:lnSpc>
              <a:spcBef>
                <a:spcPts val="400"/>
              </a:spcBef>
              <a:spcAft>
                <a:spcPts val="0"/>
              </a:spcAft>
              <a:buClr>
                <a:schemeClr val="dk1"/>
              </a:buClr>
              <a:buSzPts val="2000"/>
              <a:buNone/>
            </a:pPr>
            <a:r>
              <a:rPr lang="es-ES" b="0" u="none"/>
              <a:t>`user` is the owner</a:t>
            </a:r>
            <a:endParaRPr/>
          </a:p>
          <a:p>
            <a:pPr marL="0" lvl="0" indent="0" algn="l" rtl="0">
              <a:lnSpc>
                <a:spcPct val="100000"/>
              </a:lnSpc>
              <a:spcBef>
                <a:spcPts val="400"/>
              </a:spcBef>
              <a:spcAft>
                <a:spcPts val="0"/>
              </a:spcAft>
              <a:buClr>
                <a:schemeClr val="dk1"/>
              </a:buClr>
              <a:buSzPts val="2000"/>
              <a:buNone/>
            </a:pPr>
            <a:r>
              <a:rPr lang="es-ES" b="0" u="none"/>
              <a:t>`user` is the group</a:t>
            </a:r>
            <a:endParaRPr/>
          </a:p>
          <a:p>
            <a:pPr marL="0" lvl="0" indent="0" algn="l" rtl="0">
              <a:lnSpc>
                <a:spcPct val="100000"/>
              </a:lnSpc>
              <a:spcBef>
                <a:spcPts val="400"/>
              </a:spcBef>
              <a:spcAft>
                <a:spcPts val="0"/>
              </a:spcAft>
              <a:buClr>
                <a:schemeClr val="dk1"/>
              </a:buClr>
              <a:buSzPts val="2000"/>
              <a:buNone/>
            </a:pPr>
            <a:r>
              <a:rPr lang="es-ES" b="0" u="none"/>
              <a:t>`4096` is the size in bytes</a:t>
            </a:r>
            <a:endParaRPr/>
          </a:p>
          <a:p>
            <a:pPr marL="0" lvl="0" indent="0" algn="l" rtl="0">
              <a:lnSpc>
                <a:spcPct val="100000"/>
              </a:lnSpc>
              <a:spcBef>
                <a:spcPts val="400"/>
              </a:spcBef>
              <a:spcAft>
                <a:spcPts val="0"/>
              </a:spcAft>
              <a:buClr>
                <a:schemeClr val="dk1"/>
              </a:buClr>
              <a:buSzPts val="2000"/>
              <a:buNone/>
            </a:pPr>
            <a:r>
              <a:rPr lang="es-ES" b="0" u="none"/>
              <a:t>`Jan  9 10:11` is the date/time of last access</a:t>
            </a:r>
            <a:endParaRPr/>
          </a:p>
          <a:p>
            <a:pPr marL="0" lvl="0" indent="0" algn="l" rtl="0">
              <a:lnSpc>
                <a:spcPct val="100000"/>
              </a:lnSpc>
              <a:spcBef>
                <a:spcPts val="400"/>
              </a:spcBef>
              <a:spcAft>
                <a:spcPts val="0"/>
              </a:spcAft>
              <a:buClr>
                <a:schemeClr val="dk1"/>
              </a:buClr>
              <a:buSzPts val="2000"/>
              <a:buNone/>
            </a:pPr>
            <a:r>
              <a:rPr lang="es-ES" b="0" u="none"/>
              <a:t>`documents` is the directory</a:t>
            </a:r>
            <a:endParaRPr b="0" u="none"/>
          </a:p>
        </p:txBody>
      </p:sp>
      <p:sp>
        <p:nvSpPr>
          <p:cNvPr id="1056" name="Google Shape;1056;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95</a:t>
            </a:fld>
            <a:endParaRPr/>
          </a:p>
        </p:txBody>
      </p:sp>
      <p:pic>
        <p:nvPicPr>
          <p:cNvPr id="1057" name="Google Shape;1057;p44"/>
          <p:cNvPicPr preferRelativeResize="0"/>
          <p:nvPr/>
        </p:nvPicPr>
        <p:blipFill rotWithShape="1">
          <a:blip r:embed="rId3">
            <a:alphaModFix/>
          </a:blip>
          <a:srcRect/>
          <a:stretch/>
        </p:blipFill>
        <p:spPr>
          <a:xfrm>
            <a:off x="585375" y="2811975"/>
            <a:ext cx="7776174" cy="3053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36"/>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064" name="Google Shape;1064;p36"/>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00000"/>
              </a:lnSpc>
              <a:spcBef>
                <a:spcPts val="0"/>
              </a:spcBef>
              <a:spcAft>
                <a:spcPts val="0"/>
              </a:spcAft>
              <a:buClr>
                <a:schemeClr val="dk1"/>
              </a:buClr>
              <a:buSzPct val="100000"/>
              <a:buNone/>
            </a:pPr>
            <a:r>
              <a:rPr lang="es-ES" b="0" u="none"/>
              <a:t>Permissions are the “rights” to act on a file or directory. There are only 3 basic permissions:</a:t>
            </a:r>
            <a:endParaRPr/>
          </a:p>
          <a:p>
            <a:pPr marL="0" lvl="0" indent="0" algn="l" rtl="0">
              <a:lnSpc>
                <a:spcPct val="100000"/>
              </a:lnSpc>
              <a:spcBef>
                <a:spcPts val="185"/>
              </a:spcBef>
              <a:spcAft>
                <a:spcPts val="0"/>
              </a:spcAft>
              <a:buClr>
                <a:schemeClr val="dk1"/>
              </a:buClr>
              <a:buSzPct val="100000"/>
              <a:buNone/>
            </a:pPr>
            <a:endParaRPr sz="1000" b="0" u="none"/>
          </a:p>
          <a:p>
            <a:pPr marL="342900" lvl="0" indent="-342900" algn="l" rtl="0">
              <a:lnSpc>
                <a:spcPct val="100000"/>
              </a:lnSpc>
              <a:spcBef>
                <a:spcPts val="370"/>
              </a:spcBef>
              <a:spcAft>
                <a:spcPts val="0"/>
              </a:spcAft>
              <a:buClr>
                <a:schemeClr val="dk1"/>
              </a:buClr>
              <a:buSzPct val="100000"/>
              <a:buChar char="•"/>
            </a:pPr>
            <a:r>
              <a:rPr lang="es-ES" u="none"/>
              <a:t>Read (r)</a:t>
            </a:r>
            <a:r>
              <a:rPr lang="es-ES" b="0" u="none"/>
              <a:t> - allows the contents of the file to be viewed. A read permission on a directory allows you to list the contents of a directory.</a:t>
            </a:r>
            <a:endParaRPr/>
          </a:p>
          <a:p>
            <a:pPr marL="342900" lvl="0" indent="-278320" algn="l" rtl="0">
              <a:lnSpc>
                <a:spcPct val="100000"/>
              </a:lnSpc>
              <a:spcBef>
                <a:spcPts val="203"/>
              </a:spcBef>
              <a:spcAft>
                <a:spcPts val="0"/>
              </a:spcAft>
              <a:buClr>
                <a:schemeClr val="dk1"/>
              </a:buClr>
              <a:buSzPct val="100000"/>
              <a:buNone/>
            </a:pPr>
            <a:endParaRPr sz="1100" b="0" u="none"/>
          </a:p>
          <a:p>
            <a:pPr marL="342900" lvl="0" indent="-342900" algn="l" rtl="0">
              <a:lnSpc>
                <a:spcPct val="100000"/>
              </a:lnSpc>
              <a:spcBef>
                <a:spcPts val="370"/>
              </a:spcBef>
              <a:spcAft>
                <a:spcPts val="0"/>
              </a:spcAft>
              <a:buClr>
                <a:schemeClr val="dk1"/>
              </a:buClr>
              <a:buSzPct val="100000"/>
              <a:buChar char="•"/>
            </a:pPr>
            <a:r>
              <a:rPr lang="es-ES" u="none"/>
              <a:t>Write (w)</a:t>
            </a:r>
            <a:r>
              <a:rPr lang="es-ES" b="0" u="none"/>
              <a:t> - allows you to modify the contents of that file. For a directory, the write permission allows you to edit the contents of a directory.</a:t>
            </a:r>
            <a:endParaRPr/>
          </a:p>
          <a:p>
            <a:pPr marL="342900" lvl="0" indent="-278320" algn="l" rtl="0">
              <a:lnSpc>
                <a:spcPct val="100000"/>
              </a:lnSpc>
              <a:spcBef>
                <a:spcPts val="203"/>
              </a:spcBef>
              <a:spcAft>
                <a:spcPts val="0"/>
              </a:spcAft>
              <a:buClr>
                <a:schemeClr val="dk1"/>
              </a:buClr>
              <a:buSzPct val="100000"/>
              <a:buNone/>
            </a:pPr>
            <a:endParaRPr sz="1100" b="0" u="none"/>
          </a:p>
          <a:p>
            <a:pPr marL="342900" lvl="0" indent="-342900" algn="l" rtl="0">
              <a:lnSpc>
                <a:spcPct val="100000"/>
              </a:lnSpc>
              <a:spcBef>
                <a:spcPts val="370"/>
              </a:spcBef>
              <a:spcAft>
                <a:spcPts val="0"/>
              </a:spcAft>
              <a:buClr>
                <a:schemeClr val="dk1"/>
              </a:buClr>
              <a:buSzPct val="100000"/>
              <a:buChar char="•"/>
            </a:pPr>
            <a:r>
              <a:rPr lang="es-ES" u="none"/>
              <a:t>Execute (x)</a:t>
            </a:r>
            <a:r>
              <a:rPr lang="es-ES" b="0" u="none"/>
              <a:t> - for a file, the executable permission allows you to run the file and execute a program or script. For a directory, the execute permission allows you to enter the directory and make it your current working directory (pwd or “.”).</a:t>
            </a:r>
            <a:endParaRPr b="0" u="none"/>
          </a:p>
        </p:txBody>
      </p:sp>
      <p:sp>
        <p:nvSpPr>
          <p:cNvPr id="1065" name="Google Shape;1065;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96</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37"/>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s-ES" b="0" u="none"/>
              <a:t>A file’s rights can only be modified by the owner of the file, the group owning the file and the root</a:t>
            </a:r>
            <a:endParaRPr b="0" u="none"/>
          </a:p>
          <a:p>
            <a:pPr marL="342900" lvl="0" indent="-342900" algn="l" rtl="0">
              <a:lnSpc>
                <a:spcPct val="100000"/>
              </a:lnSpc>
              <a:spcBef>
                <a:spcPts val="400"/>
              </a:spcBef>
              <a:spcAft>
                <a:spcPts val="0"/>
              </a:spcAft>
              <a:buClr>
                <a:schemeClr val="dk1"/>
              </a:buClr>
              <a:buSzPts val="2000"/>
              <a:buChar char="•"/>
            </a:pPr>
            <a:r>
              <a:rPr lang="es-ES" b="0" u="none"/>
              <a:t>The system stores this right information in a 9 bits sequence.</a:t>
            </a:r>
            <a:endParaRPr b="0" u="none"/>
          </a:p>
          <a:p>
            <a:pPr marL="342900" lvl="0" indent="-342900" algn="l" rtl="0">
              <a:lnSpc>
                <a:spcPct val="100000"/>
              </a:lnSpc>
              <a:spcBef>
                <a:spcPts val="400"/>
              </a:spcBef>
              <a:spcAft>
                <a:spcPts val="0"/>
              </a:spcAft>
              <a:buClr>
                <a:schemeClr val="dk1"/>
              </a:buClr>
              <a:buSzPts val="2000"/>
              <a:buChar char="•"/>
            </a:pPr>
            <a:r>
              <a:rPr lang="es-ES" b="0" u="none"/>
              <a:t>This sequence has a sequence of 3 elements for each 3 groups:</a:t>
            </a:r>
            <a:endParaRPr b="0" u="none"/>
          </a:p>
          <a:p>
            <a:pPr marL="0" lvl="0" indent="0" algn="l" rtl="0">
              <a:lnSpc>
                <a:spcPct val="100000"/>
              </a:lnSpc>
              <a:spcBef>
                <a:spcPts val="400"/>
              </a:spcBef>
              <a:spcAft>
                <a:spcPts val="0"/>
              </a:spcAft>
              <a:buClr>
                <a:schemeClr val="dk1"/>
              </a:buClr>
              <a:buSzPts val="2000"/>
              <a:buNone/>
            </a:pPr>
            <a:r>
              <a:rPr lang="es-ES" b="0" u="none"/>
              <a:t> </a:t>
            </a:r>
            <a:endParaRPr b="0" u="none"/>
          </a:p>
        </p:txBody>
      </p:sp>
      <p:sp>
        <p:nvSpPr>
          <p:cNvPr id="1072" name="Google Shape;1072;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97</a:t>
            </a:fld>
            <a:endParaRPr/>
          </a:p>
        </p:txBody>
      </p:sp>
      <p:grpSp>
        <p:nvGrpSpPr>
          <p:cNvPr id="1073" name="Google Shape;1073;p37"/>
          <p:cNvGrpSpPr/>
          <p:nvPr/>
        </p:nvGrpSpPr>
        <p:grpSpPr>
          <a:xfrm>
            <a:off x="1259632" y="4005064"/>
            <a:ext cx="7567889" cy="2068221"/>
            <a:chOff x="829050" y="3713998"/>
            <a:chExt cx="7567889" cy="2068221"/>
          </a:xfrm>
        </p:grpSpPr>
        <p:sp>
          <p:nvSpPr>
            <p:cNvPr id="1074" name="Google Shape;1074;p37"/>
            <p:cNvSpPr txBox="1"/>
            <p:nvPr/>
          </p:nvSpPr>
          <p:spPr>
            <a:xfrm>
              <a:off x="1334743" y="4578094"/>
              <a:ext cx="1006475" cy="246221"/>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Arial"/>
                  <a:ea typeface="Arial"/>
                  <a:cs typeface="Arial"/>
                  <a:sym typeface="Arial"/>
                </a:rPr>
                <a:t>Owner</a:t>
              </a:r>
              <a:endParaRPr sz="1600" b="0" i="0" u="none" strike="noStrike" cap="none">
                <a:solidFill>
                  <a:schemeClr val="dk1"/>
                </a:solidFill>
                <a:latin typeface="Arial"/>
                <a:ea typeface="Arial"/>
                <a:cs typeface="Arial"/>
                <a:sym typeface="Arial"/>
              </a:endParaRPr>
            </a:p>
          </p:txBody>
        </p:sp>
        <p:sp>
          <p:nvSpPr>
            <p:cNvPr id="1075" name="Google Shape;1075;p37"/>
            <p:cNvSpPr/>
            <p:nvPr/>
          </p:nvSpPr>
          <p:spPr>
            <a:xfrm>
              <a:off x="973203" y="4266438"/>
              <a:ext cx="539750" cy="203835"/>
            </a:xfrm>
            <a:custGeom>
              <a:avLst/>
              <a:gdLst/>
              <a:ahLst/>
              <a:cxnLst/>
              <a:rect l="l" t="t" r="r" b="b"/>
              <a:pathLst>
                <a:path w="539750" h="203835" extrusionOk="0">
                  <a:moveTo>
                    <a:pt x="539366" y="0"/>
                  </a:moveTo>
                  <a:lnTo>
                    <a:pt x="0" y="13044"/>
                  </a:lnTo>
                  <a:lnTo>
                    <a:pt x="698" y="32537"/>
                  </a:lnTo>
                  <a:lnTo>
                    <a:pt x="1952" y="50547"/>
                  </a:lnTo>
                  <a:lnTo>
                    <a:pt x="8468" y="92241"/>
                  </a:lnTo>
                  <a:lnTo>
                    <a:pt x="254001" y="109160"/>
                  </a:lnTo>
                  <a:lnTo>
                    <a:pt x="257644" y="114331"/>
                  </a:lnTo>
                  <a:lnTo>
                    <a:pt x="268117" y="167142"/>
                  </a:lnTo>
                  <a:lnTo>
                    <a:pt x="269747" y="203363"/>
                  </a:lnTo>
                  <a:lnTo>
                    <a:pt x="270446" y="183870"/>
                  </a:lnTo>
                  <a:lnTo>
                    <a:pt x="275643" y="135662"/>
                  </a:lnTo>
                  <a:lnTo>
                    <a:pt x="523490" y="107427"/>
                  </a:lnTo>
                  <a:lnTo>
                    <a:pt x="526728" y="103238"/>
                  </a:lnTo>
                  <a:lnTo>
                    <a:pt x="536689" y="56642"/>
                  </a:lnTo>
                  <a:lnTo>
                    <a:pt x="539049" y="20258"/>
                  </a:lnTo>
                  <a:lnTo>
                    <a:pt x="539366"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76" name="Google Shape;1076;p37"/>
            <p:cNvSpPr/>
            <p:nvPr/>
          </p:nvSpPr>
          <p:spPr>
            <a:xfrm>
              <a:off x="1369969" y="4389500"/>
              <a:ext cx="683217" cy="188594"/>
            </a:xfrm>
            <a:custGeom>
              <a:avLst/>
              <a:gdLst/>
              <a:ahLst/>
              <a:cxnLst/>
              <a:rect l="l" t="t" r="r" b="b"/>
              <a:pathLst>
                <a:path w="539750" h="203835" extrusionOk="0">
                  <a:moveTo>
                    <a:pt x="539366" y="0"/>
                  </a:moveTo>
                  <a:lnTo>
                    <a:pt x="538137" y="39254"/>
                  </a:lnTo>
                  <a:lnTo>
                    <a:pt x="532425" y="85219"/>
                  </a:lnTo>
                  <a:lnTo>
                    <a:pt x="287656" y="108203"/>
                  </a:lnTo>
                  <a:lnTo>
                    <a:pt x="284280" y="110092"/>
                  </a:lnTo>
                  <a:lnTo>
                    <a:pt x="273451" y="149676"/>
                  </a:lnTo>
                  <a:lnTo>
                    <a:pt x="269747" y="203363"/>
                  </a:lnTo>
                  <a:lnTo>
                    <a:pt x="269301" y="184998"/>
                  </a:lnTo>
                  <a:lnTo>
                    <a:pt x="263865" y="135662"/>
                  </a:lnTo>
                  <a:lnTo>
                    <a:pt x="17908" y="108203"/>
                  </a:lnTo>
                  <a:lnTo>
                    <a:pt x="14532" y="106315"/>
                  </a:lnTo>
                  <a:lnTo>
                    <a:pt x="3703" y="66731"/>
                  </a:lnTo>
                  <a:lnTo>
                    <a:pt x="698" y="32537"/>
                  </a:lnTo>
                  <a:lnTo>
                    <a:pt x="0" y="13044"/>
                  </a:lnTo>
                </a:path>
              </a:pathLst>
            </a:custGeom>
            <a:noFill/>
            <a:ln w="289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77" name="Google Shape;1077;p37"/>
            <p:cNvSpPr/>
            <p:nvPr/>
          </p:nvSpPr>
          <p:spPr>
            <a:xfrm>
              <a:off x="2197202" y="4357482"/>
              <a:ext cx="647700" cy="220612"/>
            </a:xfrm>
            <a:custGeom>
              <a:avLst/>
              <a:gdLst/>
              <a:ahLst/>
              <a:cxnLst/>
              <a:rect l="l" t="t" r="r" b="b"/>
              <a:pathLst>
                <a:path w="539750" h="203835" extrusionOk="0">
                  <a:moveTo>
                    <a:pt x="539365" y="0"/>
                  </a:moveTo>
                  <a:lnTo>
                    <a:pt x="538136" y="39254"/>
                  </a:lnTo>
                  <a:lnTo>
                    <a:pt x="532424" y="85219"/>
                  </a:lnTo>
                  <a:lnTo>
                    <a:pt x="287655" y="108203"/>
                  </a:lnTo>
                  <a:lnTo>
                    <a:pt x="284296" y="110092"/>
                  </a:lnTo>
                  <a:lnTo>
                    <a:pt x="273469" y="149676"/>
                  </a:lnTo>
                  <a:lnTo>
                    <a:pt x="269747" y="203363"/>
                  </a:lnTo>
                  <a:lnTo>
                    <a:pt x="269298" y="184998"/>
                  </a:lnTo>
                  <a:lnTo>
                    <a:pt x="263840" y="135663"/>
                  </a:lnTo>
                  <a:lnTo>
                    <a:pt x="17907" y="108203"/>
                  </a:lnTo>
                  <a:lnTo>
                    <a:pt x="14548" y="106315"/>
                  </a:lnTo>
                  <a:lnTo>
                    <a:pt x="3721" y="66731"/>
                  </a:lnTo>
                  <a:lnTo>
                    <a:pt x="703" y="32537"/>
                  </a:lnTo>
                  <a:lnTo>
                    <a:pt x="0" y="13044"/>
                  </a:lnTo>
                </a:path>
              </a:pathLst>
            </a:custGeom>
            <a:noFill/>
            <a:ln w="289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78" name="Google Shape;1078;p37"/>
            <p:cNvSpPr txBox="1"/>
            <p:nvPr/>
          </p:nvSpPr>
          <p:spPr>
            <a:xfrm>
              <a:off x="2152097" y="4578094"/>
              <a:ext cx="1485265" cy="243656"/>
            </a:xfrm>
            <a:prstGeom prst="rect">
              <a:avLst/>
            </a:prstGeom>
            <a:noFill/>
            <a:ln>
              <a:noFill/>
            </a:ln>
          </p:spPr>
          <p:txBody>
            <a:bodyPr spcFirstLastPara="1" wrap="square" lIns="0" tIns="0" rIns="0" bIns="0" anchor="t" anchorCtr="0">
              <a:spAutoFit/>
            </a:bodyPr>
            <a:lstStyle/>
            <a:p>
              <a:pPr marL="12700" marR="0" lvl="0" indent="0" algn="l" rtl="0">
                <a:lnSpc>
                  <a:spcPct val="119375"/>
                </a:lnSpc>
                <a:spcBef>
                  <a:spcPts val="0"/>
                </a:spcBef>
                <a:spcAft>
                  <a:spcPts val="0"/>
                </a:spcAft>
                <a:buClr>
                  <a:srgbClr val="000000"/>
                </a:buClr>
                <a:buSzPts val="1600"/>
                <a:buFont typeface="Arial"/>
                <a:buNone/>
              </a:pPr>
              <a:r>
                <a:rPr lang="es-ES" sz="1600" b="0" i="0" u="none" strike="noStrike" cap="none">
                  <a:solidFill>
                    <a:schemeClr val="dk1"/>
                  </a:solidFill>
                  <a:latin typeface="Arial"/>
                  <a:ea typeface="Arial"/>
                  <a:cs typeface="Arial"/>
                  <a:sym typeface="Arial"/>
                </a:rPr>
                <a:t>Group</a:t>
              </a:r>
              <a:r>
                <a:rPr lang="es-ES" sz="1600" b="0" i="0" u="none" strike="noStrike" cap="none">
                  <a:solidFill>
                    <a:schemeClr val="dk1"/>
                  </a:solidFill>
                  <a:latin typeface="Times New Roman"/>
                  <a:ea typeface="Times New Roman"/>
                  <a:cs typeface="Times New Roman"/>
                  <a:sym typeface="Times New Roman"/>
                </a:rPr>
                <a:t>      </a:t>
              </a:r>
              <a:r>
                <a:rPr lang="es-ES" sz="1600" b="0" i="0" u="none" strike="noStrike" cap="none">
                  <a:solidFill>
                    <a:schemeClr val="dk1"/>
                  </a:solidFill>
                  <a:latin typeface="Arial"/>
                  <a:ea typeface="Arial"/>
                  <a:cs typeface="Arial"/>
                  <a:sym typeface="Arial"/>
                </a:rPr>
                <a:t>Ohter</a:t>
              </a:r>
              <a:endParaRPr sz="1600" b="0" i="0" u="none" strike="noStrike" cap="none">
                <a:solidFill>
                  <a:schemeClr val="dk1"/>
                </a:solidFill>
                <a:latin typeface="Arial"/>
                <a:ea typeface="Arial"/>
                <a:cs typeface="Arial"/>
                <a:sym typeface="Arial"/>
              </a:endParaRPr>
            </a:p>
          </p:txBody>
        </p:sp>
        <p:sp>
          <p:nvSpPr>
            <p:cNvPr id="1079" name="Google Shape;1079;p37"/>
            <p:cNvSpPr/>
            <p:nvPr/>
          </p:nvSpPr>
          <p:spPr>
            <a:xfrm>
              <a:off x="6035932" y="4251197"/>
              <a:ext cx="1728470" cy="203835"/>
            </a:xfrm>
            <a:custGeom>
              <a:avLst/>
              <a:gdLst/>
              <a:ahLst/>
              <a:cxnLst/>
              <a:rect l="l" t="t" r="r" b="b"/>
              <a:pathLst>
                <a:path w="1728470" h="203835" extrusionOk="0">
                  <a:moveTo>
                    <a:pt x="1728085" y="0"/>
                  </a:moveTo>
                  <a:lnTo>
                    <a:pt x="0" y="13045"/>
                  </a:lnTo>
                  <a:lnTo>
                    <a:pt x="703" y="32538"/>
                  </a:lnTo>
                  <a:lnTo>
                    <a:pt x="1964" y="50548"/>
                  </a:lnTo>
                  <a:lnTo>
                    <a:pt x="8498" y="92241"/>
                  </a:lnTo>
                  <a:lnTo>
                    <a:pt x="848341" y="109160"/>
                  </a:lnTo>
                  <a:lnTo>
                    <a:pt x="851974" y="114331"/>
                  </a:lnTo>
                  <a:lnTo>
                    <a:pt x="862466" y="167142"/>
                  </a:lnTo>
                  <a:lnTo>
                    <a:pt x="864107" y="203362"/>
                  </a:lnTo>
                  <a:lnTo>
                    <a:pt x="864811" y="183869"/>
                  </a:lnTo>
                  <a:lnTo>
                    <a:pt x="870029" y="135662"/>
                  </a:lnTo>
                  <a:lnTo>
                    <a:pt x="1712203" y="107427"/>
                  </a:lnTo>
                  <a:lnTo>
                    <a:pt x="1715441" y="103237"/>
                  </a:lnTo>
                  <a:lnTo>
                    <a:pt x="1725407" y="56641"/>
                  </a:lnTo>
                  <a:lnTo>
                    <a:pt x="1727768" y="20258"/>
                  </a:lnTo>
                  <a:lnTo>
                    <a:pt x="172808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0" name="Google Shape;1080;p37"/>
            <p:cNvSpPr/>
            <p:nvPr/>
          </p:nvSpPr>
          <p:spPr>
            <a:xfrm>
              <a:off x="6380437" y="4251197"/>
              <a:ext cx="1728470" cy="203835"/>
            </a:xfrm>
            <a:custGeom>
              <a:avLst/>
              <a:gdLst/>
              <a:ahLst/>
              <a:cxnLst/>
              <a:rect l="l" t="t" r="r" b="b"/>
              <a:pathLst>
                <a:path w="1728470" h="203835" extrusionOk="0">
                  <a:moveTo>
                    <a:pt x="1728085" y="0"/>
                  </a:moveTo>
                  <a:lnTo>
                    <a:pt x="1726855" y="39253"/>
                  </a:lnTo>
                  <a:lnTo>
                    <a:pt x="1721140" y="85218"/>
                  </a:lnTo>
                  <a:lnTo>
                    <a:pt x="882021" y="108203"/>
                  </a:lnTo>
                  <a:lnTo>
                    <a:pt x="878662" y="110092"/>
                  </a:lnTo>
                  <a:lnTo>
                    <a:pt x="867831" y="149676"/>
                  </a:lnTo>
                  <a:lnTo>
                    <a:pt x="864107" y="203362"/>
                  </a:lnTo>
                  <a:lnTo>
                    <a:pt x="863657" y="184997"/>
                  </a:lnTo>
                  <a:lnTo>
                    <a:pt x="858196" y="135662"/>
                  </a:lnTo>
                  <a:lnTo>
                    <a:pt x="17913" y="108203"/>
                  </a:lnTo>
                  <a:lnTo>
                    <a:pt x="14554" y="106315"/>
                  </a:lnTo>
                  <a:lnTo>
                    <a:pt x="3723" y="66731"/>
                  </a:lnTo>
                  <a:lnTo>
                    <a:pt x="703" y="32538"/>
                  </a:lnTo>
                  <a:lnTo>
                    <a:pt x="0" y="13045"/>
                  </a:lnTo>
                </a:path>
              </a:pathLst>
            </a:custGeom>
            <a:noFill/>
            <a:ln w="289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1" name="Google Shape;1081;p37"/>
            <p:cNvSpPr txBox="1"/>
            <p:nvPr/>
          </p:nvSpPr>
          <p:spPr>
            <a:xfrm>
              <a:off x="7046557" y="4578094"/>
              <a:ext cx="702310" cy="246221"/>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Arial"/>
                  <a:ea typeface="Arial"/>
                  <a:cs typeface="Arial"/>
                  <a:sym typeface="Arial"/>
                </a:rPr>
                <a:t>File</a:t>
              </a:r>
              <a:endParaRPr sz="1600" b="0" i="0" u="none" strike="noStrike" cap="none">
                <a:solidFill>
                  <a:schemeClr val="dk1"/>
                </a:solidFill>
                <a:latin typeface="Arial"/>
                <a:ea typeface="Arial"/>
                <a:cs typeface="Arial"/>
                <a:sym typeface="Arial"/>
              </a:endParaRPr>
            </a:p>
          </p:txBody>
        </p:sp>
        <p:sp>
          <p:nvSpPr>
            <p:cNvPr id="1082" name="Google Shape;1082;p37"/>
            <p:cNvSpPr/>
            <p:nvPr/>
          </p:nvSpPr>
          <p:spPr>
            <a:xfrm>
              <a:off x="5077522" y="4299966"/>
              <a:ext cx="1114425" cy="203835"/>
            </a:xfrm>
            <a:custGeom>
              <a:avLst/>
              <a:gdLst/>
              <a:ahLst/>
              <a:cxnLst/>
              <a:rect l="l" t="t" r="r" b="b"/>
              <a:pathLst>
                <a:path w="1114425" h="203835" extrusionOk="0">
                  <a:moveTo>
                    <a:pt x="1113913" y="0"/>
                  </a:moveTo>
                  <a:lnTo>
                    <a:pt x="1112683" y="39253"/>
                  </a:lnTo>
                  <a:lnTo>
                    <a:pt x="1106968" y="85218"/>
                  </a:lnTo>
                  <a:lnTo>
                    <a:pt x="574935" y="108203"/>
                  </a:lnTo>
                  <a:lnTo>
                    <a:pt x="571576" y="110092"/>
                  </a:lnTo>
                  <a:lnTo>
                    <a:pt x="560745" y="149676"/>
                  </a:lnTo>
                  <a:lnTo>
                    <a:pt x="557021" y="203362"/>
                  </a:lnTo>
                  <a:lnTo>
                    <a:pt x="556571" y="184997"/>
                  </a:lnTo>
                  <a:lnTo>
                    <a:pt x="551110" y="135662"/>
                  </a:lnTo>
                  <a:lnTo>
                    <a:pt x="17913" y="108203"/>
                  </a:lnTo>
                  <a:lnTo>
                    <a:pt x="14554" y="106315"/>
                  </a:lnTo>
                  <a:lnTo>
                    <a:pt x="3723" y="66731"/>
                  </a:lnTo>
                  <a:lnTo>
                    <a:pt x="703" y="32538"/>
                  </a:lnTo>
                  <a:lnTo>
                    <a:pt x="0" y="13045"/>
                  </a:lnTo>
                </a:path>
              </a:pathLst>
            </a:custGeom>
            <a:noFill/>
            <a:ln w="289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3" name="Google Shape;1083;p37"/>
            <p:cNvSpPr txBox="1"/>
            <p:nvPr/>
          </p:nvSpPr>
          <p:spPr>
            <a:xfrm>
              <a:off x="5353608" y="4650102"/>
              <a:ext cx="588010" cy="246221"/>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Arial"/>
                  <a:ea typeface="Arial"/>
                  <a:cs typeface="Arial"/>
                  <a:sym typeface="Arial"/>
                </a:rPr>
                <a:t>Group</a:t>
              </a:r>
              <a:endParaRPr sz="1600" b="0" i="0" u="none" strike="noStrike" cap="none">
                <a:solidFill>
                  <a:schemeClr val="dk1"/>
                </a:solidFill>
                <a:latin typeface="Arial"/>
                <a:ea typeface="Arial"/>
                <a:cs typeface="Arial"/>
                <a:sym typeface="Arial"/>
              </a:endParaRPr>
            </a:p>
          </p:txBody>
        </p:sp>
        <p:sp>
          <p:nvSpPr>
            <p:cNvPr id="1084" name="Google Shape;1084;p37"/>
            <p:cNvSpPr/>
            <p:nvPr/>
          </p:nvSpPr>
          <p:spPr>
            <a:xfrm>
              <a:off x="3254632" y="4296917"/>
              <a:ext cx="1223645" cy="203835"/>
            </a:xfrm>
            <a:custGeom>
              <a:avLst/>
              <a:gdLst/>
              <a:ahLst/>
              <a:cxnLst/>
              <a:rect l="l" t="t" r="r" b="b"/>
              <a:pathLst>
                <a:path w="1223645" h="203835" extrusionOk="0">
                  <a:moveTo>
                    <a:pt x="1223641" y="0"/>
                  </a:moveTo>
                  <a:lnTo>
                    <a:pt x="0" y="13045"/>
                  </a:lnTo>
                  <a:lnTo>
                    <a:pt x="703" y="32538"/>
                  </a:lnTo>
                  <a:lnTo>
                    <a:pt x="1964" y="50548"/>
                  </a:lnTo>
                  <a:lnTo>
                    <a:pt x="8498" y="92241"/>
                  </a:lnTo>
                  <a:lnTo>
                    <a:pt x="596119" y="109160"/>
                  </a:lnTo>
                  <a:lnTo>
                    <a:pt x="599752" y="114331"/>
                  </a:lnTo>
                  <a:lnTo>
                    <a:pt x="610244" y="167142"/>
                  </a:lnTo>
                  <a:lnTo>
                    <a:pt x="611885" y="203362"/>
                  </a:lnTo>
                  <a:lnTo>
                    <a:pt x="612589" y="183869"/>
                  </a:lnTo>
                  <a:lnTo>
                    <a:pt x="617807" y="135662"/>
                  </a:lnTo>
                  <a:lnTo>
                    <a:pt x="1207759" y="107427"/>
                  </a:lnTo>
                  <a:lnTo>
                    <a:pt x="1210997" y="103237"/>
                  </a:lnTo>
                  <a:lnTo>
                    <a:pt x="1220963" y="56641"/>
                  </a:lnTo>
                  <a:lnTo>
                    <a:pt x="1223324" y="20258"/>
                  </a:lnTo>
                  <a:lnTo>
                    <a:pt x="1223641"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5" name="Google Shape;1085;p37"/>
            <p:cNvSpPr/>
            <p:nvPr/>
          </p:nvSpPr>
          <p:spPr>
            <a:xfrm>
              <a:off x="3709861" y="4296917"/>
              <a:ext cx="1223645" cy="203835"/>
            </a:xfrm>
            <a:custGeom>
              <a:avLst/>
              <a:gdLst/>
              <a:ahLst/>
              <a:cxnLst/>
              <a:rect l="l" t="t" r="r" b="b"/>
              <a:pathLst>
                <a:path w="1223645" h="203835" extrusionOk="0">
                  <a:moveTo>
                    <a:pt x="1223641" y="0"/>
                  </a:moveTo>
                  <a:lnTo>
                    <a:pt x="1222411" y="39253"/>
                  </a:lnTo>
                  <a:lnTo>
                    <a:pt x="1216696" y="85218"/>
                  </a:lnTo>
                  <a:lnTo>
                    <a:pt x="629799" y="108203"/>
                  </a:lnTo>
                  <a:lnTo>
                    <a:pt x="626440" y="110092"/>
                  </a:lnTo>
                  <a:lnTo>
                    <a:pt x="615609" y="149676"/>
                  </a:lnTo>
                  <a:lnTo>
                    <a:pt x="611885" y="203362"/>
                  </a:lnTo>
                  <a:lnTo>
                    <a:pt x="611435" y="184997"/>
                  </a:lnTo>
                  <a:lnTo>
                    <a:pt x="605974" y="135662"/>
                  </a:lnTo>
                  <a:lnTo>
                    <a:pt x="17913" y="108203"/>
                  </a:lnTo>
                  <a:lnTo>
                    <a:pt x="14554" y="106315"/>
                  </a:lnTo>
                  <a:lnTo>
                    <a:pt x="3723" y="66731"/>
                  </a:lnTo>
                  <a:lnTo>
                    <a:pt x="703" y="32538"/>
                  </a:lnTo>
                  <a:lnTo>
                    <a:pt x="0" y="13045"/>
                  </a:lnTo>
                </a:path>
              </a:pathLst>
            </a:custGeom>
            <a:noFill/>
            <a:ln w="289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6" name="Google Shape;1086;p37"/>
            <p:cNvSpPr txBox="1"/>
            <p:nvPr/>
          </p:nvSpPr>
          <p:spPr>
            <a:xfrm>
              <a:off x="3999039" y="4578094"/>
              <a:ext cx="1006475" cy="246221"/>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Arial"/>
                  <a:ea typeface="Arial"/>
                  <a:cs typeface="Arial"/>
                  <a:sym typeface="Arial"/>
                </a:rPr>
                <a:t>Owner</a:t>
              </a:r>
              <a:endParaRPr sz="1600" b="0" i="0" u="none" strike="noStrike" cap="none">
                <a:solidFill>
                  <a:schemeClr val="dk1"/>
                </a:solidFill>
                <a:latin typeface="Arial"/>
                <a:ea typeface="Arial"/>
                <a:cs typeface="Arial"/>
                <a:sym typeface="Arial"/>
              </a:endParaRPr>
            </a:p>
          </p:txBody>
        </p:sp>
        <p:sp>
          <p:nvSpPr>
            <p:cNvPr id="1087" name="Google Shape;1087;p37"/>
            <p:cNvSpPr/>
            <p:nvPr/>
          </p:nvSpPr>
          <p:spPr>
            <a:xfrm>
              <a:off x="2989290" y="4357482"/>
              <a:ext cx="585070" cy="220612"/>
            </a:xfrm>
            <a:custGeom>
              <a:avLst/>
              <a:gdLst/>
              <a:ahLst/>
              <a:cxnLst/>
              <a:rect l="l" t="t" r="r" b="b"/>
              <a:pathLst>
                <a:path w="539750" h="203835" extrusionOk="0">
                  <a:moveTo>
                    <a:pt x="539365" y="0"/>
                  </a:moveTo>
                  <a:lnTo>
                    <a:pt x="538136" y="39254"/>
                  </a:lnTo>
                  <a:lnTo>
                    <a:pt x="532424" y="85219"/>
                  </a:lnTo>
                  <a:lnTo>
                    <a:pt x="287655" y="108203"/>
                  </a:lnTo>
                  <a:lnTo>
                    <a:pt x="284296" y="110092"/>
                  </a:lnTo>
                  <a:lnTo>
                    <a:pt x="273469" y="149676"/>
                  </a:lnTo>
                  <a:lnTo>
                    <a:pt x="269747" y="203363"/>
                  </a:lnTo>
                  <a:lnTo>
                    <a:pt x="269298" y="184998"/>
                  </a:lnTo>
                  <a:lnTo>
                    <a:pt x="263840" y="135663"/>
                  </a:lnTo>
                  <a:lnTo>
                    <a:pt x="17907" y="108203"/>
                  </a:lnTo>
                  <a:lnTo>
                    <a:pt x="14548" y="106315"/>
                  </a:lnTo>
                  <a:lnTo>
                    <a:pt x="3721" y="66731"/>
                  </a:lnTo>
                  <a:lnTo>
                    <a:pt x="703" y="32537"/>
                  </a:lnTo>
                  <a:lnTo>
                    <a:pt x="0" y="13044"/>
                  </a:lnTo>
                </a:path>
              </a:pathLst>
            </a:custGeom>
            <a:noFill/>
            <a:ln w="289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8" name="Google Shape;1088;p37"/>
            <p:cNvSpPr/>
            <p:nvPr/>
          </p:nvSpPr>
          <p:spPr>
            <a:xfrm rot="1105365">
              <a:off x="3519707" y="5120177"/>
              <a:ext cx="1155065" cy="379095"/>
            </a:xfrm>
            <a:custGeom>
              <a:avLst/>
              <a:gdLst/>
              <a:ahLst/>
              <a:cxnLst/>
              <a:rect l="l" t="t" r="r" b="b"/>
              <a:pathLst>
                <a:path w="1155064" h="379095" extrusionOk="0">
                  <a:moveTo>
                    <a:pt x="56828" y="32715"/>
                  </a:moveTo>
                  <a:lnTo>
                    <a:pt x="37635" y="37378"/>
                  </a:lnTo>
                  <a:lnTo>
                    <a:pt x="51096" y="51717"/>
                  </a:lnTo>
                  <a:lnTo>
                    <a:pt x="1149339" y="378762"/>
                  </a:lnTo>
                  <a:lnTo>
                    <a:pt x="1154948" y="359782"/>
                  </a:lnTo>
                  <a:lnTo>
                    <a:pt x="56828" y="32715"/>
                  </a:lnTo>
                  <a:close/>
                </a:path>
                <a:path w="1155064" h="379095" extrusionOk="0">
                  <a:moveTo>
                    <a:pt x="107441" y="0"/>
                  </a:moveTo>
                  <a:lnTo>
                    <a:pt x="0" y="26157"/>
                  </a:lnTo>
                  <a:lnTo>
                    <a:pt x="75681" y="106929"/>
                  </a:lnTo>
                  <a:lnTo>
                    <a:pt x="81930" y="107060"/>
                  </a:lnTo>
                  <a:lnTo>
                    <a:pt x="85984" y="103369"/>
                  </a:lnTo>
                  <a:lnTo>
                    <a:pt x="89915" y="99559"/>
                  </a:lnTo>
                  <a:lnTo>
                    <a:pt x="90159" y="93344"/>
                  </a:lnTo>
                  <a:lnTo>
                    <a:pt x="51096" y="51717"/>
                  </a:lnTo>
                  <a:lnTo>
                    <a:pt x="16001" y="41266"/>
                  </a:lnTo>
                  <a:lnTo>
                    <a:pt x="21579" y="22216"/>
                  </a:lnTo>
                  <a:lnTo>
                    <a:pt x="100039" y="22216"/>
                  </a:lnTo>
                  <a:lnTo>
                    <a:pt x="106801" y="20573"/>
                  </a:lnTo>
                  <a:lnTo>
                    <a:pt x="112135" y="19168"/>
                  </a:lnTo>
                  <a:lnTo>
                    <a:pt x="115458" y="13834"/>
                  </a:lnTo>
                  <a:lnTo>
                    <a:pt x="114178" y="8500"/>
                  </a:lnTo>
                  <a:lnTo>
                    <a:pt x="112897" y="3297"/>
                  </a:lnTo>
                  <a:lnTo>
                    <a:pt x="107441" y="0"/>
                  </a:lnTo>
                  <a:close/>
                </a:path>
                <a:path w="1155064" h="379095" extrusionOk="0">
                  <a:moveTo>
                    <a:pt x="21579" y="22216"/>
                  </a:moveTo>
                  <a:lnTo>
                    <a:pt x="16001" y="41266"/>
                  </a:lnTo>
                  <a:lnTo>
                    <a:pt x="51096" y="51717"/>
                  </a:lnTo>
                  <a:lnTo>
                    <a:pt x="41408" y="41397"/>
                  </a:lnTo>
                  <a:lnTo>
                    <a:pt x="21092" y="41397"/>
                  </a:lnTo>
                  <a:lnTo>
                    <a:pt x="26029" y="25014"/>
                  </a:lnTo>
                  <a:lnTo>
                    <a:pt x="30974" y="25014"/>
                  </a:lnTo>
                  <a:lnTo>
                    <a:pt x="21579" y="22216"/>
                  </a:lnTo>
                  <a:close/>
                </a:path>
                <a:path w="1155064" h="379095" extrusionOk="0">
                  <a:moveTo>
                    <a:pt x="26029" y="25014"/>
                  </a:moveTo>
                  <a:lnTo>
                    <a:pt x="21092" y="41397"/>
                  </a:lnTo>
                  <a:lnTo>
                    <a:pt x="37635" y="37378"/>
                  </a:lnTo>
                  <a:lnTo>
                    <a:pt x="26029" y="25014"/>
                  </a:lnTo>
                  <a:close/>
                </a:path>
                <a:path w="1155064" h="379095" extrusionOk="0">
                  <a:moveTo>
                    <a:pt x="37635" y="37378"/>
                  </a:moveTo>
                  <a:lnTo>
                    <a:pt x="21092" y="41397"/>
                  </a:lnTo>
                  <a:lnTo>
                    <a:pt x="41408" y="41397"/>
                  </a:lnTo>
                  <a:lnTo>
                    <a:pt x="37635" y="37378"/>
                  </a:lnTo>
                  <a:close/>
                </a:path>
                <a:path w="1155064" h="379095" extrusionOk="0">
                  <a:moveTo>
                    <a:pt x="30974" y="25014"/>
                  </a:moveTo>
                  <a:lnTo>
                    <a:pt x="26029" y="25014"/>
                  </a:lnTo>
                  <a:lnTo>
                    <a:pt x="37635" y="37378"/>
                  </a:lnTo>
                  <a:lnTo>
                    <a:pt x="56828" y="32715"/>
                  </a:lnTo>
                  <a:lnTo>
                    <a:pt x="30974" y="25014"/>
                  </a:lnTo>
                  <a:close/>
                </a:path>
                <a:path w="1155064" h="379095" extrusionOk="0">
                  <a:moveTo>
                    <a:pt x="100039" y="22216"/>
                  </a:moveTo>
                  <a:lnTo>
                    <a:pt x="21579" y="22216"/>
                  </a:lnTo>
                  <a:lnTo>
                    <a:pt x="56828" y="32715"/>
                  </a:lnTo>
                  <a:lnTo>
                    <a:pt x="100039" y="2221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9" name="Google Shape;1089;p37"/>
            <p:cNvSpPr txBox="1"/>
            <p:nvPr/>
          </p:nvSpPr>
          <p:spPr>
            <a:xfrm>
              <a:off x="4768472" y="5505220"/>
              <a:ext cx="2131695" cy="276999"/>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Arial"/>
                  <a:ea typeface="Arial"/>
                  <a:cs typeface="Arial"/>
                  <a:sym typeface="Arial"/>
                </a:rPr>
                <a:t>Permissions</a:t>
              </a:r>
              <a:endParaRPr sz="1800" b="0" i="0" u="none" strike="noStrike" cap="none">
                <a:solidFill>
                  <a:schemeClr val="dk1"/>
                </a:solidFill>
                <a:latin typeface="Arial"/>
                <a:ea typeface="Arial"/>
                <a:cs typeface="Arial"/>
                <a:sym typeface="Arial"/>
              </a:endParaRPr>
            </a:p>
          </p:txBody>
        </p:sp>
        <p:sp>
          <p:nvSpPr>
            <p:cNvPr id="1090" name="Google Shape;1090;p37"/>
            <p:cNvSpPr/>
            <p:nvPr/>
          </p:nvSpPr>
          <p:spPr>
            <a:xfrm>
              <a:off x="1302394" y="3713998"/>
              <a:ext cx="2333991" cy="1312545"/>
            </a:xfrm>
            <a:custGeom>
              <a:avLst/>
              <a:gdLst/>
              <a:ahLst/>
              <a:cxnLst/>
              <a:rect l="l" t="t" r="r" b="b"/>
              <a:pathLst>
                <a:path w="2807335" h="1312545" extrusionOk="0">
                  <a:moveTo>
                    <a:pt x="0" y="218693"/>
                  </a:moveTo>
                  <a:lnTo>
                    <a:pt x="6356" y="166140"/>
                  </a:lnTo>
                  <a:lnTo>
                    <a:pt x="24411" y="118193"/>
                  </a:lnTo>
                  <a:lnTo>
                    <a:pt x="52645" y="76372"/>
                  </a:lnTo>
                  <a:lnTo>
                    <a:pt x="89538" y="42196"/>
                  </a:lnTo>
                  <a:lnTo>
                    <a:pt x="133570" y="17186"/>
                  </a:lnTo>
                  <a:lnTo>
                    <a:pt x="183221" y="2862"/>
                  </a:lnTo>
                  <a:lnTo>
                    <a:pt x="218693" y="0"/>
                  </a:lnTo>
                  <a:lnTo>
                    <a:pt x="2588513" y="0"/>
                  </a:lnTo>
                  <a:lnTo>
                    <a:pt x="2641072" y="6356"/>
                  </a:lnTo>
                  <a:lnTo>
                    <a:pt x="2689021" y="24411"/>
                  </a:lnTo>
                  <a:lnTo>
                    <a:pt x="2730842" y="52645"/>
                  </a:lnTo>
                  <a:lnTo>
                    <a:pt x="2765015" y="89538"/>
                  </a:lnTo>
                  <a:lnTo>
                    <a:pt x="2790023" y="133570"/>
                  </a:lnTo>
                  <a:lnTo>
                    <a:pt x="2804345" y="183221"/>
                  </a:lnTo>
                  <a:lnTo>
                    <a:pt x="2807207" y="218693"/>
                  </a:lnTo>
                  <a:lnTo>
                    <a:pt x="2807207" y="1093469"/>
                  </a:lnTo>
                  <a:lnTo>
                    <a:pt x="2800852" y="1146023"/>
                  </a:lnTo>
                  <a:lnTo>
                    <a:pt x="2782799" y="1193970"/>
                  </a:lnTo>
                  <a:lnTo>
                    <a:pt x="2754568" y="1235791"/>
                  </a:lnTo>
                  <a:lnTo>
                    <a:pt x="2717676" y="1269967"/>
                  </a:lnTo>
                  <a:lnTo>
                    <a:pt x="2673644" y="1294977"/>
                  </a:lnTo>
                  <a:lnTo>
                    <a:pt x="2623989" y="1309301"/>
                  </a:lnTo>
                  <a:lnTo>
                    <a:pt x="2588513" y="1312163"/>
                  </a:lnTo>
                  <a:lnTo>
                    <a:pt x="218693" y="1312163"/>
                  </a:lnTo>
                  <a:lnTo>
                    <a:pt x="166140" y="1305807"/>
                  </a:lnTo>
                  <a:lnTo>
                    <a:pt x="118193" y="1287752"/>
                  </a:lnTo>
                  <a:lnTo>
                    <a:pt x="76372" y="1259518"/>
                  </a:lnTo>
                  <a:lnTo>
                    <a:pt x="42196" y="1222625"/>
                  </a:lnTo>
                  <a:lnTo>
                    <a:pt x="17186" y="1178593"/>
                  </a:lnTo>
                  <a:lnTo>
                    <a:pt x="2862" y="1128942"/>
                  </a:lnTo>
                  <a:lnTo>
                    <a:pt x="0" y="1093469"/>
                  </a:lnTo>
                  <a:lnTo>
                    <a:pt x="0" y="218693"/>
                  </a:lnTo>
                  <a:close/>
                </a:path>
              </a:pathLst>
            </a:custGeom>
            <a:noFill/>
            <a:ln w="25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91" name="Google Shape;1091;p37"/>
            <p:cNvSpPr txBox="1"/>
            <p:nvPr/>
          </p:nvSpPr>
          <p:spPr>
            <a:xfrm>
              <a:off x="829050" y="3910858"/>
              <a:ext cx="307036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dk1"/>
                  </a:solidFill>
                  <a:latin typeface="Calibri"/>
                  <a:ea typeface="Calibri"/>
                  <a:cs typeface="Calibri"/>
                  <a:sym typeface="Calibri"/>
                </a:rPr>
                <a:t>  -  rwx   rwx   rwx</a:t>
              </a:r>
              <a:endParaRPr sz="2800" b="0" i="0" u="none" strike="noStrike" cap="none">
                <a:solidFill>
                  <a:schemeClr val="dk1"/>
                </a:solidFill>
                <a:latin typeface="Calibri"/>
                <a:ea typeface="Calibri"/>
                <a:cs typeface="Calibri"/>
                <a:sym typeface="Calibri"/>
              </a:endParaRPr>
            </a:p>
          </p:txBody>
        </p:sp>
        <p:sp>
          <p:nvSpPr>
            <p:cNvPr id="1092" name="Google Shape;1092;p37"/>
            <p:cNvSpPr txBox="1"/>
            <p:nvPr/>
          </p:nvSpPr>
          <p:spPr>
            <a:xfrm>
              <a:off x="3599286" y="3883631"/>
              <a:ext cx="169426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dk1"/>
                  </a:solidFill>
                  <a:latin typeface="Calibri"/>
                  <a:ea typeface="Calibri"/>
                  <a:cs typeface="Calibri"/>
                  <a:sym typeface="Calibri"/>
                </a:rPr>
                <a:t> alumno</a:t>
              </a:r>
              <a:endParaRPr sz="1400" b="0" i="0" u="none" strike="noStrike" cap="none">
                <a:solidFill>
                  <a:srgbClr val="000000"/>
                </a:solidFill>
                <a:latin typeface="Arial"/>
                <a:ea typeface="Arial"/>
                <a:cs typeface="Arial"/>
                <a:sym typeface="Arial"/>
              </a:endParaRPr>
            </a:p>
          </p:txBody>
        </p:sp>
        <p:sp>
          <p:nvSpPr>
            <p:cNvPr id="1093" name="Google Shape;1093;p37"/>
            <p:cNvSpPr txBox="1"/>
            <p:nvPr/>
          </p:nvSpPr>
          <p:spPr>
            <a:xfrm>
              <a:off x="4868547" y="3875060"/>
              <a:ext cx="1528544"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dk1"/>
                  </a:solidFill>
                  <a:latin typeface="Calibri"/>
                  <a:ea typeface="Calibri"/>
                  <a:cs typeface="Calibri"/>
                  <a:sym typeface="Calibri"/>
                </a:rPr>
                <a:t> alumno</a:t>
              </a:r>
              <a:endParaRPr sz="1400" b="0" i="0" u="none" strike="noStrike" cap="none">
                <a:solidFill>
                  <a:srgbClr val="000000"/>
                </a:solidFill>
                <a:latin typeface="Arial"/>
                <a:ea typeface="Arial"/>
                <a:cs typeface="Arial"/>
                <a:sym typeface="Arial"/>
              </a:endParaRPr>
            </a:p>
          </p:txBody>
        </p:sp>
        <p:sp>
          <p:nvSpPr>
            <p:cNvPr id="1094" name="Google Shape;1094;p37"/>
            <p:cNvSpPr txBox="1"/>
            <p:nvPr/>
          </p:nvSpPr>
          <p:spPr>
            <a:xfrm>
              <a:off x="6324053" y="3875532"/>
              <a:ext cx="207288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a:solidFill>
                    <a:schemeClr val="dk1"/>
                  </a:solidFill>
                  <a:latin typeface="Calibri"/>
                  <a:ea typeface="Calibri"/>
                  <a:cs typeface="Calibri"/>
                  <a:sym typeface="Calibri"/>
                </a:rPr>
                <a:t>fichero.txt</a:t>
              </a:r>
              <a:endParaRPr sz="2800" b="0" i="0" u="none" strike="noStrike" cap="none">
                <a:solidFill>
                  <a:schemeClr val="dk1"/>
                </a:solidFill>
                <a:latin typeface="Calibri"/>
                <a:ea typeface="Calibri"/>
                <a:cs typeface="Calibri"/>
                <a:sym typeface="Calibri"/>
              </a:endParaRPr>
            </a:p>
          </p:txBody>
        </p:sp>
      </p:grpSp>
      <p:sp>
        <p:nvSpPr>
          <p:cNvPr id="1095" name="Google Shape;1095;p37"/>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cxnSp>
        <p:nvCxnSpPr>
          <p:cNvPr id="1096" name="Google Shape;1096;p37"/>
          <p:cNvCxnSpPr/>
          <p:nvPr/>
        </p:nvCxnSpPr>
        <p:spPr>
          <a:xfrm rot="10800000">
            <a:off x="1524000" y="4746098"/>
            <a:ext cx="0" cy="854692"/>
          </a:xfrm>
          <a:prstGeom prst="straightConnector1">
            <a:avLst/>
          </a:prstGeom>
          <a:noFill/>
          <a:ln w="19050" cap="flat" cmpd="sng">
            <a:solidFill>
              <a:schemeClr val="dk1"/>
            </a:solidFill>
            <a:prstDash val="solid"/>
            <a:round/>
            <a:headEnd type="none" w="sm" len="sm"/>
            <a:tailEnd type="triangle" w="med" len="med"/>
          </a:ln>
        </p:spPr>
      </p:cxnSp>
      <p:sp>
        <p:nvSpPr>
          <p:cNvPr id="1097" name="Google Shape;1097;p37"/>
          <p:cNvSpPr txBox="1"/>
          <p:nvPr/>
        </p:nvSpPr>
        <p:spPr>
          <a:xfrm>
            <a:off x="1202714" y="5657786"/>
            <a:ext cx="2131695" cy="276999"/>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Arial"/>
                <a:ea typeface="Arial"/>
                <a:cs typeface="Arial"/>
                <a:sym typeface="Arial"/>
              </a:rPr>
              <a:t>File type</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38"/>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s-ES" b="0" u="none"/>
              <a:t>Examples:</a:t>
            </a:r>
            <a:endParaRPr b="0" u="none"/>
          </a:p>
          <a:p>
            <a:pPr marL="742950" lvl="1" indent="-285750" algn="l" rtl="0">
              <a:lnSpc>
                <a:spcPct val="100000"/>
              </a:lnSpc>
              <a:spcBef>
                <a:spcPts val="400"/>
              </a:spcBef>
              <a:spcAft>
                <a:spcPts val="0"/>
              </a:spcAft>
              <a:buClr>
                <a:schemeClr val="dk1"/>
              </a:buClr>
              <a:buSzPts val="2000"/>
              <a:buChar char="–"/>
            </a:pPr>
            <a:r>
              <a:rPr lang="es-ES" b="0" u="none"/>
              <a:t>Example 1: /opt directory</a:t>
            </a:r>
            <a:endParaRPr b="0" u="none"/>
          </a:p>
        </p:txBody>
      </p:sp>
      <p:sp>
        <p:nvSpPr>
          <p:cNvPr id="1104" name="Google Shape;110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98</a:t>
            </a:fld>
            <a:endParaRPr/>
          </a:p>
        </p:txBody>
      </p:sp>
      <p:sp>
        <p:nvSpPr>
          <p:cNvPr id="1105" name="Google Shape;1105;p38"/>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99</a:t>
            </a:fld>
            <a:endParaRPr/>
          </a:p>
        </p:txBody>
      </p:sp>
      <p:sp>
        <p:nvSpPr>
          <p:cNvPr id="1111" name="Google Shape;1111;p39"/>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112" name="Google Shape;1112;p39"/>
          <p:cNvSpPr/>
          <p:nvPr/>
        </p:nvSpPr>
        <p:spPr>
          <a:xfrm>
            <a:off x="3576118" y="4099092"/>
            <a:ext cx="4120081" cy="1346132"/>
          </a:xfrm>
          <a:prstGeom prst="roundRect">
            <a:avLst>
              <a:gd name="adj" fmla="val 16667"/>
            </a:avLst>
          </a:prstGeom>
          <a:gradFill>
            <a:gsLst>
              <a:gs pos="0">
                <a:srgbClr val="DAFEA4"/>
              </a:gs>
              <a:gs pos="35000">
                <a:srgbClr val="E3FEBF"/>
              </a:gs>
              <a:gs pos="100000">
                <a:srgbClr val="F4FEE6"/>
              </a:gs>
            </a:gsLst>
            <a:lin ang="16200000" scaled="0"/>
          </a:gradFill>
          <a:ln w="9525" cap="flat" cmpd="sng">
            <a:solidFill>
              <a:srgbClr val="97B853"/>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chemeClr val="dk1"/>
                </a:solidFill>
                <a:latin typeface="Consolas"/>
                <a:ea typeface="Consolas"/>
                <a:cs typeface="Consolas"/>
                <a:sym typeface="Consolas"/>
              </a:rPr>
              <a:t>Directorio que contiene software adicional. En nuestro caso aquí se realiza la instalación de software bioinformático</a:t>
            </a:r>
            <a:endParaRPr sz="1800" b="0" i="0" u="none" strike="noStrike" cap="none">
              <a:solidFill>
                <a:schemeClr val="dk1"/>
              </a:solidFill>
              <a:latin typeface="Consolas"/>
              <a:ea typeface="Consolas"/>
              <a:cs typeface="Consolas"/>
              <a:sym typeface="Consolas"/>
            </a:endParaRPr>
          </a:p>
        </p:txBody>
      </p:sp>
      <p:cxnSp>
        <p:nvCxnSpPr>
          <p:cNvPr id="1113" name="Google Shape;1113;p39"/>
          <p:cNvCxnSpPr/>
          <p:nvPr/>
        </p:nvCxnSpPr>
        <p:spPr>
          <a:xfrm rot="10800000">
            <a:off x="2590919" y="4191000"/>
            <a:ext cx="985200" cy="228600"/>
          </a:xfrm>
          <a:prstGeom prst="bentConnector3">
            <a:avLst>
              <a:gd name="adj1" fmla="val 50000"/>
            </a:avLst>
          </a:prstGeom>
          <a:noFill/>
          <a:ln w="28575" cap="flat" cmpd="sng">
            <a:solidFill>
              <a:schemeClr val="dk1"/>
            </a:solidFill>
            <a:prstDash val="solid"/>
            <a:round/>
            <a:headEnd type="oval" w="med" len="med"/>
            <a:tailEnd type="triangle" w="med" len="med"/>
          </a:ln>
        </p:spPr>
      </p:cxnSp>
      <p:pic>
        <p:nvPicPr>
          <p:cNvPr id="1114" name="Google Shape;1114;p39" descr="Resultado de imagen de linux file system"/>
          <p:cNvPicPr preferRelativeResize="0"/>
          <p:nvPr/>
        </p:nvPicPr>
        <p:blipFill rotWithShape="1">
          <a:blip r:embed="rId3">
            <a:alphaModFix/>
          </a:blip>
          <a:srcRect l="83112" t="23817" b="14881"/>
          <a:stretch/>
        </p:blipFill>
        <p:spPr>
          <a:xfrm>
            <a:off x="895916" y="2183244"/>
            <a:ext cx="1689602" cy="3380653"/>
          </a:xfrm>
          <a:prstGeom prst="rect">
            <a:avLst/>
          </a:prstGeom>
          <a:noFill/>
          <a:ln>
            <a:noFill/>
          </a:ln>
        </p:spPr>
      </p:pic>
      <p:sp>
        <p:nvSpPr>
          <p:cNvPr id="1115" name="Google Shape;1115;p39"/>
          <p:cNvSpPr/>
          <p:nvPr/>
        </p:nvSpPr>
        <p:spPr>
          <a:xfrm>
            <a:off x="755576" y="3819816"/>
            <a:ext cx="1829942" cy="558552"/>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40"/>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s-ES" b="0" u="none"/>
              <a:t>Examples:</a:t>
            </a:r>
            <a:endParaRPr b="0" u="none"/>
          </a:p>
          <a:p>
            <a:pPr marL="742950" lvl="1" indent="-285750" algn="l" rtl="0">
              <a:lnSpc>
                <a:spcPct val="100000"/>
              </a:lnSpc>
              <a:spcBef>
                <a:spcPts val="400"/>
              </a:spcBef>
              <a:spcAft>
                <a:spcPts val="0"/>
              </a:spcAft>
              <a:buClr>
                <a:schemeClr val="dk1"/>
              </a:buClr>
              <a:buSzPts val="2000"/>
              <a:buChar char="–"/>
            </a:pPr>
            <a:r>
              <a:rPr lang="es-ES" b="0" u="none"/>
              <a:t>Example 1: /opt directory:</a:t>
            </a:r>
            <a:endParaRPr/>
          </a:p>
          <a:p>
            <a:pPr marL="742950" lvl="1" indent="-158750" algn="l" rtl="0">
              <a:lnSpc>
                <a:spcPct val="100000"/>
              </a:lnSpc>
              <a:spcBef>
                <a:spcPts val="400"/>
              </a:spcBef>
              <a:spcAft>
                <a:spcPts val="0"/>
              </a:spcAft>
              <a:buClr>
                <a:schemeClr val="dk1"/>
              </a:buClr>
              <a:buSzPts val="2000"/>
              <a:buNone/>
            </a:pPr>
            <a:endParaRPr b="0" u="none"/>
          </a:p>
          <a:p>
            <a:pPr marL="914400" lvl="2" indent="0" algn="l" rtl="0">
              <a:lnSpc>
                <a:spcPct val="100000"/>
              </a:lnSpc>
              <a:spcBef>
                <a:spcPts val="400"/>
              </a:spcBef>
              <a:spcAft>
                <a:spcPts val="0"/>
              </a:spcAft>
              <a:buClr>
                <a:schemeClr val="dk1"/>
              </a:buClr>
              <a:buSzPts val="2000"/>
              <a:buNone/>
            </a:pPr>
            <a:r>
              <a:rPr lang="es-ES"/>
              <a:t>drwxr-xr-x	root	root	opt</a:t>
            </a:r>
            <a:endParaRPr/>
          </a:p>
          <a:p>
            <a:pPr marL="914400" lvl="2" indent="0" algn="l" rtl="0">
              <a:lnSpc>
                <a:spcPct val="100000"/>
              </a:lnSpc>
              <a:spcBef>
                <a:spcPts val="400"/>
              </a:spcBef>
              <a:spcAft>
                <a:spcPts val="0"/>
              </a:spcAft>
              <a:buClr>
                <a:schemeClr val="dk1"/>
              </a:buClr>
              <a:buSzPts val="2000"/>
              <a:buNone/>
            </a:pPr>
            <a:endParaRPr/>
          </a:p>
          <a:p>
            <a:pPr marL="1143000" lvl="2" indent="-228600" algn="l" rtl="0">
              <a:lnSpc>
                <a:spcPct val="100000"/>
              </a:lnSpc>
              <a:spcBef>
                <a:spcPts val="400"/>
              </a:spcBef>
              <a:spcAft>
                <a:spcPts val="0"/>
              </a:spcAft>
              <a:buClr>
                <a:schemeClr val="dk1"/>
              </a:buClr>
              <a:buSzPts val="2000"/>
              <a:buChar char="•"/>
            </a:pPr>
            <a:r>
              <a:rPr lang="es-ES"/>
              <a:t>Owner (root) can read, write and execute</a:t>
            </a:r>
            <a:endParaRPr/>
          </a:p>
          <a:p>
            <a:pPr marL="1143000" lvl="2" indent="-228600" algn="l" rtl="0">
              <a:lnSpc>
                <a:spcPct val="100000"/>
              </a:lnSpc>
              <a:spcBef>
                <a:spcPts val="400"/>
              </a:spcBef>
              <a:spcAft>
                <a:spcPts val="0"/>
              </a:spcAft>
              <a:buClr>
                <a:schemeClr val="dk1"/>
              </a:buClr>
              <a:buSzPts val="2000"/>
              <a:buChar char="•"/>
            </a:pPr>
            <a:r>
              <a:rPr lang="es-ES"/>
              <a:t>Group (root) and rest can only read and execute</a:t>
            </a:r>
            <a:endParaRPr/>
          </a:p>
          <a:p>
            <a:pPr marL="742950" lvl="1" indent="-158750" algn="l" rtl="0">
              <a:lnSpc>
                <a:spcPct val="100000"/>
              </a:lnSpc>
              <a:spcBef>
                <a:spcPts val="400"/>
              </a:spcBef>
              <a:spcAft>
                <a:spcPts val="0"/>
              </a:spcAft>
              <a:buClr>
                <a:schemeClr val="dk1"/>
              </a:buClr>
              <a:buSzPts val="2000"/>
              <a:buNone/>
            </a:pPr>
            <a:endParaRPr b="0" u="none"/>
          </a:p>
        </p:txBody>
      </p:sp>
      <p:sp>
        <p:nvSpPr>
          <p:cNvPr id="1122" name="Google Shape;1122;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100</a:t>
            </a:fld>
            <a:endParaRPr/>
          </a:p>
        </p:txBody>
      </p:sp>
      <p:sp>
        <p:nvSpPr>
          <p:cNvPr id="1123" name="Google Shape;1123;p40"/>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124" name="Google Shape;1124;p40"/>
          <p:cNvSpPr/>
          <p:nvPr/>
        </p:nvSpPr>
        <p:spPr>
          <a:xfrm>
            <a:off x="1187624" y="2924944"/>
            <a:ext cx="4752528" cy="576064"/>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41"/>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s-ES" b="0" u="none"/>
              <a:t>Examples:</a:t>
            </a:r>
            <a:endParaRPr b="0" u="none"/>
          </a:p>
          <a:p>
            <a:pPr marL="742950" lvl="1" indent="-285750" algn="l" rtl="0">
              <a:lnSpc>
                <a:spcPct val="100000"/>
              </a:lnSpc>
              <a:spcBef>
                <a:spcPts val="400"/>
              </a:spcBef>
              <a:spcAft>
                <a:spcPts val="0"/>
              </a:spcAft>
              <a:buClr>
                <a:schemeClr val="dk1"/>
              </a:buClr>
              <a:buSzPts val="2000"/>
              <a:buChar char="–"/>
            </a:pPr>
            <a:r>
              <a:rPr lang="es-ES" b="0" u="none"/>
              <a:t>Example 2: </a:t>
            </a:r>
            <a:r>
              <a:rPr lang="es-ES"/>
              <a:t>personal directory </a:t>
            </a:r>
            <a:r>
              <a:rPr lang="es-ES" b="0" u="none"/>
              <a:t>:   /home/alumno</a:t>
            </a:r>
            <a:endParaRPr b="0" u="none"/>
          </a:p>
          <a:p>
            <a:pPr marL="742950" lvl="1" indent="-158750" algn="l" rtl="0">
              <a:lnSpc>
                <a:spcPct val="100000"/>
              </a:lnSpc>
              <a:spcBef>
                <a:spcPts val="400"/>
              </a:spcBef>
              <a:spcAft>
                <a:spcPts val="0"/>
              </a:spcAft>
              <a:buClr>
                <a:schemeClr val="dk1"/>
              </a:buClr>
              <a:buSzPts val="2000"/>
              <a:buNone/>
            </a:pPr>
            <a:endParaRPr b="0" u="none"/>
          </a:p>
          <a:p>
            <a:pPr marL="914400" lvl="2" indent="0" algn="l" rtl="0">
              <a:lnSpc>
                <a:spcPct val="100000"/>
              </a:lnSpc>
              <a:spcBef>
                <a:spcPts val="400"/>
              </a:spcBef>
              <a:spcAft>
                <a:spcPts val="0"/>
              </a:spcAft>
              <a:buClr>
                <a:schemeClr val="dk1"/>
              </a:buClr>
              <a:buSzPts val="2000"/>
              <a:buNone/>
            </a:pPr>
            <a:r>
              <a:rPr lang="es-ES"/>
              <a:t>drwx------  alumno  clase  alumno</a:t>
            </a:r>
            <a:endParaRPr/>
          </a:p>
          <a:p>
            <a:pPr marL="914400" lvl="2" indent="0" algn="l" rtl="0">
              <a:lnSpc>
                <a:spcPct val="100000"/>
              </a:lnSpc>
              <a:spcBef>
                <a:spcPts val="400"/>
              </a:spcBef>
              <a:spcAft>
                <a:spcPts val="0"/>
              </a:spcAft>
              <a:buClr>
                <a:schemeClr val="dk1"/>
              </a:buClr>
              <a:buSzPts val="2000"/>
              <a:buNone/>
            </a:pPr>
            <a:endParaRPr/>
          </a:p>
          <a:p>
            <a:pPr marL="1143000" lvl="2" indent="-228600" algn="l" rtl="0">
              <a:lnSpc>
                <a:spcPct val="100000"/>
              </a:lnSpc>
              <a:spcBef>
                <a:spcPts val="400"/>
              </a:spcBef>
              <a:spcAft>
                <a:spcPts val="0"/>
              </a:spcAft>
              <a:buClr>
                <a:schemeClr val="dk1"/>
              </a:buClr>
              <a:buSzPts val="2000"/>
              <a:buChar char="•"/>
            </a:pPr>
            <a:r>
              <a:rPr lang="es-ES"/>
              <a:t>Owner (alumno) can read, modify and access the directory</a:t>
            </a:r>
            <a:endParaRPr/>
          </a:p>
          <a:p>
            <a:pPr marL="1143000" lvl="2" indent="-228600" algn="l" rtl="0">
              <a:lnSpc>
                <a:spcPct val="100000"/>
              </a:lnSpc>
              <a:spcBef>
                <a:spcPts val="400"/>
              </a:spcBef>
              <a:spcAft>
                <a:spcPts val="0"/>
              </a:spcAft>
              <a:buClr>
                <a:schemeClr val="dk1"/>
              </a:buClr>
              <a:buSzPts val="2000"/>
              <a:buChar char="•"/>
            </a:pPr>
            <a:r>
              <a:rPr lang="es-ES"/>
              <a:t>Group (clase) and rest can’t do anything</a:t>
            </a:r>
            <a:endParaRPr/>
          </a:p>
          <a:p>
            <a:pPr marL="742950" lvl="1" indent="-158750" algn="l" rtl="0">
              <a:lnSpc>
                <a:spcPct val="100000"/>
              </a:lnSpc>
              <a:spcBef>
                <a:spcPts val="400"/>
              </a:spcBef>
              <a:spcAft>
                <a:spcPts val="0"/>
              </a:spcAft>
              <a:buClr>
                <a:schemeClr val="dk1"/>
              </a:buClr>
              <a:buSzPts val="2000"/>
              <a:buNone/>
            </a:pPr>
            <a:endParaRPr b="0" u="none"/>
          </a:p>
        </p:txBody>
      </p:sp>
      <p:sp>
        <p:nvSpPr>
          <p:cNvPr id="1131" name="Google Shape;1131;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101</a:t>
            </a:fld>
            <a:endParaRPr/>
          </a:p>
        </p:txBody>
      </p:sp>
      <p:sp>
        <p:nvSpPr>
          <p:cNvPr id="1132" name="Google Shape;1132;p41"/>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133" name="Google Shape;1133;p41"/>
          <p:cNvSpPr/>
          <p:nvPr/>
        </p:nvSpPr>
        <p:spPr>
          <a:xfrm>
            <a:off x="1187624" y="2924944"/>
            <a:ext cx="5112568" cy="576064"/>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138"/>
        <p:cNvGrpSpPr/>
        <p:nvPr/>
      </p:nvGrpSpPr>
      <p:grpSpPr>
        <a:xfrm>
          <a:off x="0" y="0"/>
          <a:ext cx="0" cy="0"/>
          <a:chOff x="0" y="0"/>
          <a:chExt cx="0" cy="0"/>
        </a:xfrm>
      </p:grpSpPr>
      <p:sp>
        <p:nvSpPr>
          <p:cNvPr id="1139" name="Google Shape;1139;p42"/>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s-ES" b="0" u="none"/>
              <a:t>Examples:</a:t>
            </a:r>
            <a:endParaRPr b="0" u="none"/>
          </a:p>
          <a:p>
            <a:pPr marL="742950" lvl="1" indent="-285750" algn="l" rtl="0">
              <a:lnSpc>
                <a:spcPct val="100000"/>
              </a:lnSpc>
              <a:spcBef>
                <a:spcPts val="400"/>
              </a:spcBef>
              <a:spcAft>
                <a:spcPts val="0"/>
              </a:spcAft>
              <a:buClr>
                <a:schemeClr val="dk1"/>
              </a:buClr>
              <a:buSzPts val="2000"/>
              <a:buChar char="–"/>
            </a:pPr>
            <a:r>
              <a:rPr lang="es-ES" b="0" u="none"/>
              <a:t>Example </a:t>
            </a:r>
            <a:r>
              <a:rPr lang="es-ES"/>
              <a:t>3</a:t>
            </a:r>
            <a:r>
              <a:rPr lang="es-ES" b="0" u="none"/>
              <a:t>: /</a:t>
            </a:r>
            <a:r>
              <a:rPr lang="es-ES"/>
              <a:t>tmp </a:t>
            </a:r>
            <a:r>
              <a:rPr lang="es-ES" b="0" u="none"/>
              <a:t>:</a:t>
            </a:r>
            <a:endParaRPr/>
          </a:p>
          <a:p>
            <a:pPr marL="742950" lvl="1" indent="-158750" algn="l" rtl="0">
              <a:lnSpc>
                <a:spcPct val="100000"/>
              </a:lnSpc>
              <a:spcBef>
                <a:spcPts val="400"/>
              </a:spcBef>
              <a:spcAft>
                <a:spcPts val="0"/>
              </a:spcAft>
              <a:buClr>
                <a:schemeClr val="dk1"/>
              </a:buClr>
              <a:buSzPts val="2000"/>
              <a:buNone/>
            </a:pPr>
            <a:endParaRPr b="0" u="none"/>
          </a:p>
          <a:p>
            <a:pPr marL="914400" lvl="2" indent="0" algn="l" rtl="0">
              <a:lnSpc>
                <a:spcPct val="100000"/>
              </a:lnSpc>
              <a:spcBef>
                <a:spcPts val="400"/>
              </a:spcBef>
              <a:spcAft>
                <a:spcPts val="0"/>
              </a:spcAft>
              <a:buClr>
                <a:schemeClr val="dk1"/>
              </a:buClr>
              <a:buSzPts val="2000"/>
              <a:buNone/>
            </a:pPr>
            <a:r>
              <a:rPr lang="es-ES"/>
              <a:t>drwxrwxrwx	root	root	tmp</a:t>
            </a:r>
            <a:endParaRPr/>
          </a:p>
          <a:p>
            <a:pPr marL="914400" lvl="2" indent="0" algn="l" rtl="0">
              <a:lnSpc>
                <a:spcPct val="100000"/>
              </a:lnSpc>
              <a:spcBef>
                <a:spcPts val="400"/>
              </a:spcBef>
              <a:spcAft>
                <a:spcPts val="0"/>
              </a:spcAft>
              <a:buClr>
                <a:schemeClr val="dk1"/>
              </a:buClr>
              <a:buSzPts val="2000"/>
              <a:buNone/>
            </a:pPr>
            <a:endParaRPr/>
          </a:p>
          <a:p>
            <a:pPr marL="1143000" lvl="2" indent="-228600" algn="l" rtl="0">
              <a:lnSpc>
                <a:spcPct val="100000"/>
              </a:lnSpc>
              <a:spcBef>
                <a:spcPts val="400"/>
              </a:spcBef>
              <a:spcAft>
                <a:spcPts val="0"/>
              </a:spcAft>
              <a:buClr>
                <a:schemeClr val="dk1"/>
              </a:buClr>
              <a:buSzPts val="2000"/>
              <a:buChar char="•"/>
            </a:pPr>
            <a:r>
              <a:rPr lang="es-ES"/>
              <a:t>???</a:t>
            </a:r>
            <a:endParaRPr/>
          </a:p>
        </p:txBody>
      </p:sp>
      <p:sp>
        <p:nvSpPr>
          <p:cNvPr id="1140" name="Google Shape;1140;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102</a:t>
            </a:fld>
            <a:endParaRPr/>
          </a:p>
        </p:txBody>
      </p:sp>
      <p:sp>
        <p:nvSpPr>
          <p:cNvPr id="1141" name="Google Shape;1141;p42"/>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142" name="Google Shape;1142;p42"/>
          <p:cNvSpPr/>
          <p:nvPr/>
        </p:nvSpPr>
        <p:spPr>
          <a:xfrm>
            <a:off x="1187624" y="2924944"/>
            <a:ext cx="5112568" cy="576064"/>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p43"/>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s-ES" b="0" u="none"/>
              <a:t>Examples:</a:t>
            </a:r>
            <a:endParaRPr b="0" u="none"/>
          </a:p>
          <a:p>
            <a:pPr marL="742950" lvl="1" indent="-285750" algn="l" rtl="0">
              <a:lnSpc>
                <a:spcPct val="100000"/>
              </a:lnSpc>
              <a:spcBef>
                <a:spcPts val="400"/>
              </a:spcBef>
              <a:spcAft>
                <a:spcPts val="0"/>
              </a:spcAft>
              <a:buClr>
                <a:schemeClr val="dk1"/>
              </a:buClr>
              <a:buSzPts val="2000"/>
              <a:buChar char="–"/>
            </a:pPr>
            <a:r>
              <a:rPr lang="es-ES" b="0" u="none"/>
              <a:t>Example </a:t>
            </a:r>
            <a:r>
              <a:rPr lang="es-ES"/>
              <a:t>3</a:t>
            </a:r>
            <a:r>
              <a:rPr lang="es-ES" b="0" u="none"/>
              <a:t>: </a:t>
            </a:r>
            <a:r>
              <a:rPr lang="es-ES"/>
              <a:t>tmp </a:t>
            </a:r>
            <a:r>
              <a:rPr lang="es-ES" b="0" u="none"/>
              <a:t>:</a:t>
            </a:r>
            <a:endParaRPr/>
          </a:p>
          <a:p>
            <a:pPr marL="742950" lvl="1" indent="-158750" algn="l" rtl="0">
              <a:lnSpc>
                <a:spcPct val="100000"/>
              </a:lnSpc>
              <a:spcBef>
                <a:spcPts val="400"/>
              </a:spcBef>
              <a:spcAft>
                <a:spcPts val="0"/>
              </a:spcAft>
              <a:buClr>
                <a:schemeClr val="dk1"/>
              </a:buClr>
              <a:buSzPts val="2000"/>
              <a:buNone/>
            </a:pPr>
            <a:endParaRPr b="0" u="none"/>
          </a:p>
          <a:p>
            <a:pPr marL="914400" lvl="2" indent="0" algn="l" rtl="0">
              <a:lnSpc>
                <a:spcPct val="100000"/>
              </a:lnSpc>
              <a:spcBef>
                <a:spcPts val="400"/>
              </a:spcBef>
              <a:spcAft>
                <a:spcPts val="0"/>
              </a:spcAft>
              <a:buClr>
                <a:schemeClr val="dk1"/>
              </a:buClr>
              <a:buSzPts val="2000"/>
              <a:buNone/>
            </a:pPr>
            <a:r>
              <a:rPr lang="es-ES"/>
              <a:t>drwxrwxrwx	root	root	tmp</a:t>
            </a:r>
            <a:endParaRPr/>
          </a:p>
          <a:p>
            <a:pPr marL="914400" lvl="2" indent="0" algn="l" rtl="0">
              <a:lnSpc>
                <a:spcPct val="100000"/>
              </a:lnSpc>
              <a:spcBef>
                <a:spcPts val="400"/>
              </a:spcBef>
              <a:spcAft>
                <a:spcPts val="0"/>
              </a:spcAft>
              <a:buClr>
                <a:schemeClr val="dk1"/>
              </a:buClr>
              <a:buSzPts val="2000"/>
              <a:buNone/>
            </a:pPr>
            <a:endParaRPr/>
          </a:p>
          <a:p>
            <a:pPr marL="1143000" lvl="2" indent="-228600" algn="l" rtl="0">
              <a:lnSpc>
                <a:spcPct val="100000"/>
              </a:lnSpc>
              <a:spcBef>
                <a:spcPts val="400"/>
              </a:spcBef>
              <a:spcAft>
                <a:spcPts val="0"/>
              </a:spcAft>
              <a:buClr>
                <a:schemeClr val="dk1"/>
              </a:buClr>
              <a:buSzPts val="2000"/>
              <a:buChar char="•"/>
            </a:pPr>
            <a:r>
              <a:rPr lang="es-ES"/>
              <a:t>Everybody has permissions for everything</a:t>
            </a:r>
            <a:endParaRPr/>
          </a:p>
        </p:txBody>
      </p:sp>
      <p:sp>
        <p:nvSpPr>
          <p:cNvPr id="1149" name="Google Shape;1149;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103</a:t>
            </a:fld>
            <a:endParaRPr/>
          </a:p>
        </p:txBody>
      </p:sp>
      <p:sp>
        <p:nvSpPr>
          <p:cNvPr id="1150" name="Google Shape;1150;p43"/>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151" name="Google Shape;1151;p43"/>
          <p:cNvSpPr/>
          <p:nvPr/>
        </p:nvSpPr>
        <p:spPr>
          <a:xfrm>
            <a:off x="1187624" y="2924944"/>
            <a:ext cx="5112568" cy="576064"/>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sp>
        <p:nvSpPr>
          <p:cNvPr id="1157" name="Google Shape;1157;g344e220f39a_0_47"/>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158" name="Google Shape;1158;g344e220f39a_0_47"/>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ts val="2000"/>
              <a:buNone/>
            </a:pPr>
            <a:r>
              <a:rPr lang="es-ES" b="0" u="none"/>
              <a:t>To view file permissions and ownership on files and directories, use the </a:t>
            </a:r>
            <a:r>
              <a:rPr lang="es-ES" u="none"/>
              <a:t>ls -al</a:t>
            </a:r>
            <a:r>
              <a:rPr lang="es-ES" b="0" u="none"/>
              <a:t> command. For example:</a:t>
            </a:r>
            <a:endParaRPr/>
          </a:p>
          <a:p>
            <a:pPr marL="0" lvl="0" indent="0" algn="l" rtl="0">
              <a:lnSpc>
                <a:spcPct val="100000"/>
              </a:lnSpc>
              <a:spcBef>
                <a:spcPts val="400"/>
              </a:spcBef>
              <a:spcAft>
                <a:spcPts val="0"/>
              </a:spcAft>
              <a:buClr>
                <a:schemeClr val="dk1"/>
              </a:buClr>
              <a:buSzPts val="2000"/>
              <a:buNone/>
            </a:pPr>
            <a:endParaRPr b="0" u="none"/>
          </a:p>
          <a:p>
            <a:pPr marL="0" lvl="0" indent="0" algn="ctr" rtl="0">
              <a:lnSpc>
                <a:spcPct val="100000"/>
              </a:lnSpc>
              <a:spcBef>
                <a:spcPts val="400"/>
              </a:spcBef>
              <a:spcAft>
                <a:spcPts val="0"/>
              </a:spcAft>
              <a:buClr>
                <a:schemeClr val="dk1"/>
              </a:buClr>
              <a:buSzPts val="2000"/>
              <a:buNone/>
            </a:pPr>
            <a:r>
              <a:rPr lang="es-ES" b="0" u="none"/>
              <a:t>drwxr-xr-x 2 user user 4096 Jan  9 10:11 documents</a:t>
            </a:r>
            <a:endParaRPr b="0" u="none"/>
          </a:p>
          <a:p>
            <a:pPr marL="0" lvl="0" indent="0" algn="l" rtl="0">
              <a:lnSpc>
                <a:spcPct val="100000"/>
              </a:lnSpc>
              <a:spcBef>
                <a:spcPts val="400"/>
              </a:spcBef>
              <a:spcAft>
                <a:spcPts val="0"/>
              </a:spcAft>
              <a:buClr>
                <a:schemeClr val="dk1"/>
              </a:buClr>
              <a:buSzPts val="2000"/>
              <a:buNone/>
            </a:pPr>
            <a:endParaRPr b="0" u="none"/>
          </a:p>
          <a:p>
            <a:pPr marL="0" lvl="0" indent="0" algn="l" rtl="0">
              <a:lnSpc>
                <a:spcPct val="100000"/>
              </a:lnSpc>
              <a:spcBef>
                <a:spcPts val="400"/>
              </a:spcBef>
              <a:spcAft>
                <a:spcPts val="0"/>
              </a:spcAft>
              <a:buClr>
                <a:schemeClr val="dk1"/>
              </a:buClr>
              <a:buSzPts val="2000"/>
              <a:buNone/>
            </a:pPr>
            <a:r>
              <a:rPr lang="es-ES" b="0" u="none"/>
              <a:t>`drwxr-xr-x` are the permissions</a:t>
            </a:r>
            <a:endParaRPr/>
          </a:p>
          <a:p>
            <a:pPr marL="0" lvl="0" indent="0" algn="l" rtl="0">
              <a:lnSpc>
                <a:spcPct val="100000"/>
              </a:lnSpc>
              <a:spcBef>
                <a:spcPts val="400"/>
              </a:spcBef>
              <a:spcAft>
                <a:spcPts val="0"/>
              </a:spcAft>
              <a:buClr>
                <a:schemeClr val="dk1"/>
              </a:buClr>
              <a:buSzPts val="2000"/>
              <a:buNone/>
            </a:pPr>
            <a:r>
              <a:rPr lang="es-ES" b="0" u="none"/>
              <a:t>`2` is the number of files or directories</a:t>
            </a:r>
            <a:endParaRPr/>
          </a:p>
          <a:p>
            <a:pPr marL="0" lvl="0" indent="0" algn="l" rtl="0">
              <a:lnSpc>
                <a:spcPct val="100000"/>
              </a:lnSpc>
              <a:spcBef>
                <a:spcPts val="400"/>
              </a:spcBef>
              <a:spcAft>
                <a:spcPts val="0"/>
              </a:spcAft>
              <a:buClr>
                <a:schemeClr val="dk1"/>
              </a:buClr>
              <a:buSzPts val="2000"/>
              <a:buNone/>
            </a:pPr>
            <a:r>
              <a:rPr lang="es-ES" b="0" u="none"/>
              <a:t>`user` is the owner</a:t>
            </a:r>
            <a:endParaRPr/>
          </a:p>
          <a:p>
            <a:pPr marL="0" lvl="0" indent="0" algn="l" rtl="0">
              <a:lnSpc>
                <a:spcPct val="100000"/>
              </a:lnSpc>
              <a:spcBef>
                <a:spcPts val="400"/>
              </a:spcBef>
              <a:spcAft>
                <a:spcPts val="0"/>
              </a:spcAft>
              <a:buClr>
                <a:schemeClr val="dk1"/>
              </a:buClr>
              <a:buSzPts val="2000"/>
              <a:buNone/>
            </a:pPr>
            <a:r>
              <a:rPr lang="es-ES" b="0" u="none"/>
              <a:t>`user` is the group</a:t>
            </a:r>
            <a:endParaRPr/>
          </a:p>
          <a:p>
            <a:pPr marL="0" lvl="0" indent="0" algn="l" rtl="0">
              <a:lnSpc>
                <a:spcPct val="100000"/>
              </a:lnSpc>
              <a:spcBef>
                <a:spcPts val="400"/>
              </a:spcBef>
              <a:spcAft>
                <a:spcPts val="0"/>
              </a:spcAft>
              <a:buClr>
                <a:schemeClr val="dk1"/>
              </a:buClr>
              <a:buSzPts val="2000"/>
              <a:buNone/>
            </a:pPr>
            <a:r>
              <a:rPr lang="es-ES" b="0" u="none"/>
              <a:t>`4096` is the size in bytes</a:t>
            </a:r>
            <a:endParaRPr/>
          </a:p>
          <a:p>
            <a:pPr marL="0" lvl="0" indent="0" algn="l" rtl="0">
              <a:lnSpc>
                <a:spcPct val="100000"/>
              </a:lnSpc>
              <a:spcBef>
                <a:spcPts val="400"/>
              </a:spcBef>
              <a:spcAft>
                <a:spcPts val="0"/>
              </a:spcAft>
              <a:buClr>
                <a:schemeClr val="dk1"/>
              </a:buClr>
              <a:buSzPts val="2000"/>
              <a:buNone/>
            </a:pPr>
            <a:r>
              <a:rPr lang="es-ES" b="0" u="none"/>
              <a:t>`Jan  9 10:11` is the date/time of last access</a:t>
            </a:r>
            <a:endParaRPr/>
          </a:p>
          <a:p>
            <a:pPr marL="0" lvl="0" indent="0" algn="l" rtl="0">
              <a:lnSpc>
                <a:spcPct val="100000"/>
              </a:lnSpc>
              <a:spcBef>
                <a:spcPts val="400"/>
              </a:spcBef>
              <a:spcAft>
                <a:spcPts val="0"/>
              </a:spcAft>
              <a:buClr>
                <a:schemeClr val="dk1"/>
              </a:buClr>
              <a:buSzPts val="2000"/>
              <a:buNone/>
            </a:pPr>
            <a:r>
              <a:rPr lang="es-ES" b="0" u="none"/>
              <a:t>`documents` is the directory</a:t>
            </a:r>
            <a:endParaRPr b="0" u="none"/>
          </a:p>
        </p:txBody>
      </p:sp>
      <p:sp>
        <p:nvSpPr>
          <p:cNvPr id="1159" name="Google Shape;1159;g344e220f39a_0_4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104</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sp>
        <p:nvSpPr>
          <p:cNvPr id="1165" name="Google Shape;1165;p45"/>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166" name="Google Shape;1166;p45"/>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b="0" u="none"/>
              <a:t>Following previous example:</a:t>
            </a:r>
            <a:endParaRPr/>
          </a:p>
          <a:p>
            <a:pPr marL="0" lvl="0" indent="0" algn="l" rtl="0">
              <a:lnSpc>
                <a:spcPct val="100000"/>
              </a:lnSpc>
              <a:spcBef>
                <a:spcPts val="400"/>
              </a:spcBef>
              <a:spcAft>
                <a:spcPts val="0"/>
              </a:spcAft>
              <a:buClr>
                <a:schemeClr val="dk1"/>
              </a:buClr>
              <a:buSzPts val="2000"/>
              <a:buNone/>
            </a:pPr>
            <a:endParaRPr b="0" u="none"/>
          </a:p>
          <a:p>
            <a:pPr marL="0" lvl="0" indent="0" algn="ctr" rtl="0">
              <a:lnSpc>
                <a:spcPct val="100000"/>
              </a:lnSpc>
              <a:spcBef>
                <a:spcPts val="400"/>
              </a:spcBef>
              <a:spcAft>
                <a:spcPts val="0"/>
              </a:spcAft>
              <a:buClr>
                <a:schemeClr val="dk1"/>
              </a:buClr>
              <a:buSzPts val="2000"/>
              <a:buNone/>
            </a:pPr>
            <a:r>
              <a:rPr lang="es-ES" b="0" u="none"/>
              <a:t>drwxrw-r-- 2 user user 4096 Jan  9 10:11 documents</a:t>
            </a:r>
            <a:endParaRPr b="0" u="none"/>
          </a:p>
          <a:p>
            <a:pPr marL="0" lvl="0" indent="0" algn="l" rtl="0">
              <a:lnSpc>
                <a:spcPct val="100000"/>
              </a:lnSpc>
              <a:spcBef>
                <a:spcPts val="400"/>
              </a:spcBef>
              <a:spcAft>
                <a:spcPts val="0"/>
              </a:spcAft>
              <a:buClr>
                <a:schemeClr val="dk1"/>
              </a:buClr>
              <a:buSzPts val="2000"/>
              <a:buNone/>
            </a:pPr>
            <a:endParaRPr b="0" u="none"/>
          </a:p>
          <a:p>
            <a:pPr marL="0" lvl="0" indent="0" algn="l" rtl="0">
              <a:lnSpc>
                <a:spcPct val="100000"/>
              </a:lnSpc>
              <a:spcBef>
                <a:spcPts val="400"/>
              </a:spcBef>
              <a:spcAft>
                <a:spcPts val="0"/>
              </a:spcAft>
              <a:buClr>
                <a:schemeClr val="dk1"/>
              </a:buClr>
              <a:buSzPts val="2000"/>
              <a:buNone/>
            </a:pPr>
            <a:endParaRPr b="0" u="none"/>
          </a:p>
          <a:p>
            <a:pPr marL="0" lvl="0" indent="0" algn="l" rtl="0">
              <a:lnSpc>
                <a:spcPct val="100000"/>
              </a:lnSpc>
              <a:spcBef>
                <a:spcPts val="400"/>
              </a:spcBef>
              <a:spcAft>
                <a:spcPts val="0"/>
              </a:spcAft>
              <a:buClr>
                <a:schemeClr val="dk1"/>
              </a:buClr>
              <a:buSzPts val="2000"/>
              <a:buNone/>
            </a:pPr>
            <a:r>
              <a:rPr lang="es-ES" b="0" u="none"/>
              <a:t>?????</a:t>
            </a:r>
            <a:endParaRPr/>
          </a:p>
        </p:txBody>
      </p:sp>
      <p:sp>
        <p:nvSpPr>
          <p:cNvPr id="1167" name="Google Shape;1167;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105</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p46"/>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5.2. Linux Permissions</a:t>
            </a:r>
            <a:endParaRPr/>
          </a:p>
        </p:txBody>
      </p:sp>
      <p:sp>
        <p:nvSpPr>
          <p:cNvPr id="1174" name="Google Shape;1174;p46"/>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b="0" u="none"/>
              <a:t>Following previous example:</a:t>
            </a:r>
            <a:endParaRPr/>
          </a:p>
          <a:p>
            <a:pPr marL="0" lvl="0" indent="0" algn="l" rtl="0">
              <a:lnSpc>
                <a:spcPct val="100000"/>
              </a:lnSpc>
              <a:spcBef>
                <a:spcPts val="400"/>
              </a:spcBef>
              <a:spcAft>
                <a:spcPts val="0"/>
              </a:spcAft>
              <a:buClr>
                <a:schemeClr val="dk1"/>
              </a:buClr>
              <a:buSzPts val="2000"/>
              <a:buNone/>
            </a:pPr>
            <a:endParaRPr b="0" u="none"/>
          </a:p>
          <a:p>
            <a:pPr marL="0" lvl="0" indent="0" algn="ctr" rtl="0">
              <a:lnSpc>
                <a:spcPct val="100000"/>
              </a:lnSpc>
              <a:spcBef>
                <a:spcPts val="400"/>
              </a:spcBef>
              <a:spcAft>
                <a:spcPts val="0"/>
              </a:spcAft>
              <a:buClr>
                <a:schemeClr val="dk1"/>
              </a:buClr>
              <a:buSzPts val="2000"/>
              <a:buNone/>
            </a:pPr>
            <a:r>
              <a:rPr lang="es-ES" b="0" u="none"/>
              <a:t>drwxrw-r-- 2 user user 4096 Jan  9 10:11 documents</a:t>
            </a:r>
            <a:endParaRPr b="0" u="none"/>
          </a:p>
          <a:p>
            <a:pPr marL="0" lvl="0" indent="0" algn="l" rtl="0">
              <a:lnSpc>
                <a:spcPct val="100000"/>
              </a:lnSpc>
              <a:spcBef>
                <a:spcPts val="400"/>
              </a:spcBef>
              <a:spcAft>
                <a:spcPts val="0"/>
              </a:spcAft>
              <a:buClr>
                <a:schemeClr val="dk1"/>
              </a:buClr>
              <a:buSzPts val="2000"/>
              <a:buNone/>
            </a:pPr>
            <a:endParaRPr b="0" u="none"/>
          </a:p>
          <a:p>
            <a:pPr marL="0" lvl="0" indent="0" algn="l" rtl="0">
              <a:lnSpc>
                <a:spcPct val="100000"/>
              </a:lnSpc>
              <a:spcBef>
                <a:spcPts val="400"/>
              </a:spcBef>
              <a:spcAft>
                <a:spcPts val="0"/>
              </a:spcAft>
              <a:buClr>
                <a:schemeClr val="dk1"/>
              </a:buClr>
              <a:buSzPts val="2000"/>
              <a:buNone/>
            </a:pPr>
            <a:r>
              <a:rPr lang="es-ES" b="0" u="none"/>
              <a:t>Permissions are listed in the first 10 characters-dash section. The section can be read as follows: </a:t>
            </a:r>
            <a:endParaRPr/>
          </a:p>
          <a:p>
            <a:pPr marL="0" lvl="0" indent="0" algn="l" rtl="0">
              <a:lnSpc>
                <a:spcPct val="100000"/>
              </a:lnSpc>
              <a:spcBef>
                <a:spcPts val="400"/>
              </a:spcBef>
              <a:spcAft>
                <a:spcPts val="0"/>
              </a:spcAft>
              <a:buClr>
                <a:schemeClr val="dk1"/>
              </a:buClr>
              <a:buSzPts val="2000"/>
              <a:buNone/>
            </a:pPr>
            <a:endParaRPr b="0" u="none"/>
          </a:p>
          <a:p>
            <a:pPr marL="0" lvl="0" indent="0" algn="l" rtl="0">
              <a:lnSpc>
                <a:spcPct val="100000"/>
              </a:lnSpc>
              <a:spcBef>
                <a:spcPts val="400"/>
              </a:spcBef>
              <a:spcAft>
                <a:spcPts val="0"/>
              </a:spcAft>
              <a:buClr>
                <a:schemeClr val="dk1"/>
              </a:buClr>
              <a:buSzPts val="2000"/>
              <a:buNone/>
            </a:pPr>
            <a:r>
              <a:rPr lang="es-ES" b="0" u="none"/>
              <a:t>`d` is a directory (`-` for files)</a:t>
            </a:r>
            <a:endParaRPr/>
          </a:p>
          <a:p>
            <a:pPr marL="0" lvl="0" indent="0" algn="l" rtl="0">
              <a:lnSpc>
                <a:spcPct val="100000"/>
              </a:lnSpc>
              <a:spcBef>
                <a:spcPts val="400"/>
              </a:spcBef>
              <a:spcAft>
                <a:spcPts val="0"/>
              </a:spcAft>
              <a:buClr>
                <a:schemeClr val="dk1"/>
              </a:buClr>
              <a:buSzPts val="2000"/>
              <a:buNone/>
            </a:pPr>
            <a:r>
              <a:rPr lang="es-ES" b="0" u="none"/>
              <a:t>`rwx` the user has read, write, and execute permissions</a:t>
            </a:r>
            <a:endParaRPr/>
          </a:p>
          <a:p>
            <a:pPr marL="0" lvl="0" indent="0" algn="l" rtl="0">
              <a:lnSpc>
                <a:spcPct val="100000"/>
              </a:lnSpc>
              <a:spcBef>
                <a:spcPts val="400"/>
              </a:spcBef>
              <a:spcAft>
                <a:spcPts val="0"/>
              </a:spcAft>
              <a:buClr>
                <a:schemeClr val="dk1"/>
              </a:buClr>
              <a:buSzPts val="2000"/>
              <a:buNone/>
            </a:pPr>
            <a:r>
              <a:rPr lang="es-ES" b="0" u="none"/>
              <a:t>`rw-` the group has read and write permissions</a:t>
            </a:r>
            <a:endParaRPr/>
          </a:p>
          <a:p>
            <a:pPr marL="0" lvl="0" indent="0" algn="l" rtl="0">
              <a:lnSpc>
                <a:spcPct val="100000"/>
              </a:lnSpc>
              <a:spcBef>
                <a:spcPts val="400"/>
              </a:spcBef>
              <a:spcAft>
                <a:spcPts val="0"/>
              </a:spcAft>
              <a:buClr>
                <a:schemeClr val="dk1"/>
              </a:buClr>
              <a:buSzPts val="2000"/>
              <a:buNone/>
            </a:pPr>
            <a:r>
              <a:rPr lang="es-ES" b="0" u="none"/>
              <a:t>`r--` all others have read only permissions</a:t>
            </a:r>
            <a:endParaRPr b="0" u="none"/>
          </a:p>
        </p:txBody>
      </p:sp>
      <p:sp>
        <p:nvSpPr>
          <p:cNvPr id="1175" name="Google Shape;1175;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106</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g344e220f39a_0_54"/>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 Linux users and privileges</a:t>
            </a:r>
            <a:endParaRPr/>
          </a:p>
        </p:txBody>
      </p:sp>
      <p:sp>
        <p:nvSpPr>
          <p:cNvPr id="1182" name="Google Shape;1182;g344e220f39a_0_54"/>
          <p:cNvSpPr txBox="1">
            <a:spLocks noGrp="1"/>
          </p:cNvSpPr>
          <p:nvPr>
            <p:ph type="body" idx="1"/>
          </p:nvPr>
        </p:nvSpPr>
        <p:spPr>
          <a:xfrm>
            <a:off x="457200" y="1916832"/>
            <a:ext cx="86868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400"/>
              </a:spcBef>
              <a:spcAft>
                <a:spcPts val="0"/>
              </a:spcAft>
              <a:buClr>
                <a:schemeClr val="dk1"/>
              </a:buClr>
              <a:buSzPts val="2000"/>
              <a:buAutoNum type="arabicPeriod"/>
            </a:pPr>
            <a:r>
              <a:rPr lang="es-ES" b="0" u="none"/>
              <a:t>Users</a:t>
            </a:r>
            <a:endParaRPr b="0" u="none"/>
          </a:p>
          <a:p>
            <a:pPr marL="342900" lvl="0" indent="-330200" algn="l" rtl="0">
              <a:lnSpc>
                <a:spcPct val="150000"/>
              </a:lnSpc>
              <a:spcBef>
                <a:spcPts val="400"/>
              </a:spcBef>
              <a:spcAft>
                <a:spcPts val="0"/>
              </a:spcAft>
              <a:buSzPts val="1800"/>
              <a:buAutoNum type="arabicPeriod"/>
            </a:pPr>
            <a:r>
              <a:rPr lang="es-ES" b="0" u="none"/>
              <a:t>Permissions</a:t>
            </a:r>
            <a:endParaRPr b="0" u="none"/>
          </a:p>
          <a:p>
            <a:pPr marL="342900" lvl="0" indent="-330200" algn="l" rtl="0">
              <a:lnSpc>
                <a:spcPct val="150000"/>
              </a:lnSpc>
              <a:spcBef>
                <a:spcPts val="400"/>
              </a:spcBef>
              <a:spcAft>
                <a:spcPts val="0"/>
              </a:spcAft>
              <a:buSzPts val="1800"/>
              <a:buAutoNum type="arabicPeriod"/>
            </a:pPr>
            <a:r>
              <a:rPr lang="es-ES" b="0" u="none"/>
              <a:t>Change permissions</a:t>
            </a:r>
            <a:endParaRPr b="0" u="none"/>
          </a:p>
        </p:txBody>
      </p:sp>
      <p:sp>
        <p:nvSpPr>
          <p:cNvPr id="1183" name="Google Shape;1183;g344e220f39a_0_5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107</a:t>
            </a:fld>
            <a:endParaRPr/>
          </a:p>
        </p:txBody>
      </p:sp>
      <p:sp>
        <p:nvSpPr>
          <p:cNvPr id="1184" name="Google Shape;1184;g344e220f39a_0_54"/>
          <p:cNvSpPr/>
          <p:nvPr/>
        </p:nvSpPr>
        <p:spPr>
          <a:xfrm>
            <a:off x="391775" y="2953814"/>
            <a:ext cx="3880200" cy="557400"/>
          </a:xfrm>
          <a:prstGeom prst="rect">
            <a:avLst/>
          </a:prstGeom>
          <a:noFill/>
          <a:ln w="381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sp>
        <p:nvSpPr>
          <p:cNvPr id="1190" name="Google Shape;1190;p47"/>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5.3. Modify Permissions</a:t>
            </a:r>
            <a:endParaRPr/>
          </a:p>
        </p:txBody>
      </p:sp>
      <p:sp>
        <p:nvSpPr>
          <p:cNvPr id="1191" name="Google Shape;1191;p47"/>
          <p:cNvSpPr txBox="1">
            <a:spLocks noGrp="1"/>
          </p:cNvSpPr>
          <p:nvPr>
            <p:ph type="body" idx="1"/>
          </p:nvPr>
        </p:nvSpPr>
        <p:spPr>
          <a:xfrm>
            <a:off x="457200" y="1916832"/>
            <a:ext cx="8229600" cy="420933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s-ES" b="0" u="none"/>
              <a:t>You can only change permission on files you own, while root can change permissions on any file of the system.</a:t>
            </a:r>
            <a:endParaRPr b="0" u="none"/>
          </a:p>
          <a:p>
            <a:pPr marL="0" lvl="0" indent="0" algn="l" rtl="0">
              <a:lnSpc>
                <a:spcPct val="100000"/>
              </a:lnSpc>
              <a:spcBef>
                <a:spcPts val="400"/>
              </a:spcBef>
              <a:spcAft>
                <a:spcPts val="0"/>
              </a:spcAft>
              <a:buClr>
                <a:schemeClr val="dk1"/>
              </a:buClr>
              <a:buSzPts val="2000"/>
              <a:buNone/>
            </a:pPr>
            <a:r>
              <a:rPr lang="es-ES" b="0" u="none"/>
              <a:t>To change permissions, use the commands:</a:t>
            </a:r>
            <a:endParaRPr/>
          </a:p>
          <a:p>
            <a:pPr marL="342900" lvl="0" indent="-342900" algn="l" rtl="0">
              <a:lnSpc>
                <a:spcPct val="100000"/>
              </a:lnSpc>
              <a:spcBef>
                <a:spcPts val="400"/>
              </a:spcBef>
              <a:spcAft>
                <a:spcPts val="0"/>
              </a:spcAft>
              <a:buClr>
                <a:schemeClr val="dk1"/>
              </a:buClr>
              <a:buSzPts val="2000"/>
              <a:buChar char="•"/>
            </a:pPr>
            <a:r>
              <a:rPr lang="es-ES" b="0" u="none"/>
              <a:t>`chmod` – change permissions</a:t>
            </a:r>
            <a:endParaRPr/>
          </a:p>
          <a:p>
            <a:pPr marL="0" lvl="0" indent="0" algn="l" rtl="0">
              <a:lnSpc>
                <a:spcPct val="100000"/>
              </a:lnSpc>
              <a:spcBef>
                <a:spcPts val="400"/>
              </a:spcBef>
              <a:spcAft>
                <a:spcPts val="0"/>
              </a:spcAft>
              <a:buClr>
                <a:schemeClr val="dk1"/>
              </a:buClr>
              <a:buSzPts val="2000"/>
              <a:buNone/>
            </a:pPr>
            <a:endParaRPr/>
          </a:p>
        </p:txBody>
      </p:sp>
      <p:sp>
        <p:nvSpPr>
          <p:cNvPr id="1192" name="Google Shape;1192;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108</a:t>
            </a:fld>
            <a:endParaRPr/>
          </a:p>
        </p:txBody>
      </p:sp>
      <p:pic>
        <p:nvPicPr>
          <p:cNvPr id="1193" name="Google Shape;1193;p47"/>
          <p:cNvPicPr preferRelativeResize="0"/>
          <p:nvPr/>
        </p:nvPicPr>
        <p:blipFill rotWithShape="1">
          <a:blip r:embed="rId3">
            <a:alphaModFix/>
          </a:blip>
          <a:srcRect/>
          <a:stretch/>
        </p:blipFill>
        <p:spPr>
          <a:xfrm>
            <a:off x="171450" y="3285625"/>
            <a:ext cx="4476750" cy="3486150"/>
          </a:xfrm>
          <a:prstGeom prst="rect">
            <a:avLst/>
          </a:prstGeom>
          <a:noFill/>
          <a:ln>
            <a:noFill/>
          </a:ln>
        </p:spPr>
      </p:pic>
      <p:sp>
        <p:nvSpPr>
          <p:cNvPr id="1194" name="Google Shape;1194;p47"/>
          <p:cNvSpPr txBox="1">
            <a:spLocks noGrp="1"/>
          </p:cNvSpPr>
          <p:nvPr>
            <p:ph type="body" idx="1"/>
          </p:nvPr>
        </p:nvSpPr>
        <p:spPr>
          <a:xfrm>
            <a:off x="4648200" y="3361825"/>
            <a:ext cx="4702500" cy="2992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400"/>
              </a:spcBef>
              <a:spcAft>
                <a:spcPts val="0"/>
              </a:spcAft>
              <a:buSzPts val="1800"/>
              <a:buNone/>
            </a:pPr>
            <a:r>
              <a:rPr lang="es-ES" b="0" u="none"/>
              <a:t>`rwx` to owner (7 = 4 + 2 + 1)</a:t>
            </a:r>
            <a:endParaRPr b="0" u="none"/>
          </a:p>
          <a:p>
            <a:pPr marL="0" lvl="0" indent="0" algn="l" rtl="0">
              <a:lnSpc>
                <a:spcPct val="100000"/>
              </a:lnSpc>
              <a:spcBef>
                <a:spcPts val="400"/>
              </a:spcBef>
              <a:spcAft>
                <a:spcPts val="0"/>
              </a:spcAft>
              <a:buSzPts val="1800"/>
              <a:buNone/>
            </a:pPr>
            <a:r>
              <a:rPr lang="es-ES" b="0" u="none"/>
              <a:t>`rx` to group (5 = 4 + 0 + 1)</a:t>
            </a:r>
            <a:endParaRPr b="0" u="none"/>
          </a:p>
          <a:p>
            <a:pPr marL="0" lvl="0" indent="0" algn="l" rtl="0">
              <a:lnSpc>
                <a:spcPct val="100000"/>
              </a:lnSpc>
              <a:spcBef>
                <a:spcPts val="400"/>
              </a:spcBef>
              <a:spcAft>
                <a:spcPts val="0"/>
              </a:spcAft>
              <a:buSzPts val="1800"/>
              <a:buNone/>
            </a:pPr>
            <a:r>
              <a:rPr lang="es-ES" b="0" u="none"/>
              <a:t>`rx` to others (5 = 4 + 0 + 1)</a:t>
            </a:r>
            <a:endParaRPr b="0" u="none"/>
          </a:p>
          <a:p>
            <a:pPr marL="0" lvl="0" indent="0" algn="l" rtl="0">
              <a:lnSpc>
                <a:spcPct val="100000"/>
              </a:lnSpc>
              <a:spcBef>
                <a:spcPts val="400"/>
              </a:spcBef>
              <a:spcAft>
                <a:spcPts val="0"/>
              </a:spcAft>
              <a:buClr>
                <a:schemeClr val="dk1"/>
              </a:buClr>
              <a:buSzPts val="2000"/>
              <a:buNone/>
            </a:pPr>
            <a:endParaRPr b="0" u="none"/>
          </a:p>
          <a:p>
            <a:pPr marL="0" lvl="0" indent="0" algn="l" rtl="0">
              <a:lnSpc>
                <a:spcPct val="100000"/>
              </a:lnSpc>
              <a:spcBef>
                <a:spcPts val="400"/>
              </a:spcBef>
              <a:spcAft>
                <a:spcPts val="0"/>
              </a:spcAft>
              <a:buClr>
                <a:schemeClr val="dk1"/>
              </a:buClr>
              <a:buSzPts val="2000"/>
              <a:buNone/>
            </a:pPr>
            <a:endParaRPr b="0" u="none"/>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g3715fd0d4a0_3_253"/>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5.3. Modify Permissions</a:t>
            </a:r>
            <a:endParaRPr/>
          </a:p>
        </p:txBody>
      </p:sp>
      <p:sp>
        <p:nvSpPr>
          <p:cNvPr id="1201" name="Google Shape;1201;g3715fd0d4a0_3_253"/>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400"/>
              </a:spcBef>
              <a:spcAft>
                <a:spcPts val="0"/>
              </a:spcAft>
              <a:buClr>
                <a:schemeClr val="dk1"/>
              </a:buClr>
              <a:buSzPts val="2000"/>
              <a:buChar char="•"/>
            </a:pPr>
            <a:r>
              <a:rPr lang="es-ES" b="0" u="none"/>
              <a:t>`chown` - change owner</a:t>
            </a:r>
            <a:endParaRPr/>
          </a:p>
          <a:p>
            <a:pPr marL="0" lvl="0" indent="0" algn="l" rtl="0">
              <a:lnSpc>
                <a:spcPct val="100000"/>
              </a:lnSpc>
              <a:spcBef>
                <a:spcPts val="400"/>
              </a:spcBef>
              <a:spcAft>
                <a:spcPts val="0"/>
              </a:spcAft>
              <a:buClr>
                <a:schemeClr val="dk1"/>
              </a:buClr>
              <a:buSzPts val="2000"/>
              <a:buNone/>
            </a:pPr>
            <a:endParaRPr/>
          </a:p>
        </p:txBody>
      </p:sp>
      <p:sp>
        <p:nvSpPr>
          <p:cNvPr id="1202" name="Google Shape;1202;g3715fd0d4a0_3_25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109</a:t>
            </a:fld>
            <a:endParaRPr/>
          </a:p>
        </p:txBody>
      </p:sp>
      <p:pic>
        <p:nvPicPr>
          <p:cNvPr id="1203" name="Google Shape;1203;g3715fd0d4a0_3_253"/>
          <p:cNvPicPr preferRelativeResize="0"/>
          <p:nvPr/>
        </p:nvPicPr>
        <p:blipFill rotWithShape="1">
          <a:blip r:embed="rId3">
            <a:alphaModFix/>
          </a:blip>
          <a:srcRect/>
          <a:stretch/>
        </p:blipFill>
        <p:spPr>
          <a:xfrm>
            <a:off x="1826402" y="2443427"/>
            <a:ext cx="5323783" cy="391292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g3715fd0d4a0_3_27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5.3. Modify Permissions</a:t>
            </a:r>
            <a:endParaRPr/>
          </a:p>
        </p:txBody>
      </p:sp>
      <p:sp>
        <p:nvSpPr>
          <p:cNvPr id="1210" name="Google Shape;1210;g3715fd0d4a0_3_270"/>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400"/>
              </a:spcBef>
              <a:spcAft>
                <a:spcPts val="0"/>
              </a:spcAft>
              <a:buClr>
                <a:schemeClr val="dk1"/>
              </a:buClr>
              <a:buSzPts val="2000"/>
              <a:buChar char="•"/>
            </a:pPr>
            <a:r>
              <a:rPr lang="es-ES" b="0" u="none"/>
              <a:t>`chown` - change owner</a:t>
            </a:r>
            <a:endParaRPr/>
          </a:p>
          <a:p>
            <a:pPr marL="0" lvl="0" indent="0" algn="l" rtl="0">
              <a:lnSpc>
                <a:spcPct val="100000"/>
              </a:lnSpc>
              <a:spcBef>
                <a:spcPts val="400"/>
              </a:spcBef>
              <a:spcAft>
                <a:spcPts val="0"/>
              </a:spcAft>
              <a:buClr>
                <a:schemeClr val="dk1"/>
              </a:buClr>
              <a:buSzPts val="2000"/>
              <a:buNone/>
            </a:pPr>
            <a:endParaRPr/>
          </a:p>
        </p:txBody>
      </p:sp>
      <p:sp>
        <p:nvSpPr>
          <p:cNvPr id="1211" name="Google Shape;1211;g3715fd0d4a0_3_27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110</a:t>
            </a:fld>
            <a:endParaRPr/>
          </a:p>
        </p:txBody>
      </p:sp>
      <p:pic>
        <p:nvPicPr>
          <p:cNvPr id="1212" name="Google Shape;1212;g3715fd0d4a0_3_270"/>
          <p:cNvPicPr preferRelativeResize="0"/>
          <p:nvPr/>
        </p:nvPicPr>
        <p:blipFill rotWithShape="1">
          <a:blip r:embed="rId3">
            <a:alphaModFix/>
          </a:blip>
          <a:srcRect/>
          <a:stretch/>
        </p:blipFill>
        <p:spPr>
          <a:xfrm>
            <a:off x="1826402" y="2443427"/>
            <a:ext cx="5323783" cy="391292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217"/>
        <p:cNvGrpSpPr/>
        <p:nvPr/>
      </p:nvGrpSpPr>
      <p:grpSpPr>
        <a:xfrm>
          <a:off x="0" y="0"/>
          <a:ext cx="0" cy="0"/>
          <a:chOff x="0" y="0"/>
          <a:chExt cx="0" cy="0"/>
        </a:xfrm>
      </p:grpSpPr>
      <p:sp>
        <p:nvSpPr>
          <p:cNvPr id="1218" name="Google Shape;1218;g3715fd0d4a0_3_260"/>
          <p:cNvSpPr txBox="1">
            <a:spLocks noGrp="1"/>
          </p:cNvSpPr>
          <p:nvPr>
            <p:ph type="title"/>
          </p:nvPr>
        </p:nvSpPr>
        <p:spPr>
          <a:xfrm>
            <a:off x="457200" y="692696"/>
            <a:ext cx="8229600" cy="79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5.3. Modify Permissions</a:t>
            </a:r>
            <a:endParaRPr/>
          </a:p>
        </p:txBody>
      </p:sp>
      <p:sp>
        <p:nvSpPr>
          <p:cNvPr id="1219" name="Google Shape;1219;g3715fd0d4a0_3_260"/>
          <p:cNvSpPr txBox="1">
            <a:spLocks noGrp="1"/>
          </p:cNvSpPr>
          <p:nvPr>
            <p:ph type="body" idx="1"/>
          </p:nvPr>
        </p:nvSpPr>
        <p:spPr>
          <a:xfrm>
            <a:off x="457200" y="1916832"/>
            <a:ext cx="8229600" cy="42093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00000"/>
              </a:lnSpc>
              <a:spcBef>
                <a:spcPts val="400"/>
              </a:spcBef>
              <a:spcAft>
                <a:spcPts val="0"/>
              </a:spcAft>
              <a:buClr>
                <a:schemeClr val="dk1"/>
              </a:buClr>
              <a:buSzPct val="100000"/>
              <a:buNone/>
            </a:pPr>
            <a:r>
              <a:rPr lang="es-ES" b="0" u="none"/>
              <a:t>Permissions are usually managed in octal format</a:t>
            </a:r>
            <a:endParaRPr b="0" u="none"/>
          </a:p>
          <a:p>
            <a:pPr marL="0" lvl="0" indent="0" algn="l" rtl="0">
              <a:lnSpc>
                <a:spcPct val="100000"/>
              </a:lnSpc>
              <a:spcBef>
                <a:spcPts val="400"/>
              </a:spcBef>
              <a:spcAft>
                <a:spcPts val="0"/>
              </a:spcAft>
              <a:buClr>
                <a:schemeClr val="dk1"/>
              </a:buClr>
              <a:buSzPct val="100000"/>
              <a:buNone/>
            </a:pPr>
            <a:endParaRPr b="0" u="none"/>
          </a:p>
          <a:p>
            <a:pPr marL="0" lvl="0" indent="0" algn="l" rtl="0">
              <a:lnSpc>
                <a:spcPct val="100000"/>
              </a:lnSpc>
              <a:spcBef>
                <a:spcPts val="400"/>
              </a:spcBef>
              <a:spcAft>
                <a:spcPts val="0"/>
              </a:spcAft>
              <a:buClr>
                <a:schemeClr val="dk1"/>
              </a:buClr>
              <a:buSzPct val="100000"/>
              <a:buNone/>
            </a:pPr>
            <a:r>
              <a:rPr lang="es-ES" b="0" u="none"/>
              <a:t>Every 3 characters group belonging to a set of permissions translates to a number ranging from 0 (---) to 7 (rwx), where</a:t>
            </a:r>
            <a:endParaRPr b="0" u="none"/>
          </a:p>
          <a:p>
            <a:pPr marL="457200" lvl="0" indent="-334327" algn="l" rtl="0">
              <a:lnSpc>
                <a:spcPct val="100000"/>
              </a:lnSpc>
              <a:spcBef>
                <a:spcPts val="400"/>
              </a:spcBef>
              <a:spcAft>
                <a:spcPts val="0"/>
              </a:spcAft>
              <a:buSzPct val="90000"/>
              <a:buChar char="•"/>
            </a:pPr>
            <a:r>
              <a:rPr lang="es-ES" b="0" u="none"/>
              <a:t>r=4</a:t>
            </a:r>
            <a:endParaRPr b="0" u="none"/>
          </a:p>
          <a:p>
            <a:pPr marL="457200" lvl="0" indent="-334327" algn="l" rtl="0">
              <a:lnSpc>
                <a:spcPct val="100000"/>
              </a:lnSpc>
              <a:spcBef>
                <a:spcPts val="0"/>
              </a:spcBef>
              <a:spcAft>
                <a:spcPts val="0"/>
              </a:spcAft>
              <a:buSzPct val="90000"/>
              <a:buChar char="•"/>
            </a:pPr>
            <a:r>
              <a:rPr lang="es-ES" b="0" u="none"/>
              <a:t>w=2</a:t>
            </a:r>
            <a:endParaRPr b="0" u="none"/>
          </a:p>
          <a:p>
            <a:pPr marL="457200" lvl="0" indent="-334327" algn="l" rtl="0">
              <a:lnSpc>
                <a:spcPct val="100000"/>
              </a:lnSpc>
              <a:spcBef>
                <a:spcPts val="0"/>
              </a:spcBef>
              <a:spcAft>
                <a:spcPts val="0"/>
              </a:spcAft>
              <a:buSzPct val="90000"/>
              <a:buChar char="•"/>
            </a:pPr>
            <a:r>
              <a:rPr lang="es-ES" b="0" u="none"/>
              <a:t>x=1</a:t>
            </a:r>
            <a:endParaRPr b="0" u="none"/>
          </a:p>
          <a:p>
            <a:pPr marL="0" lvl="0" indent="0" algn="l" rtl="0">
              <a:lnSpc>
                <a:spcPct val="100000"/>
              </a:lnSpc>
              <a:spcBef>
                <a:spcPts val="400"/>
              </a:spcBef>
              <a:spcAft>
                <a:spcPts val="0"/>
              </a:spcAft>
              <a:buSzPct val="97297"/>
              <a:buNone/>
            </a:pPr>
            <a:endParaRPr b="0" u="none"/>
          </a:p>
          <a:p>
            <a:pPr marL="0" lvl="0" indent="0" algn="l" rtl="0">
              <a:lnSpc>
                <a:spcPct val="100000"/>
              </a:lnSpc>
              <a:spcBef>
                <a:spcPts val="400"/>
              </a:spcBef>
              <a:spcAft>
                <a:spcPts val="0"/>
              </a:spcAft>
              <a:buSzPct val="97297"/>
              <a:buNone/>
            </a:pPr>
            <a:r>
              <a:rPr lang="es-ES" b="0" u="none"/>
              <a:t>Example:</a:t>
            </a:r>
            <a:endParaRPr b="0" u="none"/>
          </a:p>
          <a:p>
            <a:pPr marL="0" lvl="0" indent="0" algn="l" rtl="0">
              <a:lnSpc>
                <a:spcPct val="100000"/>
              </a:lnSpc>
              <a:spcBef>
                <a:spcPts val="400"/>
              </a:spcBef>
              <a:spcAft>
                <a:spcPts val="0"/>
              </a:spcAft>
              <a:buSzPct val="97297"/>
              <a:buNone/>
            </a:pPr>
            <a:endParaRPr b="0" u="none"/>
          </a:p>
          <a:p>
            <a:pPr marL="0" lvl="0" indent="0" algn="l" rtl="0">
              <a:lnSpc>
                <a:spcPct val="100000"/>
              </a:lnSpc>
              <a:spcBef>
                <a:spcPts val="400"/>
              </a:spcBef>
              <a:spcAft>
                <a:spcPts val="0"/>
              </a:spcAft>
              <a:buSzPct val="97297"/>
              <a:buNone/>
            </a:pPr>
            <a:r>
              <a:rPr lang="es-ES" b="0" u="none"/>
              <a:t>rwx = 4 + 2 + 1 = 7</a:t>
            </a:r>
            <a:endParaRPr b="0" u="none"/>
          </a:p>
          <a:p>
            <a:pPr marL="0" lvl="0" indent="0" algn="l" rtl="0">
              <a:lnSpc>
                <a:spcPct val="100000"/>
              </a:lnSpc>
              <a:spcBef>
                <a:spcPts val="400"/>
              </a:spcBef>
              <a:spcAft>
                <a:spcPts val="0"/>
              </a:spcAft>
              <a:buSzPct val="97297"/>
              <a:buNone/>
            </a:pPr>
            <a:r>
              <a:rPr lang="es-ES" b="0" u="none"/>
              <a:t>rw- = 4 + 2 + 0 = 6</a:t>
            </a:r>
            <a:endParaRPr b="0" u="none"/>
          </a:p>
          <a:p>
            <a:pPr marL="0" lvl="0" indent="0" algn="l" rtl="0">
              <a:lnSpc>
                <a:spcPct val="100000"/>
              </a:lnSpc>
              <a:spcBef>
                <a:spcPts val="400"/>
              </a:spcBef>
              <a:spcAft>
                <a:spcPts val="0"/>
              </a:spcAft>
              <a:buSzPct val="97297"/>
              <a:buNone/>
            </a:pPr>
            <a:r>
              <a:rPr lang="es-ES" b="0" u="none"/>
              <a:t>r-- = 4 + 0 + 0 = 4</a:t>
            </a:r>
            <a:endParaRPr b="0" u="none"/>
          </a:p>
          <a:p>
            <a:pPr marL="0" lvl="0" indent="0" algn="l" rtl="0">
              <a:lnSpc>
                <a:spcPct val="100000"/>
              </a:lnSpc>
              <a:spcBef>
                <a:spcPts val="400"/>
              </a:spcBef>
              <a:spcAft>
                <a:spcPts val="0"/>
              </a:spcAft>
              <a:buSzPct val="97297"/>
              <a:buNone/>
            </a:pPr>
            <a:endParaRPr b="0" u="none"/>
          </a:p>
        </p:txBody>
      </p:sp>
      <p:sp>
        <p:nvSpPr>
          <p:cNvPr id="1220" name="Google Shape;1220;g3715fd0d4a0_3_26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111</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60"/>
          <p:cNvSpPr txBox="1">
            <a:spLocks noGrp="1"/>
          </p:cNvSpPr>
          <p:nvPr>
            <p:ph type="title"/>
          </p:nvPr>
        </p:nvSpPr>
        <p:spPr>
          <a:xfrm>
            <a:off x="457200" y="692696"/>
            <a:ext cx="8229600" cy="7920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2800"/>
              <a:buFont typeface="Consolas"/>
              <a:buNone/>
            </a:pPr>
            <a:r>
              <a:rPr lang="es-ES"/>
              <a:t>Thanks for your attention!</a:t>
            </a:r>
            <a:endParaRPr/>
          </a:p>
        </p:txBody>
      </p:sp>
      <p:sp>
        <p:nvSpPr>
          <p:cNvPr id="1227" name="Google Shape;1227;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s-ES"/>
              <a:t>112</a:t>
            </a:fld>
            <a:endParaRPr/>
          </a:p>
        </p:txBody>
      </p:sp>
      <p:pic>
        <p:nvPicPr>
          <p:cNvPr id="1228" name="Google Shape;1228;p60" descr="Resultado de imagen de console icon"/>
          <p:cNvPicPr preferRelativeResize="0"/>
          <p:nvPr/>
        </p:nvPicPr>
        <p:blipFill rotWithShape="1">
          <a:blip r:embed="rId3">
            <a:alphaModFix/>
          </a:blip>
          <a:srcRect/>
          <a:stretch/>
        </p:blipFill>
        <p:spPr>
          <a:xfrm>
            <a:off x="2123728" y="1576535"/>
            <a:ext cx="4876800" cy="4876801"/>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BF257E78F2C3A4D804CE65F17710342" ma:contentTypeVersion="6" ma:contentTypeDescription="Crear nuevo documento." ma:contentTypeScope="" ma:versionID="6a472314244e0850a4ffe7e4028a903f">
  <xsd:schema xmlns:xsd="http://www.w3.org/2001/XMLSchema" xmlns:xs="http://www.w3.org/2001/XMLSchema" xmlns:p="http://schemas.microsoft.com/office/2006/metadata/properties" xmlns:ns2="21ab6fbf-d336-4209-8505-77e13094ac77" targetNamespace="http://schemas.microsoft.com/office/2006/metadata/properties" ma:root="true" ma:fieldsID="ad1352365ccdbe953720aac926be5a3b" ns2:_="">
    <xsd:import namespace="21ab6fbf-d336-4209-8505-77e13094ac7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ab6fbf-d336-4209-8505-77e13094ac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4EB2313-219C-4E4A-87E6-34F623BC56EC}">
  <ds:schemaRefs>
    <ds:schemaRef ds:uri="21ab6fbf-d336-4209-8505-77e13094ac7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B77E33C-6D85-4374-A58C-6E29D3CB2B07}">
  <ds:schemaRefs>
    <ds:schemaRef ds:uri="http://schemas.microsoft.com/sharepoint/v3/contenttype/forms"/>
  </ds:schemaRefs>
</ds:datastoreItem>
</file>

<file path=customXml/itemProps3.xml><?xml version="1.0" encoding="utf-8"?>
<ds:datastoreItem xmlns:ds="http://schemas.openxmlformats.org/officeDocument/2006/customXml" ds:itemID="{9FF3573D-748F-410E-B446-267183EA314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Presentación en pantalla (4:3)</PresentationFormat>
  <Slides>112</Slides>
  <Notes>112</Notes>
  <HiddenSlides>0</HiddenSlides>
  <ScaleCrop>false</ScaleCrop>
  <HeadingPairs>
    <vt:vector size="4" baseType="variant">
      <vt:variant>
        <vt:lpstr>Tema</vt:lpstr>
      </vt:variant>
      <vt:variant>
        <vt:i4>1</vt:i4>
      </vt:variant>
      <vt:variant>
        <vt:lpstr>Títulos de diapositiva</vt:lpstr>
      </vt:variant>
      <vt:variant>
        <vt:i4>112</vt:i4>
      </vt:variant>
    </vt:vector>
  </HeadingPairs>
  <TitlesOfParts>
    <vt:vector size="113" baseType="lpstr">
      <vt:lpstr>Tema de Office</vt:lpstr>
      <vt:lpstr>Presentación de PowerPoint</vt:lpstr>
      <vt:lpstr>Overview</vt:lpstr>
      <vt:lpstr>Overview</vt:lpstr>
      <vt:lpstr>1. Linux Operating System (OS)</vt:lpstr>
      <vt:lpstr>1. Linux Operating System (OS)</vt:lpstr>
      <vt:lpstr>1.1. Operating System</vt:lpstr>
      <vt:lpstr>1.1. Operating System</vt:lpstr>
      <vt:lpstr>1.1. Operating System</vt:lpstr>
      <vt:lpstr>1.1. Operating System</vt:lpstr>
      <vt:lpstr>1.1. Operating System</vt:lpstr>
      <vt:lpstr>1.1. Operating System</vt:lpstr>
      <vt:lpstr>1.1. Operating System</vt:lpstr>
      <vt:lpstr>1.1. Operating System</vt:lpstr>
      <vt:lpstr>1. Linux Operating System (OS)</vt:lpstr>
      <vt:lpstr>2. Open source</vt:lpstr>
      <vt:lpstr>1. Linux Operating System (OS)</vt:lpstr>
      <vt:lpstr>3. Linux Distributions</vt:lpstr>
      <vt:lpstr>3. Linux Distributions</vt:lpstr>
      <vt:lpstr>3. Linux Distributions</vt:lpstr>
      <vt:lpstr>1. Linux Operating System (OS)</vt:lpstr>
      <vt:lpstr>4. Multi-task</vt:lpstr>
      <vt:lpstr>1. Linux Operating System (OS)</vt:lpstr>
      <vt:lpstr>5. Multi-user</vt:lpstr>
      <vt:lpstr>Overview</vt:lpstr>
      <vt:lpstr>1.1. Operating System</vt:lpstr>
      <vt:lpstr>2. Linux File System</vt:lpstr>
      <vt:lpstr>2.1. Linux File System Features</vt:lpstr>
      <vt:lpstr>2.1. Linux File System Features</vt:lpstr>
      <vt:lpstr>2. Linux File System</vt:lpstr>
      <vt:lpstr>2.2. Linux File System Structure</vt:lpstr>
      <vt:lpstr>2.2. Linux File System Structure</vt:lpstr>
      <vt:lpstr>2. Linux File System</vt:lpstr>
      <vt:lpstr>2.3. Linux File System Comparison</vt:lpstr>
      <vt:lpstr>2. Linux File System</vt:lpstr>
      <vt:lpstr>2.4. Linux File System Paths</vt:lpstr>
      <vt:lpstr>2.4. Linux File System Paths</vt:lpstr>
      <vt:lpstr>2.4. Linux File System Paths</vt:lpstr>
      <vt:lpstr>2.4. Linux File System Paths</vt:lpstr>
      <vt:lpstr>2.4. Linux File System Paths</vt:lpstr>
      <vt:lpstr>2.4. Linux File System Paths</vt:lpstr>
      <vt:lpstr>Overview</vt:lpstr>
      <vt:lpstr>3. Basic Commands</vt:lpstr>
      <vt:lpstr>3.1. Shell</vt:lpstr>
      <vt:lpstr>3.1. Shell</vt:lpstr>
      <vt:lpstr>3.1. Shell</vt:lpstr>
      <vt:lpstr>3. Basic Commands</vt:lpstr>
      <vt:lpstr>3.2. Shell’s prompt</vt:lpstr>
      <vt:lpstr>3. Basic Commands</vt:lpstr>
      <vt:lpstr>pwd (Print Working Directory) </vt:lpstr>
      <vt:lpstr>ls (List) </vt:lpstr>
      <vt:lpstr>cd (Change Directory) </vt:lpstr>
      <vt:lpstr>cd (Change Direcotry) </vt:lpstr>
      <vt:lpstr>mkdir (Make Directory) </vt:lpstr>
      <vt:lpstr>mkdir (Make Directory) </vt:lpstr>
      <vt:lpstr>rm (Remove) </vt:lpstr>
      <vt:lpstr>rm (Remove) </vt:lpstr>
      <vt:lpstr>rmdir (Remove Directory) </vt:lpstr>
      <vt:lpstr>cp (Copy) </vt:lpstr>
      <vt:lpstr>cp (Copy) </vt:lpstr>
      <vt:lpstr>mv (Move) </vt:lpstr>
      <vt:lpstr>mv (Move) </vt:lpstr>
      <vt:lpstr>history</vt:lpstr>
      <vt:lpstr>history</vt:lpstr>
      <vt:lpstr>less (Historial) </vt:lpstr>
      <vt:lpstr>nano</vt:lpstr>
      <vt:lpstr>Basic Commands</vt:lpstr>
      <vt:lpstr>Overview</vt:lpstr>
      <vt:lpstr>4. Command Line Syntax</vt:lpstr>
      <vt:lpstr>4.1. Command Line Syntax</vt:lpstr>
      <vt:lpstr>4.1. Command Line Syntax</vt:lpstr>
      <vt:lpstr>4.1. Command Line Syntax</vt:lpstr>
      <vt:lpstr>4. Command Line Syntax</vt:lpstr>
      <vt:lpstr>4.2. Input</vt:lpstr>
      <vt:lpstr>4. Command Line Syntax</vt:lpstr>
      <vt:lpstr>4.3. Output</vt:lpstr>
      <vt:lpstr>Input/Output</vt:lpstr>
      <vt:lpstr>4. Command Line Syntax</vt:lpstr>
      <vt:lpstr>4.4. Redirect</vt:lpstr>
      <vt:lpstr>4.4. Redirect</vt:lpstr>
      <vt:lpstr>4.4. Redirect</vt:lpstr>
      <vt:lpstr>4.4. Redirect</vt:lpstr>
      <vt:lpstr>4.4. Redirect</vt:lpstr>
      <vt:lpstr>4. Command Line Syntax</vt:lpstr>
      <vt:lpstr>4.5. Pipes</vt:lpstr>
      <vt:lpstr>4.5. Pipes</vt:lpstr>
      <vt:lpstr>4.5. Pipes</vt:lpstr>
      <vt:lpstr>4.5. Pipes</vt:lpstr>
      <vt:lpstr>4. Command Line Syntax</vt:lpstr>
      <vt:lpstr>4.6. WildCards and Regular expressions</vt:lpstr>
      <vt:lpstr>Overview</vt:lpstr>
      <vt:lpstr>5. Linux users and privileges</vt:lpstr>
      <vt:lpstr>5.1. Linux Users</vt:lpstr>
      <vt:lpstr>5.1. Linux Users</vt:lpstr>
      <vt:lpstr>5. Linux users and privileges</vt:lpstr>
      <vt:lpstr>5.2. Linux Permissions</vt:lpstr>
      <vt:lpstr>5.2. Linux Permissions</vt:lpstr>
      <vt:lpstr>5.2. Linux Permissions</vt:lpstr>
      <vt:lpstr>5.2. Linux Permissions</vt:lpstr>
      <vt:lpstr>5.2. Linux Permissions</vt:lpstr>
      <vt:lpstr>5.2. Linux Permissions</vt:lpstr>
      <vt:lpstr>5.2. Linux Permissions</vt:lpstr>
      <vt:lpstr>5.2. Linux Permissions</vt:lpstr>
      <vt:lpstr>5.2. Linux Permissions</vt:lpstr>
      <vt:lpstr>5.2. Linux Permissions</vt:lpstr>
      <vt:lpstr>5.2. Linux Permissions</vt:lpstr>
      <vt:lpstr>5.2. Linux Permissions</vt:lpstr>
      <vt:lpstr>5. Linux users and privileges</vt:lpstr>
      <vt:lpstr>5.3. Modify Permissions</vt:lpstr>
      <vt:lpstr>5.3. Modify Permissions</vt:lpstr>
      <vt:lpstr>5.3. Modify Permissions</vt:lpstr>
      <vt:lpstr>5.3. Modify Permissions</vt:lpstr>
      <vt:lpstr>Thanks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Miguel Juliá</dc:creator>
  <cp:revision>26</cp:revision>
  <dcterms:created xsi:type="dcterms:W3CDTF">2018-09-27T09:17:10Z</dcterms:created>
  <dcterms:modified xsi:type="dcterms:W3CDTF">2026-10-19T07:48:06Z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0x0101002BF257E78F2C3A4D804CE65F17710342</vt:lpwstr>
  </property>
</Properties>
</file>