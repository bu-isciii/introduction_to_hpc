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4"/>
  </p:sldMasterIdLst>
  <p:notesMasterIdLst>
    <p:notesMasterId r:id="rId5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03" r:id="rId14"/>
    <p:sldId id="265" r:id="rId15"/>
    <p:sldId id="299" r:id="rId16"/>
    <p:sldId id="267" r:id="rId17"/>
    <p:sldId id="302" r:id="rId18"/>
    <p:sldId id="301" r:id="rId19"/>
    <p:sldId id="304" r:id="rId20"/>
    <p:sldId id="305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306" r:id="rId32"/>
    <p:sldId id="278" r:id="rId33"/>
    <p:sldId id="279" r:id="rId34"/>
    <p:sldId id="300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307" r:id="rId43"/>
    <p:sldId id="287" r:id="rId44"/>
    <p:sldId id="288" r:id="rId45"/>
    <p:sldId id="289" r:id="rId46"/>
    <p:sldId id="290" r:id="rId47"/>
    <p:sldId id="291" r:id="rId48"/>
    <p:sldId id="308" r:id="rId49"/>
    <p:sldId id="292" r:id="rId50"/>
    <p:sldId id="293" r:id="rId51"/>
    <p:sldId id="294" r:id="rId52"/>
    <p:sldId id="295" r:id="rId53"/>
    <p:sldId id="296" r:id="rId54"/>
    <p:sldId id="297" r:id="rId55"/>
    <p:sldId id="298" r:id="rId56"/>
  </p:sldIdLst>
  <p:sldSz cx="9144000" cy="5143500" type="screen16x9"/>
  <p:notesSz cx="6858000" cy="9144000"/>
  <p:embeddedFontLst>
    <p:embeddedFont>
      <p:font typeface="Maven Pro" panose="020B0604020202020204" charset="0"/>
      <p:regular r:id="rId58"/>
      <p:bold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79D83-809C-7CFE-2195-90EDCD2EC7AE}" v="264" dt="2026-10-19T14:47:34.518"/>
    <p1510:client id="{F4AC1E04-41CA-E570-1B5F-24DCDC713803}" v="666" dt="2026-10-20T10:38:54.897"/>
  </p1510:revLst>
</p1510:revInfo>
</file>

<file path=ppt/tableStyles.xml><?xml version="1.0" encoding="utf-8"?>
<a:tblStyleLst xmlns:a="http://schemas.openxmlformats.org/drawingml/2006/main" def="{096B0C07-CB8A-437F-BAF2-31457A6D8B30}">
  <a:tblStyle styleId="{096B0C07-CB8A-437F-BAF2-31457A6D8B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font" Target="fonts/font6.fntdata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3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09:57:00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28152 14684 16383 0 0,'0'-3'0'0'0,"3"-9"0"0"0,6-6 0 0 0,0-3 0 0 0,3-2 0 0 0,3-1 0 0 0,5-3 0 0 0,1-1 0 0 0,-1-2 0 0 0,0-1 0 0 0,4 3 0 0 0,2-3 0 0 0,3 2 0 0 0,0 1 0 0 0,3 3 0 0 0,0-3 0 0 0,-3 5 0 0 0,1-2 0 0 0,0 0 0 0 0,1-3 0 0 0,-1-1 0 0 0,-1-1 0 0 0,0 3 0 0 0,0-1 0 0 0,2 5 0 0 0,-4 2 0 0 0,-4 2 0 0 0,2-4 0 0 0,1 3 0 0 0,2-4 0 0 0,1 0 0 0 0,2-3 0 0 0,-1 2 0 0 0,-1-1 0 0 0,5-1 0 0 0,0-1 0 0 0,2-1 0 0 0,1-3 0 0 0,-1 5 0 0 0,-4 0 0 0 0,1 4 0 0 0,-3-2 0 0 0,2 5 0 0 0,-2 1 0 0 0,-2 1 0 0 0,2 2 0 0 0,-2 2 0 0 0,-1 2 0 0 0,2 1 0 0 0,3-3 0 0 0,4 2 0 0 0,-2 3 0 0 0,5-1 0 0 0,10-3 0 0 0,8-1 0 0 0,-3 0 0 0 0,-6 3 0 0 0,-5 4 0 0 0,-6-1 0 0 0,-5 1 0 0 0,-5 1 0 0 0,0-1 0 0 0,0 0 0 0 0,2 2 0 0 0,6 1 0 0 0,9-2 0 0 0,8-4 0 0 0,12 0 0 0 0,7-2 0 0 0,-2-2 0 0 0,-2-7 0 0 0,-5 1 0 0 0,-6 0 0 0 0,-8-3 0 0 0,-10 1 0 0 0,-3 1 0 0 0,-5 1 0 0 0,1 4 0 0 0,-3 1 0 0 0,-1-1 0 0 0,1 2 0 0 0,0 5 0 0 0,-1-2 0 0 0,1 3 0 0 0,1 2 0 0 0,-6-2 0 0 0,-2 1 0 0 0,-2 2 0 0 0,3 1 0 0 0,2-2 0 0 0,0 0 0 0 0,0 1 0 0 0,-1-2 0 0 0,0-1 0 0 0,-1 3 0 0 0,-1 0 0 0 0,4 3 0 0 0,-3-3 0 0 0,-1-1 0 0 0,-1 2 0 0 0,0 0 0 0 0,0 2 0 0 0,4 0 0 0 0,2 2 0 0 0,-1 0 0 0 0,0 0 0 0 0,-2 0 0 0 0,0 4 0 0 0,-1 4 0 0 0,0 2 0 0 0,-5-2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09:57:00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27940 14684 16383 0 0,'4'0'0'0'0,"0"4"0"0"0,5 4 0 0 0,-1 5 0 0 0,-1 4 0 0 0,-1 2 0 0 0,1 2 0 0 0,-1 1 0 0 0,0 0 0 0 0,-2 0 0 0 0,-2 0 0 0 0,3 3 0 0 0,0 2 0 0 0,3-5 0 0 0,1-2 0 0 0,-2-1 0 0 0,-2 0 0 0 0,1-3 0 0 0,1-1 0 0 0,-2 1 0 0 0,3-3 0 0 0,2-3 0 0 0,5-3 0 0 0,2-4 0 0 0,2-1 0 0 0,2-2 0 0 0,4 0 0 0 0,1-4 0 0 0,1-2 0 0 0,-2 1 0 0 0,-4-2 0 0 0,-3-1 0 0 0,3 2 0 0 0,-1-3 0 0 0,-2 2 0 0 0,0 0 0 0 0,1 3 0 0 0,-3-2 0 0 0,0-1 0 0 0,-4-1 0 0 0,1-1 0 0 0,-3 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09:57:00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15748 11350 16383 0 0,'-4'0'0'0'0,"-4"-3"0"0"0,-5-6 0 0 0,0-4 0 0 0,2-3 0 0 0,3-4 0 0 0,3 0 0 0 0,2-2 0 0 0,2 0 0 0 0,1 0 0 0 0,-4 0 0 0 0,0 0 0 0 0,0 0 0 0 0,1 1 0 0 0,1 0 0 0 0,0 0 0 0 0,2-1 0 0 0,-1 1 0 0 0,1-3 0 0 0,4 1 0 0 0,1 2 0 0 0,0 1 0 0 0,2 0 0 0 0,1 0 0 0 0,2 3 0 0 0,-1 1 0 0 0,2 0 0 0 0,-1-1 0 0 0,2-2 0 0 0,-2 0 0 0 0,-2-2 0 0 0,-3 0 0 0 0,-2 0 0 0 0,2 0 0 0 0,1-1 0 0 0,2 1 0 0 0,3 3 0 0 0,1 2 0 0 0,-3-1 0 0 0,2 3 0 0 0,-2 0 0 0 0,1-1 0 0 0,3-1 0 0 0,3 1 0 0 0,2 0 0 0 0,1 3 0 0 0,2 3 0 0 0,1 0 0 0 0,-4-3 0 0 0,-2 1 0 0 0,2 3 0 0 0,-1-1 0 0 0,2 0 0 0 0,1 3 0 0 0,0 1 0 0 0,1-1 0 0 0,0 0 0 0 0,1-2 0 0 0,-1-1 0 0 0,0 2 0 0 0,1 3 0 0 0,-1 0 0 0 0,0 3 0 0 0,4 0 0 0 0,1 1 0 0 0,0 0 0 0 0,-2 1 0 0 0,0-1 0 0 0,-1 0 0 0 0,-1 1 0 0 0,-1-1 0 0 0,1 0 0 0 0,-1 0 0 0 0,0 0 0 0 0,0 0 0 0 0,3 0 0 0 0,2 0 0 0 0,0 0 0 0 0,-2 0 0 0 0,0 0 0 0 0,-1 0 0 0 0,-1 0 0 0 0,3 0 0 0 0,1 0 0 0 0,0 0 0 0 0,-2 0 0 0 0,7 0 0 0 0,1 3 0 0 0,-1 2 0 0 0,-2 0 0 0 0,-2-2 0 0 0,-3 0 0 0 0,-1-1 0 0 0,-2-2 0 0 0,0 1 0 0 0,4-1 0 0 0,0 0 0 0 0,0 3 0 0 0,3 2 0 0 0,1 3 0 0 0,2 0 0 0 0,-1-1 0 0 0,-1-2 0 0 0,-3-1 0 0 0,-5 1 0 0 0,-3 1 0 0 0,0-1 0 0 0,-1 2 0 0 0,1 0 0 0 0,5-1 0 0 0,2-2 0 0 0,0 2 0 0 0,3 4 0 0 0,1 0 0 0 0,2 2 0 0 0,-1-1 0 0 0,-1 1 0 0 0,-2-1 0 0 0,1-3 0 0 0,3-3 0 0 0,-3 2 0 0 0,-3 3 0 0 0,1 0 0 0 0,0-2 0 0 0,-1 1 0 0 0,3 0 0 0 0,0-2 0 0 0,-2-3 0 0 0,-4 2 0 0 0,-3 0 0 0 0,-1 3 0 0 0,0-1 0 0 0,1-1 0 0 0,-3 2 0 0 0,-1-1 0 0 0,-3 2 0 0 0,-3 2 0 0 0,-3 4 0 0 0,0-2 0 0 0,0 1 0 0 0,-1 2 0 0 0,-2 0 0 0 0,-1 2 0 0 0,-1 2 0 0 0,-4-1 0 0 0,-6 2 0 0 0,0 3 0 0 0,-7-3 0 0 0,-4 3 0 0 0,-2 0 0 0 0,-1 4 0 0 0,-3-1 0 0 0,2 0 0 0 0,1-6 0 0 0,6-2 0 0 0,1-5 0 0 0,0-5 0 0 0,-1-1 0 0 0,-1-1 0 0 0,3 0 0 0 0,-4 4 0 0 0,-2 3 0 0 0,-1 2 0 0 0,-4 2 0 0 0,-1 6 0 0 0,-4-3 0 0 0,1 3 0 0 0,1-3 0 0 0,3-1 0 0 0,1-5 0 0 0,2-1 0 0 0,1-4 0 0 0,-3 5 0 0 0,-5-2 0 0 0,-3 5 0 0 0,-1 2 0 0 0,-5-2 0 0 0,1 3 0 0 0,2-2 0 0 0,2-2 0 0 0,-2 1 0 0 0,2-4 0 0 0,3-3 0 0 0,3-5 0 0 0,0 0 0 0 0,-4 3 0 0 0,1 0 0 0 0,-5-2 0 0 0,0-3 0 0 0,2-1 0 0 0,0-2 0 0 0,-5-2 0 0 0,-7 0 0 0 0,-3 0 0 0 0,0 0 0 0 0,5-1 0 0 0,6 1 0 0 0,2 0 0 0 0,4-1 0 0 0,4-2 0 0 0,-1-2 0 0 0,1 0 0 0 0,2 2 0 0 0,1 0 0 0 0,-1-2 0 0 0,-1-1 0 0 0,-3-2 0 0 0,1-1 0 0 0,1-1 0 0 0,1 0 0 0 0,0-2 0 0 0,-1 2 0 0 0,1 2 0 0 0,2 3 0 0 0,2 1 0 0 0,4-1 0 0 0,2 0 0 0 0,1 0 0 0 0,-5-1 0 0 0,-2-5 0 0 0,-1-3 0 0 0,-4-3 0 0 0,0-2 0 0 0,-2-6 0 0 0,-1-1 0 0 0,-2-4 0 0 0,-5 0 0 0 0,-1-3 0 0 0,3 5 0 0 0,4 7 0 0 0,8 7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20T09:57:00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40481 10557 16383 0 0,'4'0'0'0'0,"1"0"0"0"0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64576925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64576925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45769259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645769259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93fb674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93fb674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5769259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645769259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809977c5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809977c5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809977c5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809977c5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809977c5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809977c5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645769259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645769259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809977c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809977c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69F72720-C94A-E9BA-A6B5-AF582075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645769259_0_293:notes">
            <a:extLst>
              <a:ext uri="{FF2B5EF4-FFF2-40B4-BE49-F238E27FC236}">
                <a16:creationId xmlns:a16="http://schemas.microsoft.com/office/drawing/2014/main" id="{1FECC8E6-228B-021F-65DE-1EA49837D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645769259_0_293:notes">
            <a:extLst>
              <a:ext uri="{FF2B5EF4-FFF2-40B4-BE49-F238E27FC236}">
                <a16:creationId xmlns:a16="http://schemas.microsoft.com/office/drawing/2014/main" id="{BAD15035-92C6-C690-941C-74C3A3DAC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85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645769259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645769259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67846533-FA6C-17B6-3BC3-415BE805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645769259_0_293:notes">
            <a:extLst>
              <a:ext uri="{FF2B5EF4-FFF2-40B4-BE49-F238E27FC236}">
                <a16:creationId xmlns:a16="http://schemas.microsoft.com/office/drawing/2014/main" id="{BA59AAD6-B2F2-2EAD-B806-D386E6D14E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645769259_0_293:notes">
            <a:extLst>
              <a:ext uri="{FF2B5EF4-FFF2-40B4-BE49-F238E27FC236}">
                <a16:creationId xmlns:a16="http://schemas.microsoft.com/office/drawing/2014/main" id="{9AAE7723-B3A2-FF6A-50DC-8CA8D67D7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8189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645769259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645769259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7241C423-F8DC-C79D-49F1-C451FDCC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645769259_0_311:notes">
            <a:extLst>
              <a:ext uri="{FF2B5EF4-FFF2-40B4-BE49-F238E27FC236}">
                <a16:creationId xmlns:a16="http://schemas.microsoft.com/office/drawing/2014/main" id="{8DCCBDB0-A7A9-F09F-F627-171A861B7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645769259_0_311:notes">
            <a:extLst>
              <a:ext uri="{FF2B5EF4-FFF2-40B4-BE49-F238E27FC236}">
                <a16:creationId xmlns:a16="http://schemas.microsoft.com/office/drawing/2014/main" id="{E9F52F37-1CF1-F20B-7A99-CDF2B5A04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291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16F2343D-6536-5678-C482-2F000FC8E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645769259_0_311:notes">
            <a:extLst>
              <a:ext uri="{FF2B5EF4-FFF2-40B4-BE49-F238E27FC236}">
                <a16:creationId xmlns:a16="http://schemas.microsoft.com/office/drawing/2014/main" id="{86CB5279-77AB-A151-3FFF-EF15EDD0DF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645769259_0_311:notes">
            <a:extLst>
              <a:ext uri="{FF2B5EF4-FFF2-40B4-BE49-F238E27FC236}">
                <a16:creationId xmlns:a16="http://schemas.microsoft.com/office/drawing/2014/main" id="{59333AA5-D482-9660-DE00-CB885320A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2910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D1C63B39-1195-C1F0-68D2-5F58BF7B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645769259_0_311:notes">
            <a:extLst>
              <a:ext uri="{FF2B5EF4-FFF2-40B4-BE49-F238E27FC236}">
                <a16:creationId xmlns:a16="http://schemas.microsoft.com/office/drawing/2014/main" id="{BCDE0CC4-9612-D9C2-748D-35E4FE75B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645769259_0_311:notes">
            <a:extLst>
              <a:ext uri="{FF2B5EF4-FFF2-40B4-BE49-F238E27FC236}">
                <a16:creationId xmlns:a16="http://schemas.microsoft.com/office/drawing/2014/main" id="{02AFD32D-FE9F-9872-570D-15B2541D7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631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BEE391CD-7DE9-DB5A-F23F-470E1181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645769259_0_311:notes">
            <a:extLst>
              <a:ext uri="{FF2B5EF4-FFF2-40B4-BE49-F238E27FC236}">
                <a16:creationId xmlns:a16="http://schemas.microsoft.com/office/drawing/2014/main" id="{29E37F6B-FB88-D306-A2C5-522BA224D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645769259_0_311:notes">
            <a:extLst>
              <a:ext uri="{FF2B5EF4-FFF2-40B4-BE49-F238E27FC236}">
                <a16:creationId xmlns:a16="http://schemas.microsoft.com/office/drawing/2014/main" id="{EF8094D0-7355-6F5F-270B-9417BB459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933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4d5f6332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4d5f6332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645769259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645769259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645769259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645769259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645769259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645769259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cf5e17f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cf5e17f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645769259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645769259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645769259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7645769259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809977c5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809977c5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645769259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645769259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https://docs.hpc.shef.ac.uk/en/latest/referenceinfo/scheduler/SLURM/SLURM-environment-variables.html#gsc.tab=0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645769259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645769259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645769259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7645769259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474d1efe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474d1efe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44AAF94-47E5-D4E8-EE12-8BA9A578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45769259_0_408:notes">
            <a:extLst>
              <a:ext uri="{FF2B5EF4-FFF2-40B4-BE49-F238E27FC236}">
                <a16:creationId xmlns:a16="http://schemas.microsoft.com/office/drawing/2014/main" id="{918AD300-6625-BEF6-DFD3-CC63499F7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645769259_0_408:notes">
            <a:extLst>
              <a:ext uri="{FF2B5EF4-FFF2-40B4-BE49-F238E27FC236}">
                <a16:creationId xmlns:a16="http://schemas.microsoft.com/office/drawing/2014/main" id="{DB2F5434-B522-77E6-5DD8-7BDEE0BC5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509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93fb6744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93fb6744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69049626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69049626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Parallel programing -- OpenMP and MPI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Parallel programming splits a job into smaller pieces that run at the same time on multiple CPU cores and/or machines.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We use it to finish faster and to handle larger datasets than a single core or single machine can manage.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In HPC, it reduces time-to-results, makes better use of cluster resources, and cuts wall-clock time for analyses.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The two most used HPC models are OpenMP and MPI.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They target different scenarios: OpenMP (shared memory, one node) vs MPI (distributed memory, many nodes).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Parallel programing -- OpenMP and MPI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Parallel programming splits a job into smaller pieces that run at the same time on multiple CPU cores and/or machines.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We use it to finish faster and to handle larger datasets than a single core or single machine can manage.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In HPC, it reduces time-to-results, makes better use of cluster resources, and cuts wall-clock time for analyses.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The two most used HPC models are OpenMP and MPI.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">
                <a:solidFill>
                  <a:schemeClr val="dk1"/>
                </a:solidFill>
              </a:rPr>
              <a:t>They target different scenarios: OpenMP (shared memory, one node) vs MPI (distributed memory, many nodes).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69049626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69049626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69049626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769049626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69049626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69049626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69049626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769049626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809977c5d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809977c5d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FAD16863-59D5-F1A7-2455-1BAAA186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809977c5d_1_85:notes">
            <a:extLst>
              <a:ext uri="{FF2B5EF4-FFF2-40B4-BE49-F238E27FC236}">
                <a16:creationId xmlns:a16="http://schemas.microsoft.com/office/drawing/2014/main" id="{90AB165D-22EC-86A8-69A4-AEC045EBC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809977c5d_1_85:notes">
            <a:extLst>
              <a:ext uri="{FF2B5EF4-FFF2-40B4-BE49-F238E27FC236}">
                <a16:creationId xmlns:a16="http://schemas.microsoft.com/office/drawing/2014/main" id="{C12A648D-CF8F-DE3D-F3C7-B962E6841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2820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809977c5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809977c5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809977c5d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8809977c5d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7690496265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7690496265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8809977c5d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8809977c5d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809977c5d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8809977c5d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F453E639-AEB0-7317-995D-B3365BE8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809977c5d_1_60:notes">
            <a:extLst>
              <a:ext uri="{FF2B5EF4-FFF2-40B4-BE49-F238E27FC236}">
                <a16:creationId xmlns:a16="http://schemas.microsoft.com/office/drawing/2014/main" id="{3F81117A-0138-96AF-247A-15F1B5133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8809977c5d_1_60:notes">
            <a:extLst>
              <a:ext uri="{FF2B5EF4-FFF2-40B4-BE49-F238E27FC236}">
                <a16:creationId xmlns:a16="http://schemas.microsoft.com/office/drawing/2014/main" id="{16F970C3-4D65-8648-D63C-14926281A3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6821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809977c5d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8809977c5d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8809977c5d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8809977c5d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474d1efe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8474d1efe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456fde24c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456fde24c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474d1ef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8474d1ef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cf5e17f2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7cf5e17f2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56fde24c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456fde24c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71325" y="3352200"/>
            <a:ext cx="4767900" cy="16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171325" y="1092425"/>
            <a:ext cx="4767900" cy="2114400"/>
          </a:xfrm>
          <a:prstGeom prst="roundRect">
            <a:avLst>
              <a:gd name="adj" fmla="val 16667"/>
            </a:avLst>
          </a:prstGeom>
          <a:solidFill>
            <a:srgbClr val="70A5D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8025" y="1651650"/>
            <a:ext cx="4474500" cy="12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>
            <a:spLocks noGrp="1"/>
          </p:cNvSpPr>
          <p:nvPr>
            <p:ph type="pic" idx="2"/>
          </p:nvPr>
        </p:nvSpPr>
        <p:spPr>
          <a:xfrm>
            <a:off x="5143500" y="14875"/>
            <a:ext cx="4000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nsolas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u="none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73894" y="1120397"/>
            <a:ext cx="8470200" cy="101100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38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1120397"/>
            <a:ext cx="557100" cy="10110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38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>
            <a:off x="1371600" y="1382275"/>
            <a:ext cx="64008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673894" y="1120397"/>
            <a:ext cx="8470200" cy="101100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38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0" y="1120397"/>
            <a:ext cx="557100" cy="10110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38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/>
          <p:nvPr/>
        </p:nvSpPr>
        <p:spPr>
          <a:xfrm>
            <a:off x="673894" y="1120397"/>
            <a:ext cx="8470200" cy="101100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38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0" y="1120397"/>
            <a:ext cx="557100" cy="10110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38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sng" strike="noStrike" cap="none">
                <a:solidFill>
                  <a:schemeClr val="dk1"/>
                </a:solidFill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974" y="142492"/>
            <a:ext cx="1373847" cy="348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34815" y="147191"/>
            <a:ext cx="1976081" cy="33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9">
            <a:alphaModFix/>
          </a:blip>
          <a:srcRect t="20458" b="20399"/>
          <a:stretch/>
        </p:blipFill>
        <p:spPr>
          <a:xfrm>
            <a:off x="7321300" y="0"/>
            <a:ext cx="1770674" cy="5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864394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hyperlink" Target="https://docs.hpc.shef.ac.uk/en/latest/referenceinfo/scheduler/SLURM/SLURM-environment-variables.html#gsc.tab=0%E2%80%8B&#8203;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pc.shef.ac.uk/en/latest/referenceinfo/scheduler/SLURM/SLURM-environment-variables.html#gsc.tab=0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vw.cac.cornell.edu/hybrid-openmp-mpi/intro/node-views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subTitle" idx="1"/>
          </p:nvPr>
        </p:nvSpPr>
        <p:spPr>
          <a:xfrm>
            <a:off x="162050" y="3307275"/>
            <a:ext cx="4767900" cy="189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457200" algn="just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46"/>
              <a:t>Sbatch, JobArray, OpenMP/MPI </a:t>
            </a:r>
            <a:endParaRPr sz="2246"/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endParaRPr sz="2246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"/>
              <a:t>Daniel Valle Millares</a:t>
            </a:r>
            <a:endParaRPr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(Bioinformatics Platform - CIBERINFEC)</a:t>
            </a:r>
            <a:endParaRPr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u="none"/>
              <a:t>BU-ISCIII</a:t>
            </a:r>
            <a:endParaRPr u="none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u="none"/>
              <a:t>2</a:t>
            </a:r>
            <a:r>
              <a:rPr lang="es"/>
              <a:t>9</a:t>
            </a:r>
            <a:r>
              <a:rPr lang="es" u="none"/>
              <a:t> sept - 0</a:t>
            </a:r>
            <a:r>
              <a:rPr lang="es"/>
              <a:t>3</a:t>
            </a:r>
            <a:r>
              <a:rPr lang="es" u="none"/>
              <a:t> de octubre de 2025</a:t>
            </a:r>
            <a:endParaRPr u="none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u="none"/>
              <a:t>1ª edición</a:t>
            </a: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895500" y="1479875"/>
            <a:ext cx="3394800" cy="41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Scripting &amp; Parallelization</a:t>
            </a: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SLURM</a:t>
            </a:r>
            <a:endParaRPr sz="2800"/>
          </a:p>
        </p:txBody>
      </p:sp>
      <p:sp>
        <p:nvSpPr>
          <p:cNvPr id="89" name="Google Shape;89;p19"/>
          <p:cNvSpPr>
            <a:spLocks noGrp="1"/>
          </p:cNvSpPr>
          <p:nvPr>
            <p:ph type="pic" idx="2"/>
          </p:nvPr>
        </p:nvSpPr>
        <p:spPr>
          <a:xfrm>
            <a:off x="5143500" y="14875"/>
            <a:ext cx="4000500" cy="5143500"/>
          </a:xfrm>
          <a:prstGeom prst="rect">
            <a:avLst/>
          </a:prstGeom>
        </p:spPr>
      </p:sp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0" y="14875"/>
            <a:ext cx="40004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Index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68300">
              <a:lnSpc>
                <a:spcPct val="115000"/>
              </a:lnSpc>
              <a:buSzPts val="2200"/>
              <a:buAutoNum type="arabicPeriod"/>
            </a:pPr>
            <a:r>
              <a:rPr lang="es" sz="2200" b="1" dirty="0"/>
              <a:t>Scripting </a:t>
            </a:r>
            <a:r>
              <a:rPr lang="es" sz="2200" b="1" dirty="0" err="1"/>
              <a:t>on</a:t>
            </a:r>
            <a:r>
              <a:rPr lang="es" sz="2200" b="1" dirty="0"/>
              <a:t> </a:t>
            </a:r>
            <a:r>
              <a:rPr lang="es" sz="2200" b="1" dirty="0" err="1"/>
              <a:t>the</a:t>
            </a:r>
            <a:r>
              <a:rPr lang="es" sz="2200" b="1" dirty="0"/>
              <a:t> </a:t>
            </a:r>
            <a:r>
              <a:rPr lang="es" sz="2200" b="1" dirty="0" err="1"/>
              <a:t>cluster</a:t>
            </a:r>
            <a:r>
              <a:rPr lang="es" sz="2200" b="1" dirty="0"/>
              <a:t> — </a:t>
            </a:r>
            <a:r>
              <a:rPr lang="es" sz="2200" b="1" dirty="0" err="1"/>
              <a:t>sbatch</a:t>
            </a:r>
            <a:r>
              <a:rPr lang="es" sz="2200" b="1" dirty="0"/>
              <a:t> &amp; </a:t>
            </a:r>
            <a:r>
              <a:rPr lang="es" sz="2200" b="1" dirty="0" err="1"/>
              <a:t>job</a:t>
            </a:r>
            <a:r>
              <a:rPr lang="es" sz="2200" b="1" dirty="0"/>
              <a:t> </a:t>
            </a:r>
            <a:r>
              <a:rPr lang="es" sz="2200" b="1" dirty="0" err="1"/>
              <a:t>arrays</a:t>
            </a:r>
            <a:endParaRPr sz="2200" b="1" dirty="0" err="1"/>
          </a:p>
          <a:p>
            <a:pPr indent="-323850">
              <a:lnSpc>
                <a:spcPct val="115000"/>
              </a:lnSpc>
              <a:spcBef>
                <a:spcPts val="0"/>
              </a:spcBef>
              <a:buSzPts val="1500"/>
              <a:buAutoNum type="arabicPeriod"/>
            </a:pPr>
            <a:r>
              <a:rPr lang="es" sz="1500" dirty="0" err="1"/>
              <a:t>Parallel</a:t>
            </a:r>
            <a:r>
              <a:rPr lang="es" sz="1500" dirty="0"/>
              <a:t> </a:t>
            </a:r>
            <a:r>
              <a:rPr lang="es" sz="1500" dirty="0" err="1"/>
              <a:t>computing</a:t>
            </a:r>
            <a:r>
              <a:rPr lang="es" sz="1500" dirty="0"/>
              <a:t> </a:t>
            </a:r>
            <a:r>
              <a:rPr lang="es" sz="1500" dirty="0" err="1"/>
              <a:t>on</a:t>
            </a:r>
            <a:r>
              <a:rPr lang="es" sz="1500" dirty="0"/>
              <a:t> </a:t>
            </a:r>
            <a:r>
              <a:rPr lang="es" sz="1500" dirty="0" err="1"/>
              <a:t>the</a:t>
            </a:r>
            <a:r>
              <a:rPr lang="es" sz="1500" dirty="0"/>
              <a:t> </a:t>
            </a:r>
            <a:r>
              <a:rPr lang="es" sz="1500" dirty="0" err="1"/>
              <a:t>cluster</a:t>
            </a:r>
            <a:r>
              <a:rPr lang="es" sz="1500" dirty="0"/>
              <a:t> — </a:t>
            </a:r>
            <a:r>
              <a:rPr lang="es" sz="1500" dirty="0" err="1"/>
              <a:t>OpenMP</a:t>
            </a:r>
            <a:r>
              <a:rPr lang="es" sz="1500" dirty="0"/>
              <a:t> vs MPI (</a:t>
            </a:r>
            <a:r>
              <a:rPr lang="es" sz="1500" dirty="0" err="1"/>
              <a:t>when</a:t>
            </a:r>
            <a:r>
              <a:rPr lang="es" sz="1500" dirty="0"/>
              <a:t> </a:t>
            </a:r>
            <a:r>
              <a:rPr lang="es" sz="1500" dirty="0" err="1"/>
              <a:t>to</a:t>
            </a:r>
            <a:r>
              <a:rPr lang="es" sz="1500" dirty="0"/>
              <a:t> use </a:t>
            </a:r>
            <a:r>
              <a:rPr lang="es" sz="1500" dirty="0" err="1"/>
              <a:t>each</a:t>
            </a:r>
            <a:r>
              <a:rPr lang="es" sz="1500" dirty="0"/>
              <a:t>)</a:t>
            </a:r>
            <a:endParaRPr sz="1500" dirty="0"/>
          </a:p>
          <a:p>
            <a:pPr indent="-323850">
              <a:lnSpc>
                <a:spcPct val="115000"/>
              </a:lnSpc>
              <a:spcBef>
                <a:spcPts val="0"/>
              </a:spcBef>
              <a:buSzPts val="1500"/>
              <a:buAutoNum type="arabicPeriod"/>
            </a:pPr>
            <a:r>
              <a:rPr lang="es" sz="1500" dirty="0" err="1"/>
              <a:t>Nextflow</a:t>
            </a:r>
            <a:r>
              <a:rPr lang="es" sz="1500" dirty="0"/>
              <a:t> pipelines in HPC  - </a:t>
            </a:r>
            <a:r>
              <a:rPr lang="es" sz="1500" dirty="0" err="1"/>
              <a:t>Deploy</a:t>
            </a:r>
            <a:r>
              <a:rPr lang="es" sz="1500" dirty="0"/>
              <a:t> a </a:t>
            </a:r>
            <a:r>
              <a:rPr lang="es" sz="1500" dirty="0" err="1"/>
              <a:t>Nextflow</a:t>
            </a:r>
            <a:r>
              <a:rPr lang="es" sz="1500" dirty="0"/>
              <a:t> DSL2 pipeline in HPC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 dirty="0" err="1"/>
              <a:t>Wrap</a:t>
            </a:r>
            <a:r>
              <a:rPr lang="es" sz="1500" dirty="0"/>
              <a:t>-up &amp; Q&amp;A</a:t>
            </a: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2205875" y="2308175"/>
            <a:ext cx="4865100" cy="133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" sz="6200" b="1" dirty="0" err="1"/>
              <a:t>Sbatch</a:t>
            </a:r>
            <a:r>
              <a:rPr lang="es" sz="6200" b="1" dirty="0"/>
              <a:t> File</a:t>
            </a:r>
            <a:endParaRPr sz="59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sbatch</a:t>
            </a:r>
            <a:endParaRPr sz="2700" b="1"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43434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What is </a:t>
            </a:r>
            <a:r>
              <a:rPr lang="es" sz="2300" b="1" u="sng"/>
              <a:t>sbatch</a:t>
            </a:r>
            <a:r>
              <a:rPr lang="es" b="1"/>
              <a:t>?</a:t>
            </a:r>
            <a:endParaRPr b="1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 b="1"/>
              <a:t>Command </a:t>
            </a:r>
            <a:r>
              <a:rPr lang="es" sz="1500"/>
              <a:t>to submit a job script to Slurm; runs in the background on compute nodes.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Delegate the work to de cluster: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s" sz="1500"/>
              <a:t>Submit once, let the cluster work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Example: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s" sz="1500"/>
              <a:t>Your script → Slurm "office" → Wait for resources → Cluster runs it</a:t>
            </a:r>
            <a:endParaRPr sz="1500"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375" y="1247372"/>
            <a:ext cx="2483451" cy="372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350" y="1924563"/>
            <a:ext cx="3715800" cy="218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sbatch</a:t>
            </a:r>
            <a:endParaRPr sz="2700" b="1">
              <a:solidFill>
                <a:schemeClr val="lt2"/>
              </a:solidFill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42753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 dirty="0"/>
              <a:t>Set up a </a:t>
            </a:r>
            <a:r>
              <a:rPr lang="es" b="1" dirty="0" err="1"/>
              <a:t>sbatch</a:t>
            </a:r>
            <a:r>
              <a:rPr lang="es" b="1" dirty="0"/>
              <a:t> script file</a:t>
            </a:r>
            <a:endParaRPr b="1" dirty="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 dirty="0"/>
              <a:t>0) Open a </a:t>
            </a:r>
            <a:r>
              <a:rPr lang="es" sz="1500" dirty="0">
                <a:solidFill>
                  <a:srgbClr val="FF0000"/>
                </a:solidFill>
              </a:rPr>
              <a:t>&lt;file-</a:t>
            </a:r>
            <a:r>
              <a:rPr lang="es" sz="1500" dirty="0" err="1">
                <a:solidFill>
                  <a:srgbClr val="FF0000"/>
                </a:solidFill>
              </a:rPr>
              <a:t>name</a:t>
            </a:r>
            <a:r>
              <a:rPr lang="es" sz="1500" dirty="0">
                <a:solidFill>
                  <a:srgbClr val="FF0000"/>
                </a:solidFill>
              </a:rPr>
              <a:t>&gt;</a:t>
            </a:r>
            <a:r>
              <a:rPr lang="es" sz="1500" dirty="0"/>
              <a:t>.</a:t>
            </a:r>
            <a:r>
              <a:rPr lang="es" sz="1500" b="1" dirty="0" err="1"/>
              <a:t>sbatch</a:t>
            </a:r>
            <a:r>
              <a:rPr lang="es" sz="1500" b="1" dirty="0"/>
              <a:t> </a:t>
            </a:r>
            <a:r>
              <a:rPr lang="es" sz="1500" dirty="0"/>
              <a:t>file</a:t>
            </a:r>
            <a:endParaRPr sz="1500" dirty="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 dirty="0"/>
              <a:t>1) </a:t>
            </a:r>
            <a:r>
              <a:rPr lang="es" sz="1500" dirty="0" err="1"/>
              <a:t>Init</a:t>
            </a:r>
            <a:r>
              <a:rPr lang="es" sz="1500" dirty="0"/>
              <a:t> </a:t>
            </a:r>
            <a:r>
              <a:rPr lang="es" sz="1500" dirty="0" err="1"/>
              <a:t>with</a:t>
            </a:r>
            <a:r>
              <a:rPr lang="es" sz="1500" dirty="0"/>
              <a:t> </a:t>
            </a:r>
            <a:r>
              <a:rPr lang="es" sz="1500" dirty="0" err="1"/>
              <a:t>shebang</a:t>
            </a:r>
            <a:endParaRPr sz="1500" dirty="0" err="1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5700" y="1437625"/>
            <a:ext cx="886125" cy="8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/>
          <p:nvPr/>
        </p:nvSpPr>
        <p:spPr>
          <a:xfrm>
            <a:off x="4675875" y="1781100"/>
            <a:ext cx="1757700" cy="47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350" y="1924563"/>
            <a:ext cx="3715800" cy="218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sbatch</a:t>
            </a:r>
            <a:endParaRPr sz="2700" b="1">
              <a:solidFill>
                <a:schemeClr val="lt2"/>
              </a:solidFill>
            </a:endParaRPr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42753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Set up a sbatch script file</a:t>
            </a:r>
            <a:endParaRPr b="1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0) Open a &lt;file-name&gt;.sbatch file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1) Init with shebang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2) Set up slurm directives at the beginning of the script by using “#SBATCH”</a:t>
            </a:r>
            <a:endParaRPr sz="1500"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5700" y="1437625"/>
            <a:ext cx="886125" cy="8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/>
          <p:nvPr/>
        </p:nvSpPr>
        <p:spPr>
          <a:xfrm>
            <a:off x="4721275" y="2287025"/>
            <a:ext cx="3911100" cy="1297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9D7F21-770C-6DFA-5F16-3C580DF9B59C}"/>
              </a:ext>
            </a:extLst>
          </p:cNvPr>
          <p:cNvSpPr txBox="1"/>
          <p:nvPr/>
        </p:nvSpPr>
        <p:spPr>
          <a:xfrm>
            <a:off x="5234940" y="4415790"/>
            <a:ext cx="36804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highlight>
                  <a:srgbClr val="FFFF00"/>
                </a:highlight>
              </a:rPr>
              <a:t>List of SLURM params: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>
                <a:highlight>
                  <a:srgbClr val="FFFF00"/>
                </a:highlight>
              </a:rPr>
              <a:t>https://slurm.schedmd.com/sbatch.html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350" y="1924563"/>
            <a:ext cx="3715800" cy="218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sbatch</a:t>
            </a:r>
            <a:endParaRPr sz="2700" b="1">
              <a:solidFill>
                <a:schemeClr val="lt2"/>
              </a:solidFill>
            </a:endParaRPr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42753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Set up a sbatch script file</a:t>
            </a:r>
            <a:endParaRPr b="1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0) Open a &lt;file-name&gt;.sbatch file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1) Init with shebang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2) Set up slurm directives at the beginning of the script by using “#SBATCH”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/>
              <a:t>3) </a:t>
            </a:r>
            <a:r>
              <a:rPr lang="es" sz="1500" b="1"/>
              <a:t>After directives, you can:</a:t>
            </a:r>
            <a:endParaRPr sz="1500" b="1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s" sz="1500"/>
              <a:t>Load dependencies with ‘module load’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s" sz="1500"/>
              <a:t>Set your commands you want to run</a:t>
            </a:r>
            <a:endParaRPr sz="1500"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5700" y="1437625"/>
            <a:ext cx="886125" cy="8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4539650" y="3564775"/>
            <a:ext cx="1783800" cy="700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4FE31-28BE-103E-2147-EC55B997EAB8}"/>
              </a:ext>
            </a:extLst>
          </p:cNvPr>
          <p:cNvSpPr txBox="1"/>
          <p:nvPr/>
        </p:nvSpPr>
        <p:spPr>
          <a:xfrm>
            <a:off x="5234940" y="4415790"/>
            <a:ext cx="4572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List of SLURM params:</a:t>
            </a:r>
            <a:endParaRPr lang="en-US" b="1" dirty="0"/>
          </a:p>
          <a:p>
            <a:r>
              <a:rPr lang="en-US" b="1" dirty="0"/>
              <a:t>https://slurm.schedmd.com/sbatch.html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897"/>
            <a:ext cx="8839201" cy="2946400"/>
          </a:xfrm>
          <a:prstGeom prst="rect">
            <a:avLst/>
          </a:prstGeom>
          <a:noFill/>
          <a:ln w="19050" cap="flat" cmpd="sng">
            <a:solidFill>
              <a:srgbClr val="18803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sbatch</a:t>
            </a:r>
            <a:endParaRPr sz="27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529AC-114B-C03A-5143-9DE175C5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953" y="464820"/>
            <a:ext cx="5682615" cy="443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915B6B-A40A-FBC7-9718-43DA1D9997F7}"/>
              </a:ext>
            </a:extLst>
          </p:cNvPr>
          <p:cNvSpPr txBox="1"/>
          <p:nvPr/>
        </p:nvSpPr>
        <p:spPr>
          <a:xfrm>
            <a:off x="7589799" y="2998470"/>
            <a:ext cx="14914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  <a:hlinkClick r:id="rId4"/>
              </a:rPr>
              <a:t>Slurm ENV Vars</a:t>
            </a:r>
            <a:endParaRPr lang="en-US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2F5216-52EA-F6BF-82D8-6D52BD9DA1E1}"/>
                  </a:ext>
                </a:extLst>
              </p14:cNvPr>
              <p14:cNvContentPartPr/>
              <p14:nvPr/>
            </p14:nvContentPartPr>
            <p14:xfrm>
              <a:off x="6355079" y="3306696"/>
              <a:ext cx="1203417" cy="609983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2F5216-52EA-F6BF-82D8-6D52BD9DA1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37445" y="3289062"/>
                <a:ext cx="1239044" cy="645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F5F3A1C-815A-B2CF-4951-D22581F7575E}"/>
                  </a:ext>
                </a:extLst>
              </p14:cNvPr>
              <p14:cNvContentPartPr/>
              <p14:nvPr/>
            </p14:nvContentPartPr>
            <p14:xfrm>
              <a:off x="6294119" y="3794759"/>
              <a:ext cx="185489" cy="138281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F5F3A1C-815A-B2CF-4951-D22581F757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76145" y="3776800"/>
                <a:ext cx="221077" cy="17383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A51519CD-66DE-2BBD-EB5E-6E093032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>
            <a:extLst>
              <a:ext uri="{FF2B5EF4-FFF2-40B4-BE49-F238E27FC236}">
                <a16:creationId xmlns:a16="http://schemas.microsoft.com/office/drawing/2014/main" id="{D14D068B-9645-48B2-8194-44B16EB0B7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000" b="1"/>
              <a:t>Scripting on the cluster — Slurm: deploy with sbatch</a:t>
            </a:r>
            <a:endParaRPr lang="es" sz="2000" b="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1DC52-D14C-59C0-98F5-2C717AD41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" b="36017"/>
          <a:stretch>
            <a:fillRect/>
          </a:stretch>
        </p:blipFill>
        <p:spPr>
          <a:xfrm>
            <a:off x="600075" y="1671638"/>
            <a:ext cx="7936241" cy="115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000" b="1"/>
              <a:t>Scripting on the cluster — Slurm: deploy with sbatch</a:t>
            </a:r>
            <a:endParaRPr lang="es" sz="2000" b="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66F06-018E-5B64-72BA-1BF8CB3943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" b="36017"/>
          <a:stretch>
            <a:fillRect/>
          </a:stretch>
        </p:blipFill>
        <p:spPr>
          <a:xfrm>
            <a:off x="600075" y="1671638"/>
            <a:ext cx="7936241" cy="1151840"/>
          </a:xfrm>
          <a:prstGeom prst="rect">
            <a:avLst/>
          </a:prstGeom>
        </p:spPr>
      </p:pic>
      <p:sp>
        <p:nvSpPr>
          <p:cNvPr id="8" name="Google Shape;135;p25">
            <a:extLst>
              <a:ext uri="{FF2B5EF4-FFF2-40B4-BE49-F238E27FC236}">
                <a16:creationId xmlns:a16="http://schemas.microsoft.com/office/drawing/2014/main" id="{74B94C55-2BF3-AD24-C890-D0A08654FF84}"/>
              </a:ext>
            </a:extLst>
          </p:cNvPr>
          <p:cNvSpPr/>
          <p:nvPr/>
        </p:nvSpPr>
        <p:spPr>
          <a:xfrm>
            <a:off x="1473064" y="2310262"/>
            <a:ext cx="1358660" cy="26142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4703240-8A74-9D2D-1E3F-05BC3095ACFC}"/>
                  </a:ext>
                </a:extLst>
              </p14:cNvPr>
              <p14:cNvContentPartPr/>
              <p14:nvPr/>
            </p14:nvContentPartPr>
            <p14:xfrm>
              <a:off x="2758148" y="2559716"/>
              <a:ext cx="869315" cy="443261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4703240-8A74-9D2D-1E3F-05BC3095AC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0157" y="2541727"/>
                <a:ext cx="904937" cy="4788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8016F7A-7C60-1CE4-FC7F-FE5C66F41E64}"/>
              </a:ext>
            </a:extLst>
          </p:cNvPr>
          <p:cNvSpPr txBox="1"/>
          <p:nvPr/>
        </p:nvSpPr>
        <p:spPr>
          <a:xfrm>
            <a:off x="3413760" y="3002280"/>
            <a:ext cx="14173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Slurm</a:t>
            </a:r>
            <a:r>
              <a:rPr lang="en-US" dirty="0"/>
              <a:t> </a:t>
            </a:r>
            <a:r>
              <a:rPr lang="en-US" dirty="0" err="1"/>
              <a:t>JobID</a:t>
            </a:r>
          </a:p>
        </p:txBody>
      </p:sp>
      <p:pic>
        <p:nvPicPr>
          <p:cNvPr id="11" name="Picture 10" descr="Importante - Iconos gratis de comunicaciones">
            <a:extLst>
              <a:ext uri="{FF2B5EF4-FFF2-40B4-BE49-F238E27FC236}">
                <a16:creationId xmlns:a16="http://schemas.microsoft.com/office/drawing/2014/main" id="{72AB0003-ED04-67C3-BB02-33E439FBA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550" y="1398270"/>
            <a:ext cx="19431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7AF273A3-5A0B-44C2-D78A-09D6C38D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>
            <a:extLst>
              <a:ext uri="{FF2B5EF4-FFF2-40B4-BE49-F238E27FC236}">
                <a16:creationId xmlns:a16="http://schemas.microsoft.com/office/drawing/2014/main" id="{2F150048-D6C5-5FC2-E656-8890B69F1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400" b="1" dirty="0"/>
              <a:t>Scripting </a:t>
            </a:r>
            <a:r>
              <a:rPr lang="es" sz="2400" b="1" dirty="0" err="1"/>
              <a:t>on</a:t>
            </a:r>
            <a:r>
              <a:rPr lang="es" sz="2400" b="1" dirty="0"/>
              <a:t> </a:t>
            </a:r>
            <a:r>
              <a:rPr lang="es" sz="2400" b="1" dirty="0" err="1"/>
              <a:t>the</a:t>
            </a:r>
            <a:r>
              <a:rPr lang="es" sz="2400" b="1" dirty="0"/>
              <a:t> </a:t>
            </a:r>
            <a:r>
              <a:rPr lang="es" sz="2400" b="1" dirty="0" err="1"/>
              <a:t>cluster</a:t>
            </a:r>
            <a:r>
              <a:rPr lang="es" sz="2400" b="1" dirty="0"/>
              <a:t> — </a:t>
            </a:r>
            <a:r>
              <a:rPr lang="es" sz="2400" b="1" dirty="0" err="1"/>
              <a:t>Slurm</a:t>
            </a:r>
            <a:r>
              <a:rPr lang="es" sz="2400" b="1" dirty="0"/>
              <a:t>: monitor </a:t>
            </a:r>
            <a:r>
              <a:rPr lang="es" sz="2400" b="1" dirty="0" err="1"/>
              <a:t>with</a:t>
            </a:r>
            <a:r>
              <a:rPr lang="es" sz="2400" b="1" dirty="0"/>
              <a:t> </a:t>
            </a:r>
            <a:r>
              <a:rPr lang="es" sz="2400" b="1" dirty="0" err="1"/>
              <a:t>squeue</a:t>
            </a:r>
            <a:endParaRPr lang="es" sz="2400" b="1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D5DC0-56C2-D309-FF64-BA84488138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" b="36017"/>
          <a:stretch>
            <a:fillRect/>
          </a:stretch>
        </p:blipFill>
        <p:spPr>
          <a:xfrm>
            <a:off x="600075" y="1671638"/>
            <a:ext cx="7936241" cy="1151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3151A5-B232-40F2-75F2-3C918F92AF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288" r="192" b="22458"/>
          <a:stretch>
            <a:fillRect/>
          </a:stretch>
        </p:blipFill>
        <p:spPr>
          <a:xfrm>
            <a:off x="600075" y="3462338"/>
            <a:ext cx="7928640" cy="274611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29FB3E40-C9C7-691F-94C0-264BBDEFA359}"/>
              </a:ext>
            </a:extLst>
          </p:cNvPr>
          <p:cNvSpPr/>
          <p:nvPr/>
        </p:nvSpPr>
        <p:spPr>
          <a:xfrm>
            <a:off x="4069080" y="2903220"/>
            <a:ext cx="182879" cy="4114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4574B7-0442-98C4-97CD-8B0270DB594E}"/>
                  </a:ext>
                </a:extLst>
              </p14:cNvPr>
              <p14:cNvContentPartPr/>
              <p14:nvPr/>
            </p14:nvContentPartPr>
            <p14:xfrm>
              <a:off x="9906000" y="2606040"/>
              <a:ext cx="7620" cy="76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4574B7-0442-98C4-97CD-8B0270DB59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3667" y="2232660"/>
                <a:ext cx="91440" cy="7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961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rcRect t="19624"/>
          <a:stretch>
            <a:fillRect/>
          </a:stretch>
        </p:blipFill>
        <p:spPr>
          <a:xfrm>
            <a:off x="830150" y="1588322"/>
            <a:ext cx="7353300" cy="29321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1867F2-0B5D-A8E2-2CA8-D276DE309197}"/>
              </a:ext>
            </a:extLst>
          </p:cNvPr>
          <p:cNvSpPr txBox="1"/>
          <p:nvPr/>
        </p:nvSpPr>
        <p:spPr>
          <a:xfrm>
            <a:off x="327660" y="621030"/>
            <a:ext cx="848106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i="0" u="none" strike="noStrike" baseline="0">
                <a:solidFill>
                  <a:srgbClr val="000000"/>
                </a:solidFill>
                <a:latin typeface="Arial"/>
              </a:rPr>
              <a:t>Scripting on the cluster — Slurm: monitor with squeue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68CCA98E-0718-B17C-5158-3D980D89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908E40EB-4AB2-3BAB-F30C-40A263496B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2400" b="1" dirty="0"/>
              <a:t>Scripting on the cluster — </a:t>
            </a:r>
            <a:r>
              <a:rPr lang="es-ES" sz="2400" b="1" dirty="0" err="1"/>
              <a:t>Slurm</a:t>
            </a:r>
            <a:r>
              <a:rPr lang="es-ES" sz="2400" b="1" dirty="0"/>
              <a:t>: monitor </a:t>
            </a:r>
            <a:r>
              <a:rPr lang="es-ES" sz="2400" b="1" dirty="0" err="1"/>
              <a:t>with</a:t>
            </a:r>
            <a:r>
              <a:rPr lang="es-ES" sz="2400" b="1" dirty="0"/>
              <a:t> </a:t>
            </a:r>
            <a:r>
              <a:rPr lang="es-ES" sz="2400" b="1" dirty="0" err="1"/>
              <a:t>scontrol</a:t>
            </a:r>
            <a:r>
              <a:rPr lang="es-ES" sz="2400" b="1" dirty="0"/>
              <a:t> 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34E36-7B3A-A2C2-E059-0196FEB0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58" y="1287780"/>
            <a:ext cx="4984024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4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DB721A6B-4F88-819D-6FAB-CBC5BFFD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675A565C-3C53-A177-2DAA-9694D9E24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2400" b="1" dirty="0"/>
              <a:t>Scripting on the cluster — </a:t>
            </a:r>
            <a:r>
              <a:rPr lang="es-ES" sz="2400" b="1" dirty="0" err="1"/>
              <a:t>Slurm</a:t>
            </a:r>
            <a:r>
              <a:rPr lang="es-ES" sz="2400" b="1" dirty="0"/>
              <a:t>: monitor </a:t>
            </a:r>
            <a:r>
              <a:rPr lang="es-ES" sz="2400" b="1" dirty="0" err="1"/>
              <a:t>with</a:t>
            </a:r>
            <a:r>
              <a:rPr lang="es-ES" sz="2400" b="1" dirty="0"/>
              <a:t> </a:t>
            </a:r>
            <a:r>
              <a:rPr lang="es-ES" sz="2400" b="1" dirty="0" err="1"/>
              <a:t>sacct</a:t>
            </a:r>
            <a:r>
              <a:rPr lang="es-ES" sz="2400" b="1" dirty="0"/>
              <a:t> 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CFA00-7FD3-D88F-D093-DFEA799E1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16430"/>
            <a:ext cx="7932420" cy="136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77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2A7A4CDD-B815-9115-E602-803831B8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07CB3360-28B2-AC29-6E31-80864252D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2400" b="1" dirty="0"/>
              <a:t>Scripting on the cluster — </a:t>
            </a:r>
            <a:r>
              <a:rPr lang="es-ES" sz="2400" b="1" dirty="0" err="1"/>
              <a:t>Slurm</a:t>
            </a:r>
            <a:r>
              <a:rPr lang="es-ES" sz="2400" b="1" dirty="0"/>
              <a:t>: cancel a </a:t>
            </a:r>
            <a:r>
              <a:rPr lang="es-ES" sz="2400" b="1" dirty="0" err="1"/>
              <a:t>job</a:t>
            </a:r>
            <a:endParaRPr lang="en-US" sz="2400" dirty="0" err="1"/>
          </a:p>
        </p:txBody>
      </p:sp>
      <p:sp>
        <p:nvSpPr>
          <p:cNvPr id="3" name="Google Shape;133;p25">
            <a:extLst>
              <a:ext uri="{FF2B5EF4-FFF2-40B4-BE49-F238E27FC236}">
                <a16:creationId xmlns:a16="http://schemas.microsoft.com/office/drawing/2014/main" id="{4F09F3BD-A26A-6643-C145-10BD1CBE3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42753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>
              <a:buNone/>
            </a:pPr>
            <a:r>
              <a:rPr lang="es" sz="1600" b="1" dirty="0"/>
              <a:t>When do we cancel a </a:t>
            </a:r>
            <a:r>
              <a:rPr lang="es" sz="1600" b="1" dirty="0" err="1"/>
              <a:t>job</a:t>
            </a:r>
            <a:r>
              <a:rPr lang="es" sz="1600" b="1" dirty="0"/>
              <a:t>?</a:t>
            </a:r>
            <a:endParaRPr lang="en-US" sz="1600" dirty="0"/>
          </a:p>
          <a:p>
            <a:pPr marL="285750" indent="-285750"/>
            <a:r>
              <a:rPr lang="es" sz="1600" dirty="0"/>
              <a:t>A </a:t>
            </a:r>
            <a:r>
              <a:rPr lang="es" sz="1600" dirty="0" err="1"/>
              <a:t>job</a:t>
            </a:r>
            <a:r>
              <a:rPr lang="es" sz="1600" dirty="0"/>
              <a:t> </a:t>
            </a:r>
            <a:r>
              <a:rPr lang="es" sz="1600" dirty="0" err="1"/>
              <a:t>does</a:t>
            </a:r>
            <a:r>
              <a:rPr lang="es" sz="1600" dirty="0"/>
              <a:t> </a:t>
            </a:r>
            <a:r>
              <a:rPr lang="es" sz="1600" dirty="0" err="1"/>
              <a:t>not</a:t>
            </a:r>
            <a:r>
              <a:rPr lang="es" sz="1600" dirty="0"/>
              <a:t> </a:t>
            </a:r>
            <a:r>
              <a:rPr lang="es" sz="1600" dirty="0" err="1"/>
              <a:t>meet</a:t>
            </a:r>
            <a:r>
              <a:rPr lang="es" sz="1600" dirty="0"/>
              <a:t> </a:t>
            </a:r>
            <a:r>
              <a:rPr lang="es" sz="1600" dirty="0" err="1"/>
              <a:t>the</a:t>
            </a:r>
            <a:r>
              <a:rPr lang="es" sz="1600" dirty="0"/>
              <a:t> </a:t>
            </a:r>
            <a:r>
              <a:rPr lang="es" sz="1600" dirty="0" err="1"/>
              <a:t>requirements</a:t>
            </a:r>
            <a:r>
              <a:rPr lang="es" sz="1600" dirty="0"/>
              <a:t> and </a:t>
            </a:r>
            <a:r>
              <a:rPr lang="es" sz="1600" dirty="0" err="1"/>
              <a:t>remains</a:t>
            </a:r>
            <a:r>
              <a:rPr lang="es" sz="1600" dirty="0"/>
              <a:t> in </a:t>
            </a:r>
            <a:r>
              <a:rPr lang="es" sz="1600" dirty="0" err="1"/>
              <a:t>the</a:t>
            </a:r>
            <a:r>
              <a:rPr lang="es" sz="1600" dirty="0"/>
              <a:t> </a:t>
            </a:r>
            <a:r>
              <a:rPr lang="es" sz="1600" b="1" dirty="0"/>
              <a:t>PD (</a:t>
            </a:r>
            <a:r>
              <a:rPr lang="es" sz="1600" b="1" dirty="0" err="1"/>
              <a:t>pending</a:t>
            </a:r>
            <a:r>
              <a:rPr lang="es" sz="1600" b="1" dirty="0"/>
              <a:t>)</a:t>
            </a:r>
            <a:r>
              <a:rPr lang="es" sz="1600" dirty="0"/>
              <a:t> </a:t>
            </a:r>
            <a:r>
              <a:rPr lang="es" sz="1600" dirty="0" err="1"/>
              <a:t>state</a:t>
            </a:r>
            <a:r>
              <a:rPr lang="es" sz="1600" dirty="0"/>
              <a:t>.</a:t>
            </a:r>
          </a:p>
          <a:p>
            <a:pPr marL="285750" indent="-285750"/>
            <a:endParaRPr lang="es" sz="1600" dirty="0"/>
          </a:p>
          <a:p>
            <a:pPr marL="285750" indent="-285750"/>
            <a:r>
              <a:rPr lang="es" sz="1600" dirty="0"/>
              <a:t>I </a:t>
            </a:r>
            <a:r>
              <a:rPr lang="es" sz="1600" dirty="0" err="1"/>
              <a:t>made</a:t>
            </a:r>
            <a:r>
              <a:rPr lang="es" sz="1600" dirty="0"/>
              <a:t> a </a:t>
            </a:r>
            <a:r>
              <a:rPr lang="es" sz="1600" dirty="0" err="1"/>
              <a:t>mistake</a:t>
            </a:r>
            <a:r>
              <a:rPr lang="es" sz="1600" dirty="0"/>
              <a:t> </a:t>
            </a:r>
            <a:r>
              <a:rPr lang="es" sz="1600" dirty="0" err="1"/>
              <a:t>when</a:t>
            </a:r>
            <a:r>
              <a:rPr lang="es" sz="1600" dirty="0"/>
              <a:t> </a:t>
            </a:r>
            <a:r>
              <a:rPr lang="es" sz="1600" dirty="0" err="1"/>
              <a:t>submitting</a:t>
            </a:r>
            <a:r>
              <a:rPr lang="es" sz="1600" dirty="0"/>
              <a:t> </a:t>
            </a:r>
            <a:r>
              <a:rPr lang="es" sz="1600" dirty="0" err="1"/>
              <a:t>or</a:t>
            </a:r>
            <a:r>
              <a:rPr lang="es" sz="1600" dirty="0"/>
              <a:t> </a:t>
            </a:r>
            <a:r>
              <a:rPr lang="es" sz="1600" dirty="0" err="1"/>
              <a:t>configuring</a:t>
            </a:r>
            <a:r>
              <a:rPr lang="es" sz="1600" dirty="0"/>
              <a:t> </a:t>
            </a:r>
            <a:r>
              <a:rPr lang="es" sz="1600" dirty="0" err="1"/>
              <a:t>the</a:t>
            </a:r>
            <a:r>
              <a:rPr lang="es" sz="1600" dirty="0"/>
              <a:t> </a:t>
            </a:r>
            <a:r>
              <a:rPr lang="es" sz="1600" dirty="0" err="1"/>
              <a:t>job</a:t>
            </a:r>
            <a:r>
              <a:rPr lang="es" sz="1600" dirty="0"/>
              <a:t> and </a:t>
            </a:r>
            <a:r>
              <a:rPr lang="es" sz="1600" dirty="0" err="1"/>
              <a:t>want</a:t>
            </a:r>
            <a:r>
              <a:rPr lang="es" sz="1600" dirty="0"/>
              <a:t> </a:t>
            </a:r>
            <a:r>
              <a:rPr lang="es" sz="1600" dirty="0" err="1"/>
              <a:t>to</a:t>
            </a:r>
            <a:r>
              <a:rPr lang="es" sz="1600" dirty="0"/>
              <a:t> cancel </a:t>
            </a:r>
            <a:r>
              <a:rPr lang="es" sz="1600" dirty="0" err="1"/>
              <a:t>it</a:t>
            </a:r>
            <a:r>
              <a:rPr lang="es" sz="1600" dirty="0"/>
              <a:t> </a:t>
            </a:r>
            <a:r>
              <a:rPr lang="es" sz="1600" dirty="0" err="1"/>
              <a:t>before</a:t>
            </a:r>
            <a:r>
              <a:rPr lang="es" sz="1600" dirty="0"/>
              <a:t> </a:t>
            </a:r>
            <a:r>
              <a:rPr lang="es" sz="1600" dirty="0" err="1"/>
              <a:t>it</a:t>
            </a:r>
            <a:r>
              <a:rPr lang="es" sz="1600" dirty="0"/>
              <a:t> continues.</a:t>
            </a:r>
            <a:endParaRPr sz="1600" dirty="0"/>
          </a:p>
          <a:p>
            <a:pPr marL="285750" indent="-285750"/>
            <a:endParaRPr lang="es" sz="1600" dirty="0"/>
          </a:p>
          <a:p>
            <a:pPr marL="285750" indent="-285750"/>
            <a:r>
              <a:rPr lang="es" sz="1600" dirty="0"/>
              <a:t>I </a:t>
            </a:r>
            <a:r>
              <a:rPr lang="es" sz="1600" dirty="0" err="1"/>
              <a:t>realize</a:t>
            </a:r>
            <a:r>
              <a:rPr lang="es" sz="1600" dirty="0"/>
              <a:t> </a:t>
            </a:r>
            <a:r>
              <a:rPr lang="es" sz="1600" dirty="0" err="1"/>
              <a:t>that</a:t>
            </a:r>
            <a:r>
              <a:rPr lang="es" sz="1600" dirty="0"/>
              <a:t> I </a:t>
            </a:r>
            <a:r>
              <a:rPr lang="es" sz="1600" dirty="0" err="1"/>
              <a:t>allocated</a:t>
            </a:r>
            <a:r>
              <a:rPr lang="es" sz="1600" dirty="0"/>
              <a:t> more </a:t>
            </a:r>
            <a:r>
              <a:rPr lang="es" sz="1600" dirty="0" err="1"/>
              <a:t>resources</a:t>
            </a:r>
            <a:r>
              <a:rPr lang="es" sz="1600" dirty="0"/>
              <a:t> </a:t>
            </a:r>
            <a:r>
              <a:rPr lang="es" sz="1600" dirty="0" err="1"/>
              <a:t>than</a:t>
            </a:r>
            <a:r>
              <a:rPr lang="es" sz="1600" dirty="0"/>
              <a:t> </a:t>
            </a:r>
            <a:r>
              <a:rPr lang="es" sz="1600" dirty="0" err="1"/>
              <a:t>necessary</a:t>
            </a:r>
            <a:r>
              <a:rPr lang="es" sz="1600" dirty="0"/>
              <a:t>.</a:t>
            </a:r>
          </a:p>
          <a:p>
            <a:pPr marL="285750" indent="-285750"/>
            <a:endParaRPr lang="es" sz="1600" dirty="0"/>
          </a:p>
          <a:p>
            <a:pPr marL="285750" indent="-285750"/>
            <a:r>
              <a:rPr lang="es" sz="1600" dirty="0" err="1"/>
              <a:t>Something</a:t>
            </a:r>
            <a:r>
              <a:rPr lang="es" sz="1600" dirty="0"/>
              <a:t> </a:t>
            </a:r>
            <a:r>
              <a:rPr lang="es" sz="1600" dirty="0" err="1"/>
              <a:t>unexpected</a:t>
            </a:r>
            <a:r>
              <a:rPr lang="es" sz="1600" dirty="0"/>
              <a:t> </a:t>
            </a:r>
            <a:r>
              <a:rPr lang="es" sz="1600" dirty="0" err="1"/>
              <a:t>happened</a:t>
            </a:r>
            <a:r>
              <a:rPr lang="es" sz="1600" dirty="0"/>
              <a:t> and </a:t>
            </a:r>
            <a:r>
              <a:rPr lang="es" sz="1600" dirty="0" err="1"/>
              <a:t>the</a:t>
            </a:r>
            <a:r>
              <a:rPr lang="es" sz="1600" dirty="0"/>
              <a:t> </a:t>
            </a:r>
            <a:r>
              <a:rPr lang="es" sz="1600" dirty="0" err="1"/>
              <a:t>job</a:t>
            </a:r>
            <a:r>
              <a:rPr lang="es" sz="1600" dirty="0"/>
              <a:t> </a:t>
            </a:r>
            <a:r>
              <a:rPr lang="es" sz="1600" dirty="0" err="1"/>
              <a:t>appears</a:t>
            </a:r>
            <a:r>
              <a:rPr lang="es" sz="1600" dirty="0"/>
              <a:t> </a:t>
            </a:r>
            <a:r>
              <a:rPr lang="es" sz="1600" dirty="0" err="1"/>
              <a:t>to</a:t>
            </a:r>
            <a:r>
              <a:rPr lang="es" sz="1600" dirty="0"/>
              <a:t> be </a:t>
            </a:r>
            <a:r>
              <a:rPr lang="es" sz="1600" dirty="0" err="1"/>
              <a:t>stuck</a:t>
            </a:r>
            <a:r>
              <a:rPr lang="es" sz="1600" dirty="0"/>
              <a:t>.</a:t>
            </a:r>
          </a:p>
          <a:p>
            <a:pPr marL="0" indent="0">
              <a:buNone/>
            </a:pPr>
            <a:endParaRPr lang="es" b="1" dirty="0"/>
          </a:p>
        </p:txBody>
      </p:sp>
      <p:pic>
        <p:nvPicPr>
          <p:cNvPr id="6" name="Picture 5" descr="Job Canceled Stock Illustrations – 134 Job Canceled Stock Illustrations, Vectors &amp; Clipart - Dreamstime">
            <a:extLst>
              <a:ext uri="{FF2B5EF4-FFF2-40B4-BE49-F238E27FC236}">
                <a16:creationId xmlns:a16="http://schemas.microsoft.com/office/drawing/2014/main" id="{9FAEB402-4F08-D4FC-D432-78E5E045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607" y="1757363"/>
            <a:ext cx="3194685" cy="245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23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073C899A-E7FC-D749-0C28-56736F37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>
            <a:extLst>
              <a:ext uri="{FF2B5EF4-FFF2-40B4-BE49-F238E27FC236}">
                <a16:creationId xmlns:a16="http://schemas.microsoft.com/office/drawing/2014/main" id="{C3BCCE1B-AD0C-AA64-B76C-DFD93F6A7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2400" b="1" dirty="0"/>
              <a:t>Scripting on the cluster — </a:t>
            </a:r>
            <a:r>
              <a:rPr lang="es-ES" sz="2400" b="1" dirty="0" err="1"/>
              <a:t>Slurm</a:t>
            </a:r>
            <a:r>
              <a:rPr lang="es-ES" sz="2400" b="1" dirty="0"/>
              <a:t>: cancel a </a:t>
            </a:r>
            <a:r>
              <a:rPr lang="es-ES" sz="2400" b="1" dirty="0" err="1"/>
              <a:t>job</a:t>
            </a:r>
            <a:endParaRPr lang="en-US" sz="2400" dirty="0" err="1"/>
          </a:p>
        </p:txBody>
      </p:sp>
      <p:sp>
        <p:nvSpPr>
          <p:cNvPr id="3" name="Google Shape;133;p25">
            <a:extLst>
              <a:ext uri="{FF2B5EF4-FFF2-40B4-BE49-F238E27FC236}">
                <a16:creationId xmlns:a16="http://schemas.microsoft.com/office/drawing/2014/main" id="{0F5A3468-ED8E-A477-FEF0-2A0C3D9A0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42753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s" sz="1600" b="1" dirty="0" err="1"/>
              <a:t>When</a:t>
            </a:r>
            <a:r>
              <a:rPr lang="es" sz="1600" b="1" dirty="0"/>
              <a:t> do </a:t>
            </a:r>
            <a:r>
              <a:rPr lang="es" sz="1600" b="1" dirty="0" err="1"/>
              <a:t>we</a:t>
            </a:r>
            <a:r>
              <a:rPr lang="es" sz="1600" b="1" dirty="0"/>
              <a:t> cancel a </a:t>
            </a:r>
            <a:r>
              <a:rPr lang="es" sz="1600" b="1" dirty="0" err="1"/>
              <a:t>job</a:t>
            </a:r>
            <a:r>
              <a:rPr lang="es" sz="1600" b="1" dirty="0"/>
              <a:t>?</a:t>
            </a:r>
            <a:endParaRPr lang="en-US" sz="1600" dirty="0"/>
          </a:p>
          <a:p>
            <a:pPr marL="0" indent="0">
              <a:buNone/>
            </a:pPr>
            <a:endParaRPr lang="e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1D09F-C174-57D1-A863-80DF8C8B9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68" y="1886902"/>
            <a:ext cx="5648325" cy="22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73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Monitoring and job states</a:t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325" y="1322797"/>
            <a:ext cx="6622541" cy="372517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/>
          <p:nvPr/>
        </p:nvSpPr>
        <p:spPr>
          <a:xfrm>
            <a:off x="1578900" y="3422600"/>
            <a:ext cx="1096200" cy="543300"/>
          </a:xfrm>
          <a:prstGeom prst="chevron">
            <a:avLst>
              <a:gd name="adj" fmla="val 50000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1776375" y="3517250"/>
            <a:ext cx="97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chemeClr val="dk1"/>
                </a:solidFill>
              </a:rPr>
              <a:t>SBATCH</a:t>
            </a:r>
            <a:endParaRPr sz="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body" idx="1"/>
          </p:nvPr>
        </p:nvSpPr>
        <p:spPr>
          <a:xfrm>
            <a:off x="2025000" y="4641600"/>
            <a:ext cx="4497900" cy="41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Bigger asks = longer wait, not faster.</a:t>
            </a:r>
            <a:endParaRPr b="1"/>
          </a:p>
        </p:txBody>
      </p:sp>
      <p:pic>
        <p:nvPicPr>
          <p:cNvPr id="182" name="Google Shape;182;p32" title="minion-alarm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225" y="1420950"/>
            <a:ext cx="3156650" cy="315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sbatch</a:t>
            </a:r>
            <a:endParaRPr sz="27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8821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Once the job/s have finished → Output files</a:t>
            </a:r>
            <a:endParaRPr b="1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 b="1"/>
              <a:t>Standard output</a:t>
            </a:r>
            <a:r>
              <a:rPr lang="es" sz="1500"/>
              <a:t>: Standard outputs of your program. 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For example, if you used:  </a:t>
            </a:r>
            <a:r>
              <a:rPr lang="es" sz="1500" b="1">
                <a:solidFill>
                  <a:srgbClr val="188038"/>
                </a:solidFill>
              </a:rPr>
              <a:t>--output=slurm-%j.out</a:t>
            </a:r>
            <a:endParaRPr sz="1500"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s" sz="1500" b="1"/>
              <a:t>Standard error</a:t>
            </a:r>
            <a:r>
              <a:rPr lang="es" sz="1500"/>
              <a:t>: Potential errors you face during execution appear here. 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For example, if you used:  </a:t>
            </a:r>
            <a:r>
              <a:rPr lang="es" sz="1500" b="1">
                <a:solidFill>
                  <a:srgbClr val="188038"/>
                </a:solidFill>
              </a:rPr>
              <a:t>--error=slurm-%j.err</a:t>
            </a:r>
            <a:endParaRPr sz="1500"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600" y="1437624"/>
            <a:ext cx="1261450" cy="12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600" y="3264574"/>
            <a:ext cx="1261450" cy="126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3"/>
          <p:cNvSpPr txBox="1"/>
          <p:nvPr/>
        </p:nvSpPr>
        <p:spPr>
          <a:xfrm>
            <a:off x="6110575" y="4526025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slurm-12345.err</a:t>
            </a:r>
            <a:endParaRPr b="1"/>
          </a:p>
        </p:txBody>
      </p:sp>
      <p:sp>
        <p:nvSpPr>
          <p:cNvPr id="192" name="Google Shape;192;p33"/>
          <p:cNvSpPr txBox="1"/>
          <p:nvPr/>
        </p:nvSpPr>
        <p:spPr>
          <a:xfrm>
            <a:off x="6110575" y="2699075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slurm-12345.out</a:t>
            </a:r>
            <a:endParaRPr b="1"/>
          </a:p>
        </p:txBody>
      </p:sp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000" b="1" dirty="0"/>
              <a:t>Scripting </a:t>
            </a:r>
            <a:r>
              <a:rPr lang="es" sz="2000" b="1" dirty="0" err="1"/>
              <a:t>on</a:t>
            </a:r>
            <a:r>
              <a:rPr lang="es" sz="2000" b="1" dirty="0"/>
              <a:t> </a:t>
            </a:r>
            <a:r>
              <a:rPr lang="es" sz="2000" b="1" dirty="0" err="1"/>
              <a:t>the</a:t>
            </a:r>
            <a:r>
              <a:rPr lang="es" sz="2000" b="1" dirty="0"/>
              <a:t> </a:t>
            </a:r>
            <a:r>
              <a:rPr lang="es" sz="2000" b="1" dirty="0" err="1"/>
              <a:t>cluster</a:t>
            </a:r>
            <a:r>
              <a:rPr lang="es" sz="2000" b="1" dirty="0"/>
              <a:t> — </a:t>
            </a:r>
            <a:r>
              <a:rPr lang="es" sz="2000" b="1" dirty="0" err="1"/>
              <a:t>Slurm</a:t>
            </a:r>
            <a:r>
              <a:rPr lang="es" sz="2000" b="1" dirty="0"/>
              <a:t>: </a:t>
            </a:r>
            <a:r>
              <a:rPr lang="es" sz="2000" b="1" dirty="0" err="1"/>
              <a:t>Redirecting</a:t>
            </a:r>
            <a:r>
              <a:rPr lang="es" sz="2000" b="1" dirty="0"/>
              <a:t> Job Output</a:t>
            </a:r>
            <a:endParaRPr sz="2700" b="1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7249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Good Practices: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16706" algn="l" rtl="0"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>
                <a:solidFill>
                  <a:srgbClr val="BFBFBF"/>
                </a:solidFill>
              </a:rPr>
              <a:t>✅</a:t>
            </a:r>
            <a:r>
              <a:rPr lang="es" sz="1500"/>
              <a:t>Descriptive </a:t>
            </a:r>
            <a:r>
              <a:rPr lang="es" sz="1500" b="1"/>
              <a:t>--job-name</a:t>
            </a:r>
            <a:r>
              <a:rPr lang="es" sz="1500"/>
              <a:t>; comment your script.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16706" algn="l" rtl="0">
              <a:spcBef>
                <a:spcPts val="360"/>
              </a:spcBef>
              <a:spcAft>
                <a:spcPts val="0"/>
              </a:spcAft>
              <a:buSzPct val="88235"/>
              <a:buChar char="•"/>
            </a:pPr>
            <a:r>
              <a:rPr lang="es" sz="1700">
                <a:solidFill>
                  <a:srgbClr val="BFBFBF"/>
                </a:solidFill>
              </a:rPr>
              <a:t>❌</a:t>
            </a:r>
            <a:r>
              <a:rPr lang="es" sz="1500"/>
              <a:t>Never run heavy jobs on the login node !!!! Use </a:t>
            </a:r>
            <a:r>
              <a:rPr lang="es" sz="1500" b="1"/>
              <a:t>sbatch/srun</a:t>
            </a:r>
            <a:r>
              <a:rPr lang="es" sz="1500"/>
              <a:t>.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16706" algn="l" rtl="0">
              <a:spcBef>
                <a:spcPts val="360"/>
              </a:spcBef>
              <a:spcAft>
                <a:spcPts val="0"/>
              </a:spcAft>
              <a:buSzPct val="88235"/>
              <a:buChar char="•"/>
            </a:pPr>
            <a:r>
              <a:rPr lang="es" sz="1700">
                <a:solidFill>
                  <a:srgbClr val="BFBFBF"/>
                </a:solidFill>
              </a:rPr>
              <a:t>❌</a:t>
            </a:r>
            <a:r>
              <a:rPr lang="es" sz="1500"/>
              <a:t>Do not request more resources than need!!!!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 </a:t>
            </a:r>
            <a:r>
              <a:rPr lang="es" sz="1700">
                <a:solidFill>
                  <a:srgbClr val="BFBFBF"/>
                </a:solidFill>
              </a:rPr>
              <a:t> </a:t>
            </a:r>
            <a:endParaRPr>
              <a:solidFill>
                <a:srgbClr val="BFBFBF"/>
              </a:solidFill>
            </a:endParaRPr>
          </a:p>
          <a:p>
            <a:pPr marL="457200" lvl="0" indent="-316706" algn="l" rtl="0"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>
                <a:solidFill>
                  <a:srgbClr val="BFBFBF"/>
                </a:solidFill>
              </a:rPr>
              <a:t>✅</a:t>
            </a:r>
            <a:r>
              <a:rPr lang="es" sz="1500"/>
              <a:t>Test small first, then scale.</a:t>
            </a:r>
            <a:endParaRPr sz="15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16706" algn="l" rtl="0"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>
                <a:solidFill>
                  <a:srgbClr val="BFBFBF"/>
                </a:solidFill>
              </a:rPr>
              <a:t>✅</a:t>
            </a:r>
            <a:r>
              <a:rPr lang="es" sz="1500"/>
              <a:t>Version your scripts (Git).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199" name="Google Shape;199;p34"/>
          <p:cNvPicPr preferRelativeResize="0"/>
          <p:nvPr/>
        </p:nvPicPr>
        <p:blipFill rotWithShape="1">
          <a:blip r:embed="rId3">
            <a:alphaModFix/>
          </a:blip>
          <a:srcRect t="4135" b="12671"/>
          <a:stretch/>
        </p:blipFill>
        <p:spPr>
          <a:xfrm>
            <a:off x="6255675" y="2005100"/>
            <a:ext cx="2714850" cy="24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000" b="1" dirty="0"/>
              <a:t>Scripting </a:t>
            </a:r>
            <a:r>
              <a:rPr lang="es" sz="2000" b="1" dirty="0" err="1"/>
              <a:t>on</a:t>
            </a:r>
            <a:r>
              <a:rPr lang="es" sz="2000" b="1" dirty="0"/>
              <a:t> </a:t>
            </a:r>
            <a:r>
              <a:rPr lang="es" sz="2000" b="1" dirty="0" err="1"/>
              <a:t>the</a:t>
            </a:r>
            <a:r>
              <a:rPr lang="es" sz="2000" b="1" dirty="0"/>
              <a:t> </a:t>
            </a:r>
            <a:r>
              <a:rPr lang="es" sz="2000" b="1" dirty="0" err="1"/>
              <a:t>cluster</a:t>
            </a:r>
            <a:r>
              <a:rPr lang="es" sz="2000" b="1" dirty="0"/>
              <a:t> — Take-home </a:t>
            </a:r>
            <a:r>
              <a:rPr lang="es" sz="2000" b="1" dirty="0" err="1"/>
              <a:t>message</a:t>
            </a:r>
            <a:endParaRPr sz="2700" b="1" dirty="0" err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 you for your attention</a:t>
            </a:r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3000"/>
              <a:t>Questions?</a:t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title"/>
          </p:nvPr>
        </p:nvSpPr>
        <p:spPr>
          <a:xfrm>
            <a:off x="2205875" y="2308175"/>
            <a:ext cx="4865100" cy="133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" sz="6200" b="1" dirty="0" err="1"/>
              <a:t>JobArrays</a:t>
            </a:r>
            <a:r>
              <a:rPr lang="es" sz="2400" b="1" dirty="0"/>
              <a:t>   (</a:t>
            </a:r>
            <a:r>
              <a:rPr lang="es" sz="2400" b="1" dirty="0" err="1"/>
              <a:t>Embarrassingly</a:t>
            </a:r>
            <a:r>
              <a:rPr lang="es" sz="2400" b="1" dirty="0"/>
              <a:t> </a:t>
            </a:r>
            <a:r>
              <a:rPr lang="es" sz="2400" b="1" dirty="0" err="1"/>
              <a:t>parallel</a:t>
            </a:r>
            <a:r>
              <a:rPr lang="es" sz="2400" b="1" dirty="0"/>
              <a:t>)</a:t>
            </a:r>
            <a:endParaRPr sz="2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job arrays</a:t>
            </a:r>
            <a:endParaRPr sz="2700" b="1"/>
          </a:p>
        </p:txBody>
      </p:sp>
      <p:sp>
        <p:nvSpPr>
          <p:cNvPr id="217" name="Google Shape;217;p37"/>
          <p:cNvSpPr txBox="1">
            <a:spLocks noGrp="1"/>
          </p:cNvSpPr>
          <p:nvPr>
            <p:ph type="body" idx="1"/>
          </p:nvPr>
        </p:nvSpPr>
        <p:spPr>
          <a:xfrm>
            <a:off x="160020" y="1452865"/>
            <a:ext cx="495666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What are JobArrays and what are they used for?</a:t>
            </a:r>
            <a:endParaRPr b="1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/>
              <a:t>Sbatch </a:t>
            </a:r>
            <a:r>
              <a:rPr lang="es" b="1"/>
              <a:t>script designed to launch many jobs</a:t>
            </a:r>
            <a:r>
              <a:rPr lang="es"/>
              <a:t> </a:t>
            </a:r>
            <a:endParaRPr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lang="es">
                <a:highlight>
                  <a:srgbClr val="FFFF00"/>
                </a:highlight>
              </a:rPr>
              <a:t>Same operation / multiple inputs</a:t>
            </a:r>
            <a:endParaRPr>
              <a:highlight>
                <a:srgbClr val="FFFF00"/>
              </a:highlight>
            </a:endParaRP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/>
              <a:t>Instead of creating 50 scripts for 50 samples, you </a:t>
            </a:r>
            <a:r>
              <a:rPr lang="es">
                <a:highlight>
                  <a:srgbClr val="FFFF00"/>
                </a:highlight>
              </a:rPr>
              <a:t>create one script and tell Slurm to run it N times</a:t>
            </a:r>
            <a:r>
              <a:rPr lang="es"/>
              <a:t> → </a:t>
            </a:r>
            <a:r>
              <a:rPr lang="es" b="1"/>
              <a:t>In Parallel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/>
              <a:t>If your shell for loop only changes a filename/ID, make it a job array.</a:t>
            </a:r>
            <a:endParaRPr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C7BEB5-7860-7C35-C251-71BBD7D8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75" r="-194" b="17158"/>
          <a:stretch>
            <a:fillRect/>
          </a:stretch>
        </p:blipFill>
        <p:spPr>
          <a:xfrm>
            <a:off x="5835762" y="1289359"/>
            <a:ext cx="3096878" cy="37824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job arrays</a:t>
            </a:r>
            <a:endParaRPr sz="2700" b="1"/>
          </a:p>
        </p:txBody>
      </p:sp>
      <p:grpSp>
        <p:nvGrpSpPr>
          <p:cNvPr id="223" name="Google Shape;223;p38"/>
          <p:cNvGrpSpPr/>
          <p:nvPr/>
        </p:nvGrpSpPr>
        <p:grpSpPr>
          <a:xfrm>
            <a:off x="291358" y="2247340"/>
            <a:ext cx="4280905" cy="1895086"/>
            <a:chOff x="210975" y="1673281"/>
            <a:chExt cx="7839050" cy="3470219"/>
          </a:xfrm>
        </p:grpSpPr>
        <p:grpSp>
          <p:nvGrpSpPr>
            <p:cNvPr id="224" name="Google Shape;224;p38"/>
            <p:cNvGrpSpPr/>
            <p:nvPr/>
          </p:nvGrpSpPr>
          <p:grpSpPr>
            <a:xfrm>
              <a:off x="600376" y="1673281"/>
              <a:ext cx="6074249" cy="3281646"/>
              <a:chOff x="600387" y="1673250"/>
              <a:chExt cx="4579500" cy="2474100"/>
            </a:xfrm>
          </p:grpSpPr>
          <p:cxnSp>
            <p:nvCxnSpPr>
              <p:cNvPr id="225" name="Google Shape;225;p38"/>
              <p:cNvCxnSpPr/>
              <p:nvPr/>
            </p:nvCxnSpPr>
            <p:spPr>
              <a:xfrm flipH="1">
                <a:off x="600450" y="1673250"/>
                <a:ext cx="9300" cy="2474100"/>
              </a:xfrm>
              <a:prstGeom prst="straightConnector1">
                <a:avLst/>
              </a:prstGeom>
              <a:noFill/>
              <a:ln w="207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38"/>
              <p:cNvCxnSpPr/>
              <p:nvPr/>
            </p:nvCxnSpPr>
            <p:spPr>
              <a:xfrm flipH="1">
                <a:off x="600387" y="4120169"/>
                <a:ext cx="4579500" cy="27000"/>
              </a:xfrm>
              <a:prstGeom prst="straightConnector1">
                <a:avLst/>
              </a:prstGeom>
              <a:noFill/>
              <a:ln w="2070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227" name="Google Shape;227;p38"/>
            <p:cNvSpPr txBox="1"/>
            <p:nvPr/>
          </p:nvSpPr>
          <p:spPr>
            <a:xfrm>
              <a:off x="210975" y="2030825"/>
              <a:ext cx="389400" cy="270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925" tIns="49925" rIns="49925" bIns="49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1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2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3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4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5</a:t>
              </a:r>
              <a:endParaRPr sz="1083">
                <a:solidFill>
                  <a:schemeClr val="dk1"/>
                </a:solidFill>
              </a:endParaRPr>
            </a:p>
          </p:txBody>
        </p:sp>
        <p:sp>
          <p:nvSpPr>
            <p:cNvPr id="228" name="Google Shape;228;p38"/>
            <p:cNvSpPr txBox="1"/>
            <p:nvPr/>
          </p:nvSpPr>
          <p:spPr>
            <a:xfrm>
              <a:off x="6799625" y="4639200"/>
              <a:ext cx="1250400" cy="50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925" tIns="49925" rIns="49925" bIns="49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83">
                  <a:solidFill>
                    <a:schemeClr val="dk1"/>
                  </a:solidFill>
                </a:rPr>
                <a:t>Time</a:t>
              </a:r>
              <a:endParaRPr sz="1383">
                <a:solidFill>
                  <a:schemeClr val="dk1"/>
                </a:solidFill>
              </a:endParaRPr>
            </a:p>
          </p:txBody>
        </p:sp>
      </p:grpSp>
      <p:grpSp>
        <p:nvGrpSpPr>
          <p:cNvPr id="229" name="Google Shape;229;p38"/>
          <p:cNvGrpSpPr/>
          <p:nvPr/>
        </p:nvGrpSpPr>
        <p:grpSpPr>
          <a:xfrm>
            <a:off x="5031896" y="2245948"/>
            <a:ext cx="4280905" cy="1895086"/>
            <a:chOff x="210975" y="1673281"/>
            <a:chExt cx="7839050" cy="3470219"/>
          </a:xfrm>
        </p:grpSpPr>
        <p:grpSp>
          <p:nvGrpSpPr>
            <p:cNvPr id="230" name="Google Shape;230;p38"/>
            <p:cNvGrpSpPr/>
            <p:nvPr/>
          </p:nvGrpSpPr>
          <p:grpSpPr>
            <a:xfrm>
              <a:off x="600376" y="1673281"/>
              <a:ext cx="6074249" cy="3281646"/>
              <a:chOff x="600387" y="1673250"/>
              <a:chExt cx="4579500" cy="2474100"/>
            </a:xfrm>
          </p:grpSpPr>
          <p:cxnSp>
            <p:nvCxnSpPr>
              <p:cNvPr id="231" name="Google Shape;231;p38"/>
              <p:cNvCxnSpPr/>
              <p:nvPr/>
            </p:nvCxnSpPr>
            <p:spPr>
              <a:xfrm flipH="1">
                <a:off x="600450" y="1673250"/>
                <a:ext cx="9300" cy="2474100"/>
              </a:xfrm>
              <a:prstGeom prst="straightConnector1">
                <a:avLst/>
              </a:prstGeom>
              <a:noFill/>
              <a:ln w="207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38"/>
              <p:cNvCxnSpPr/>
              <p:nvPr/>
            </p:nvCxnSpPr>
            <p:spPr>
              <a:xfrm flipH="1">
                <a:off x="600387" y="4120169"/>
                <a:ext cx="4579500" cy="27000"/>
              </a:xfrm>
              <a:prstGeom prst="straightConnector1">
                <a:avLst/>
              </a:prstGeom>
              <a:noFill/>
              <a:ln w="2070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233" name="Google Shape;233;p38"/>
            <p:cNvSpPr txBox="1"/>
            <p:nvPr/>
          </p:nvSpPr>
          <p:spPr>
            <a:xfrm>
              <a:off x="210975" y="2030825"/>
              <a:ext cx="389400" cy="270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925" tIns="49925" rIns="49925" bIns="49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1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2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3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4</a:t>
              </a: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3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83">
                  <a:solidFill>
                    <a:schemeClr val="dk1"/>
                  </a:solidFill>
                </a:rPr>
                <a:t>5</a:t>
              </a:r>
              <a:endParaRPr sz="1083"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38"/>
            <p:cNvSpPr txBox="1"/>
            <p:nvPr/>
          </p:nvSpPr>
          <p:spPr>
            <a:xfrm>
              <a:off x="6799625" y="4639200"/>
              <a:ext cx="1250400" cy="50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925" tIns="49925" rIns="49925" bIns="49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83">
                  <a:solidFill>
                    <a:schemeClr val="dk1"/>
                  </a:solidFill>
                </a:rPr>
                <a:t>Time</a:t>
              </a:r>
              <a:endParaRPr sz="1383">
                <a:solidFill>
                  <a:schemeClr val="dk1"/>
                </a:solidFill>
              </a:endParaRPr>
            </a:p>
          </p:txBody>
        </p:sp>
      </p:grpSp>
      <p:cxnSp>
        <p:nvCxnSpPr>
          <p:cNvPr id="235" name="Google Shape;235;p38"/>
          <p:cNvCxnSpPr/>
          <p:nvPr/>
        </p:nvCxnSpPr>
        <p:spPr>
          <a:xfrm>
            <a:off x="718550" y="2471035"/>
            <a:ext cx="555300" cy="367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38"/>
          <p:cNvCxnSpPr/>
          <p:nvPr/>
        </p:nvCxnSpPr>
        <p:spPr>
          <a:xfrm>
            <a:off x="1272519" y="2837035"/>
            <a:ext cx="555300" cy="367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38"/>
          <p:cNvCxnSpPr/>
          <p:nvPr/>
        </p:nvCxnSpPr>
        <p:spPr>
          <a:xfrm>
            <a:off x="1793704" y="3204428"/>
            <a:ext cx="555300" cy="367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38"/>
          <p:cNvCxnSpPr/>
          <p:nvPr/>
        </p:nvCxnSpPr>
        <p:spPr>
          <a:xfrm>
            <a:off x="2347673" y="3570429"/>
            <a:ext cx="555300" cy="3675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38"/>
          <p:cNvSpPr/>
          <p:nvPr/>
        </p:nvSpPr>
        <p:spPr>
          <a:xfrm>
            <a:off x="5631350" y="2468538"/>
            <a:ext cx="555300" cy="5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8"/>
          <p:cNvSpPr/>
          <p:nvPr/>
        </p:nvSpPr>
        <p:spPr>
          <a:xfrm>
            <a:off x="5631346" y="2772241"/>
            <a:ext cx="555300" cy="5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8"/>
          <p:cNvSpPr/>
          <p:nvPr/>
        </p:nvSpPr>
        <p:spPr>
          <a:xfrm>
            <a:off x="5631340" y="3141785"/>
            <a:ext cx="555300" cy="5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8"/>
          <p:cNvSpPr/>
          <p:nvPr/>
        </p:nvSpPr>
        <p:spPr>
          <a:xfrm>
            <a:off x="5631350" y="3511303"/>
            <a:ext cx="555300" cy="5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8"/>
          <p:cNvSpPr/>
          <p:nvPr/>
        </p:nvSpPr>
        <p:spPr>
          <a:xfrm>
            <a:off x="5631361" y="3880824"/>
            <a:ext cx="555300" cy="57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8"/>
          <p:cNvSpPr txBox="1"/>
          <p:nvPr/>
        </p:nvSpPr>
        <p:spPr>
          <a:xfrm>
            <a:off x="718575" y="2195625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1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2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45" name="Google Shape;245;p38"/>
          <p:cNvSpPr txBox="1">
            <a:spLocks noGrp="1"/>
          </p:cNvSpPr>
          <p:nvPr>
            <p:ph type="title"/>
          </p:nvPr>
        </p:nvSpPr>
        <p:spPr>
          <a:xfrm>
            <a:off x="997650" y="1360651"/>
            <a:ext cx="2610000" cy="67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/>
              <a:t>For Loop</a:t>
            </a:r>
            <a:endParaRPr sz="3700" b="1"/>
          </a:p>
        </p:txBody>
      </p:sp>
      <p:sp>
        <p:nvSpPr>
          <p:cNvPr id="246" name="Google Shape;246;p38"/>
          <p:cNvSpPr txBox="1">
            <a:spLocks noGrp="1"/>
          </p:cNvSpPr>
          <p:nvPr>
            <p:ph type="title"/>
          </p:nvPr>
        </p:nvSpPr>
        <p:spPr>
          <a:xfrm>
            <a:off x="5268279" y="1377271"/>
            <a:ext cx="2610000" cy="67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/>
              <a:t>JobArray</a:t>
            </a:r>
            <a:endParaRPr sz="3700" b="1"/>
          </a:p>
        </p:txBody>
      </p:sp>
      <p:sp>
        <p:nvSpPr>
          <p:cNvPr id="247" name="Google Shape;247;p38"/>
          <p:cNvSpPr txBox="1"/>
          <p:nvPr/>
        </p:nvSpPr>
        <p:spPr>
          <a:xfrm>
            <a:off x="1349440" y="2578714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2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2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1691201" y="2946106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3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1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2322066" y="3329195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4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1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4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6313516" y="2296761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1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2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6312124" y="2645673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2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2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6320668" y="3004522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3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1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53" name="Google Shape;253;p38"/>
          <p:cNvSpPr txBox="1"/>
          <p:nvPr/>
        </p:nvSpPr>
        <p:spPr>
          <a:xfrm>
            <a:off x="6319275" y="3370523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4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1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4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54" name="Google Shape;254;p38"/>
          <p:cNvSpPr txBox="1"/>
          <p:nvPr/>
        </p:nvSpPr>
        <p:spPr>
          <a:xfrm>
            <a:off x="6317883" y="3736523"/>
            <a:ext cx="23133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25" tIns="49925" rIns="49925" bIns="49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83">
                <a:solidFill>
                  <a:schemeClr val="dk1"/>
                </a:solidFill>
              </a:rPr>
              <a:t>Task 5   |   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fastqc     sample</a:t>
            </a:r>
            <a:r>
              <a:rPr lang="es" sz="11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5</a:t>
            </a:r>
            <a:r>
              <a:rPr lang="es" sz="883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.fastq.gz</a:t>
            </a:r>
            <a:endParaRPr sz="983">
              <a:solidFill>
                <a:schemeClr val="dk1"/>
              </a:solidFill>
            </a:endParaRPr>
          </a:p>
        </p:txBody>
      </p:sp>
      <p:sp>
        <p:nvSpPr>
          <p:cNvPr id="255" name="Google Shape;255;p38"/>
          <p:cNvSpPr/>
          <p:nvPr/>
        </p:nvSpPr>
        <p:spPr>
          <a:xfrm>
            <a:off x="2931450" y="3974786"/>
            <a:ext cx="100500" cy="114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8"/>
          <p:cNvSpPr/>
          <p:nvPr/>
        </p:nvSpPr>
        <p:spPr>
          <a:xfrm>
            <a:off x="6151150" y="3974786"/>
            <a:ext cx="100500" cy="1149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job arrays</a:t>
            </a:r>
            <a:endParaRPr sz="2700" b="1"/>
          </a:p>
        </p:txBody>
      </p:sp>
      <p:sp>
        <p:nvSpPr>
          <p:cNvPr id="262" name="Google Shape;262;p39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3096300" cy="35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 dirty="0" err="1"/>
              <a:t>Create</a:t>
            </a:r>
            <a:r>
              <a:rPr lang="es" b="1" dirty="0"/>
              <a:t> a </a:t>
            </a:r>
            <a:r>
              <a:rPr lang="es" b="1" dirty="0" err="1"/>
              <a:t>JobArray</a:t>
            </a:r>
            <a:r>
              <a:rPr lang="es" b="1" dirty="0"/>
              <a:t> script?</a:t>
            </a:r>
            <a:endParaRPr b="1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s" dirty="0"/>
              <a:t>As simple as </a:t>
            </a:r>
            <a:r>
              <a:rPr lang="es" dirty="0" err="1"/>
              <a:t>using</a:t>
            </a:r>
            <a:r>
              <a:rPr lang="es" dirty="0"/>
              <a:t> </a:t>
            </a:r>
            <a:r>
              <a:rPr lang="es" dirty="0" err="1"/>
              <a:t>the</a:t>
            </a:r>
            <a:r>
              <a:rPr lang="es" dirty="0"/>
              <a:t> `</a:t>
            </a:r>
            <a:r>
              <a:rPr lang="es" b="1" dirty="0">
                <a:solidFill>
                  <a:srgbClr val="188038"/>
                </a:solidFill>
              </a:rPr>
              <a:t>--array</a:t>
            </a:r>
            <a:r>
              <a:rPr lang="es" dirty="0"/>
              <a:t>` </a:t>
            </a:r>
            <a:r>
              <a:rPr lang="es" dirty="0" err="1"/>
              <a:t>inside</a:t>
            </a:r>
            <a:r>
              <a:rPr lang="es" dirty="0"/>
              <a:t> </a:t>
            </a:r>
            <a:r>
              <a:rPr lang="es" dirty="0" err="1"/>
              <a:t>the</a:t>
            </a:r>
            <a:r>
              <a:rPr lang="es" dirty="0"/>
              <a:t> </a:t>
            </a:r>
            <a:r>
              <a:rPr lang="es" dirty="0" err="1"/>
              <a:t>sbatch</a:t>
            </a:r>
            <a:r>
              <a:rPr lang="es" dirty="0"/>
              <a:t> script</a:t>
            </a:r>
            <a:endParaRPr dirty="0"/>
          </a:p>
          <a:p>
            <a:pPr>
              <a:spcBef>
                <a:spcPts val="0"/>
              </a:spcBef>
              <a:buClr>
                <a:srgbClr val="9900FF"/>
              </a:buClr>
            </a:pPr>
            <a:r>
              <a:rPr lang="es" b="1" dirty="0">
                <a:solidFill>
                  <a:srgbClr val="9900FF"/>
                </a:solidFill>
                <a:highlight>
                  <a:srgbClr val="FFFF00"/>
                </a:highlight>
              </a:rPr>
              <a:t>Plus </a:t>
            </a:r>
            <a:r>
              <a:rPr lang="es" b="1" dirty="0" err="1">
                <a:solidFill>
                  <a:srgbClr val="9900FF"/>
                </a:solidFill>
                <a:highlight>
                  <a:srgbClr val="FFFF00"/>
                </a:highlight>
              </a:rPr>
              <a:t>Slurm</a:t>
            </a:r>
            <a:r>
              <a:rPr lang="es" b="1" dirty="0">
                <a:solidFill>
                  <a:srgbClr val="9900FF"/>
                </a:solidFill>
                <a:highlight>
                  <a:srgbClr val="FFFF00"/>
                </a:highlight>
              </a:rPr>
              <a:t> </a:t>
            </a:r>
            <a:r>
              <a:rPr lang="es" b="1" dirty="0" err="1">
                <a:solidFill>
                  <a:srgbClr val="9900FF"/>
                </a:solidFill>
                <a:highlight>
                  <a:srgbClr val="FFFF00"/>
                </a:highlight>
              </a:rPr>
              <a:t>env</a:t>
            </a:r>
            <a:r>
              <a:rPr lang="es" b="1" dirty="0">
                <a:solidFill>
                  <a:srgbClr val="9900FF"/>
                </a:solidFill>
                <a:highlight>
                  <a:srgbClr val="FFFF00"/>
                </a:highlight>
              </a:rPr>
              <a:t> variables</a:t>
            </a:r>
            <a:endParaRPr b="1" dirty="0">
              <a:solidFill>
                <a:srgbClr val="9900FF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658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658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658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650" b="1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https://docs.hpc.shef.ac.uk/en/latest/referenceinfo/scheduler/SLURM/SLURM-environment-variables.html#gsc.tab=0</a:t>
            </a:r>
            <a:endParaRPr sz="650" dirty="0">
              <a:solidFill>
                <a:schemeClr val="hlink"/>
              </a:solidFill>
            </a:endParaRPr>
          </a:p>
        </p:txBody>
      </p:sp>
      <p:pic>
        <p:nvPicPr>
          <p:cNvPr id="263" name="Google Shape;26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350" y="1646576"/>
            <a:ext cx="5509525" cy="310905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9"/>
          <p:cNvSpPr/>
          <p:nvPr/>
        </p:nvSpPr>
        <p:spPr>
          <a:xfrm>
            <a:off x="3324900" y="2443825"/>
            <a:ext cx="2163300" cy="195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9"/>
          <p:cNvSpPr/>
          <p:nvPr/>
        </p:nvSpPr>
        <p:spPr>
          <a:xfrm>
            <a:off x="6184375" y="4272850"/>
            <a:ext cx="1972200" cy="594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9"/>
          <p:cNvSpPr/>
          <p:nvPr/>
        </p:nvSpPr>
        <p:spPr>
          <a:xfrm>
            <a:off x="3490350" y="3218275"/>
            <a:ext cx="5509500" cy="495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job arrays</a:t>
            </a:r>
            <a:endParaRPr sz="2700" b="1"/>
          </a:p>
        </p:txBody>
      </p:sp>
      <p:sp>
        <p:nvSpPr>
          <p:cNvPr id="272" name="Google Shape;272;p40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24927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Monitoring Arrays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</p:txBody>
      </p:sp>
      <p:pic>
        <p:nvPicPr>
          <p:cNvPr id="273" name="Google Shape;27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75" y="1832251"/>
            <a:ext cx="7535049" cy="32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30A57B-A78D-2BA8-2A1E-D0367946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775" y="1115122"/>
            <a:ext cx="5502523" cy="3972622"/>
          </a:xfrm>
          <a:prstGeom prst="rect">
            <a:avLst/>
          </a:prstGeom>
        </p:spPr>
      </p:pic>
      <p:sp>
        <p:nvSpPr>
          <p:cNvPr id="10" name="Google Shape;261;p39">
            <a:extLst>
              <a:ext uri="{FF2B5EF4-FFF2-40B4-BE49-F238E27FC236}">
                <a16:creationId xmlns:a16="http://schemas.microsoft.com/office/drawing/2014/main" id="{352F5805-13F2-BB3A-598D-24ABAEB39E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000" b="1" dirty="0"/>
              <a:t>Scripting </a:t>
            </a:r>
            <a:r>
              <a:rPr lang="es" sz="2000" b="1" dirty="0" err="1"/>
              <a:t>on</a:t>
            </a:r>
            <a:r>
              <a:rPr lang="es" sz="2000" b="1" dirty="0"/>
              <a:t> </a:t>
            </a:r>
            <a:r>
              <a:rPr lang="es" sz="2000" b="1" dirty="0" err="1"/>
              <a:t>the</a:t>
            </a:r>
            <a:r>
              <a:rPr lang="es" sz="2000" b="1" dirty="0"/>
              <a:t> </a:t>
            </a:r>
            <a:r>
              <a:rPr lang="es" sz="2000" b="1" dirty="0" err="1"/>
              <a:t>cluster</a:t>
            </a:r>
            <a:r>
              <a:rPr lang="es" sz="2000" b="1" dirty="0"/>
              <a:t> — </a:t>
            </a:r>
            <a:r>
              <a:rPr lang="es" sz="2000" b="1" dirty="0" err="1"/>
              <a:t>Slurm</a:t>
            </a:r>
            <a:r>
              <a:rPr lang="es" sz="2000" b="1" dirty="0"/>
              <a:t>: </a:t>
            </a:r>
            <a:r>
              <a:rPr lang="es" sz="2000" b="1" dirty="0" err="1"/>
              <a:t>job</a:t>
            </a:r>
            <a:r>
              <a:rPr lang="es" sz="2000" b="1" dirty="0"/>
              <a:t> </a:t>
            </a:r>
            <a:r>
              <a:rPr lang="es" sz="2000" b="1" dirty="0" err="1"/>
              <a:t>arrays</a:t>
            </a:r>
            <a:r>
              <a:rPr lang="es" sz="2000" b="1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95947-2A87-EFEA-9D11-57F53DE60A23}"/>
              </a:ext>
            </a:extLst>
          </p:cNvPr>
          <p:cNvSpPr txBox="1"/>
          <p:nvPr/>
        </p:nvSpPr>
        <p:spPr>
          <a:xfrm>
            <a:off x="0" y="2104793"/>
            <a:ext cx="2167519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dirty="0" err="1"/>
              <a:t>Get</a:t>
            </a:r>
            <a:r>
              <a:rPr lang="es-ES" sz="2000" b="1" dirty="0"/>
              <a:t> </a:t>
            </a:r>
            <a:r>
              <a:rPr lang="es-ES" sz="2000" b="1" dirty="0" err="1"/>
              <a:t>sample's</a:t>
            </a:r>
            <a:r>
              <a:rPr lang="es-ES" sz="2000" b="1" dirty="0"/>
              <a:t> file </a:t>
            </a:r>
            <a:r>
              <a:rPr lang="es-ES" sz="2000" b="1" dirty="0" err="1"/>
              <a:t>name</a:t>
            </a:r>
            <a:r>
              <a:rPr lang="es-ES" sz="2000" b="1" dirty="0"/>
              <a:t> </a:t>
            </a:r>
            <a:r>
              <a:rPr lang="es-ES" sz="2000" b="1" dirty="0" err="1"/>
              <a:t>using</a:t>
            </a:r>
            <a:r>
              <a:rPr lang="es-ES" sz="2000" b="1" dirty="0"/>
              <a:t> array </a:t>
            </a:r>
            <a:r>
              <a:rPr lang="es-ES" sz="2000" b="1" dirty="0" err="1"/>
              <a:t>index</a:t>
            </a:r>
            <a:r>
              <a:rPr lang="es-ES" sz="2000" b="1" dirty="0"/>
              <a:t>?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13" name="Google Shape;264;p39">
            <a:extLst>
              <a:ext uri="{FF2B5EF4-FFF2-40B4-BE49-F238E27FC236}">
                <a16:creationId xmlns:a16="http://schemas.microsoft.com/office/drawing/2014/main" id="{78056663-2D6E-5BE1-A5B5-6CBE99545BEA}"/>
              </a:ext>
            </a:extLst>
          </p:cNvPr>
          <p:cNvSpPr/>
          <p:nvPr/>
        </p:nvSpPr>
        <p:spPr>
          <a:xfrm>
            <a:off x="2558254" y="1516880"/>
            <a:ext cx="2163300" cy="195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112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1"/>
          <p:cNvPicPr preferRelativeResize="0"/>
          <p:nvPr/>
        </p:nvPicPr>
        <p:blipFill>
          <a:blip r:embed="rId3">
            <a:alphaModFix/>
          </a:blip>
          <a:srcRect b="18379"/>
          <a:stretch>
            <a:fillRect/>
          </a:stretch>
        </p:blipFill>
        <p:spPr>
          <a:xfrm>
            <a:off x="1151250" y="1460732"/>
            <a:ext cx="5724928" cy="314624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000" b="1"/>
              <a:t>Scripting on the cluster — Slurm: job arrays</a:t>
            </a:r>
            <a:endParaRPr sz="27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 you for your attention</a:t>
            </a:r>
            <a:endParaRPr/>
          </a:p>
        </p:txBody>
      </p:sp>
      <p:sp>
        <p:nvSpPr>
          <p:cNvPr id="285" name="Google Shape;285;p42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3000"/>
              <a:t>Questions?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06CD038-36A5-17F2-1BE2-8ECE39AC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>
            <a:extLst>
              <a:ext uri="{FF2B5EF4-FFF2-40B4-BE49-F238E27FC236}">
                <a16:creationId xmlns:a16="http://schemas.microsoft.com/office/drawing/2014/main" id="{717F02F1-AFED-D776-F2EA-24696B85C5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Index</a:t>
            </a:r>
            <a:endParaRPr/>
          </a:p>
        </p:txBody>
      </p:sp>
      <p:sp>
        <p:nvSpPr>
          <p:cNvPr id="96" name="Google Shape;96;p20">
            <a:extLst>
              <a:ext uri="{FF2B5EF4-FFF2-40B4-BE49-F238E27FC236}">
                <a16:creationId xmlns:a16="http://schemas.microsoft.com/office/drawing/2014/main" id="{B0F3E238-F888-9317-0003-E5547259D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473532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68300">
              <a:lnSpc>
                <a:spcPct val="115000"/>
              </a:lnSpc>
              <a:buSzPts val="2200"/>
              <a:buAutoNum type="arabicPeriod"/>
            </a:pPr>
            <a:r>
              <a:rPr lang="es" sz="1600" dirty="0"/>
              <a:t>Scripting </a:t>
            </a:r>
            <a:r>
              <a:rPr lang="es" sz="1600" err="1"/>
              <a:t>on</a:t>
            </a:r>
            <a:r>
              <a:rPr lang="es" sz="1600" dirty="0"/>
              <a:t> </a:t>
            </a:r>
            <a:r>
              <a:rPr lang="es" sz="1600" err="1"/>
              <a:t>the</a:t>
            </a:r>
            <a:r>
              <a:rPr lang="es" sz="1600" dirty="0"/>
              <a:t> </a:t>
            </a:r>
            <a:r>
              <a:rPr lang="es" sz="1600" err="1"/>
              <a:t>cluster</a:t>
            </a:r>
            <a:r>
              <a:rPr lang="es" sz="1600" dirty="0"/>
              <a:t> — </a:t>
            </a:r>
            <a:r>
              <a:rPr lang="es" sz="1600" err="1"/>
              <a:t>sbatch</a:t>
            </a:r>
            <a:r>
              <a:rPr lang="es" sz="1600" dirty="0"/>
              <a:t> &amp; </a:t>
            </a:r>
            <a:r>
              <a:rPr lang="es" sz="1600" err="1"/>
              <a:t>job</a:t>
            </a:r>
            <a:r>
              <a:rPr lang="es" sz="1600" dirty="0"/>
              <a:t> </a:t>
            </a:r>
            <a:r>
              <a:rPr lang="es" sz="1600" err="1"/>
              <a:t>arrays</a:t>
            </a:r>
            <a:endParaRPr lang="en-US" sz="1600"/>
          </a:p>
          <a:p>
            <a:pPr indent="-323850">
              <a:lnSpc>
                <a:spcPct val="115000"/>
              </a:lnSpc>
              <a:spcBef>
                <a:spcPts val="0"/>
              </a:spcBef>
              <a:buSzPts val="1500"/>
              <a:buAutoNum type="arabicPeriod"/>
            </a:pPr>
            <a:r>
              <a:rPr lang="es" b="1" dirty="0" err="1"/>
              <a:t>Parallel</a:t>
            </a:r>
            <a:r>
              <a:rPr lang="es" b="1" dirty="0"/>
              <a:t> </a:t>
            </a:r>
            <a:r>
              <a:rPr lang="es" b="1" dirty="0" err="1"/>
              <a:t>computing</a:t>
            </a:r>
            <a:r>
              <a:rPr lang="es" b="1" dirty="0"/>
              <a:t> </a:t>
            </a:r>
            <a:r>
              <a:rPr lang="es" b="1" dirty="0" err="1"/>
              <a:t>on</a:t>
            </a:r>
            <a:r>
              <a:rPr lang="es" b="1" dirty="0"/>
              <a:t> </a:t>
            </a:r>
            <a:r>
              <a:rPr lang="es" b="1" dirty="0" err="1"/>
              <a:t>the</a:t>
            </a:r>
            <a:r>
              <a:rPr lang="es" b="1" dirty="0"/>
              <a:t> </a:t>
            </a:r>
            <a:r>
              <a:rPr lang="es" b="1" dirty="0" err="1"/>
              <a:t>cluster</a:t>
            </a:r>
            <a:r>
              <a:rPr lang="es" b="1" dirty="0"/>
              <a:t> — </a:t>
            </a:r>
            <a:r>
              <a:rPr lang="es" b="1" dirty="0" err="1"/>
              <a:t>OpenMP</a:t>
            </a:r>
            <a:r>
              <a:rPr lang="es" b="1" dirty="0"/>
              <a:t> vs MPI (</a:t>
            </a:r>
            <a:r>
              <a:rPr lang="es" b="1" dirty="0" err="1"/>
              <a:t>when</a:t>
            </a:r>
            <a:r>
              <a:rPr lang="es" b="1" dirty="0"/>
              <a:t> </a:t>
            </a:r>
            <a:r>
              <a:rPr lang="es" b="1" dirty="0" err="1"/>
              <a:t>to</a:t>
            </a:r>
            <a:r>
              <a:rPr lang="es" b="1" dirty="0"/>
              <a:t> use </a:t>
            </a:r>
            <a:r>
              <a:rPr lang="es" b="1" dirty="0" err="1"/>
              <a:t>each</a:t>
            </a:r>
            <a:r>
              <a:rPr lang="es" b="1" dirty="0"/>
              <a:t>)</a:t>
            </a:r>
            <a:endParaRPr b="1"/>
          </a:p>
          <a:p>
            <a:pPr indent="-323850">
              <a:lnSpc>
                <a:spcPct val="115000"/>
              </a:lnSpc>
              <a:spcBef>
                <a:spcPts val="0"/>
              </a:spcBef>
              <a:buSzPts val="1500"/>
              <a:buAutoNum type="arabicPeriod"/>
            </a:pPr>
            <a:r>
              <a:rPr lang="es" sz="1500" dirty="0" err="1"/>
              <a:t>Nextflow</a:t>
            </a:r>
            <a:r>
              <a:rPr lang="es" sz="1500" dirty="0"/>
              <a:t> pipelines in HPC  - </a:t>
            </a:r>
            <a:r>
              <a:rPr lang="es" sz="1500" dirty="0" err="1"/>
              <a:t>Deploy</a:t>
            </a:r>
            <a:r>
              <a:rPr lang="es" sz="1500" dirty="0"/>
              <a:t> a </a:t>
            </a:r>
            <a:r>
              <a:rPr lang="es" sz="1500" dirty="0" err="1"/>
              <a:t>Nextflow</a:t>
            </a:r>
            <a:r>
              <a:rPr lang="es" sz="1500" dirty="0"/>
              <a:t> DSL2 pipeline in HPC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 dirty="0" err="1"/>
              <a:t>Wrap</a:t>
            </a:r>
            <a:r>
              <a:rPr lang="es" sz="1500" dirty="0"/>
              <a:t>-up &amp; Q&amp;A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054235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 txBox="1">
            <a:spLocks noGrp="1"/>
          </p:cNvSpPr>
          <p:nvPr>
            <p:ph type="title"/>
          </p:nvPr>
        </p:nvSpPr>
        <p:spPr>
          <a:xfrm>
            <a:off x="334708" y="1904315"/>
            <a:ext cx="9707409" cy="133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" sz="6200" b="1" err="1"/>
              <a:t>OpenMP</a:t>
            </a:r>
            <a:r>
              <a:rPr lang="es" sz="6200" b="1" dirty="0"/>
              <a:t> </a:t>
            </a:r>
            <a:r>
              <a:rPr lang="es" sz="6200" b="1" err="1"/>
              <a:t>v.s.</a:t>
            </a:r>
            <a:r>
              <a:rPr lang="es" sz="6200" b="1"/>
              <a:t> MPI</a:t>
            </a:r>
            <a:br>
              <a:rPr lang="en-US" dirty="0"/>
            </a:br>
            <a:r>
              <a:rPr lang="en-US"/>
              <a:t>(Open Multi-Processing)               (Message Passing Interface)</a:t>
            </a:r>
            <a:endParaRPr sz="59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</a:pPr>
            <a:r>
              <a:rPr lang="es" sz="2200" b="1" dirty="0" err="1"/>
              <a:t>Parallelization</a:t>
            </a:r>
            <a:r>
              <a:rPr lang="es" sz="2200" b="1" dirty="0"/>
              <a:t> </a:t>
            </a:r>
            <a:r>
              <a:rPr lang="es" sz="2200" b="1" dirty="0" err="1"/>
              <a:t>on</a:t>
            </a:r>
            <a:r>
              <a:rPr lang="es" sz="2200" b="1" dirty="0"/>
              <a:t> </a:t>
            </a:r>
            <a:r>
              <a:rPr lang="es" sz="2200" b="1" dirty="0" err="1"/>
              <a:t>our</a:t>
            </a:r>
            <a:r>
              <a:rPr lang="es" sz="2200" b="1" dirty="0"/>
              <a:t> </a:t>
            </a:r>
            <a:r>
              <a:rPr lang="es" sz="2200" b="1" dirty="0" err="1"/>
              <a:t>cluster</a:t>
            </a:r>
            <a:r>
              <a:rPr lang="es" sz="2200" b="1" dirty="0"/>
              <a:t> — Why </a:t>
            </a:r>
            <a:r>
              <a:rPr lang="es" sz="2200" b="1" dirty="0" err="1"/>
              <a:t>parallelize</a:t>
            </a:r>
            <a:r>
              <a:rPr lang="es" sz="2200" b="1" dirty="0"/>
              <a:t>?</a:t>
            </a:r>
            <a:endParaRPr sz="2700" b="1" dirty="0"/>
          </a:p>
        </p:txBody>
      </p:sp>
      <p:sp>
        <p:nvSpPr>
          <p:cNvPr id="296" name="Google Shape;296;p44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436172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200" b="1" dirty="0"/>
              <a:t>Why </a:t>
            </a:r>
            <a:r>
              <a:rPr lang="en-US" sz="1200" b="1"/>
              <a:t>Parallelize?</a:t>
            </a:r>
            <a:endParaRPr lang="en-US"/>
          </a:p>
          <a:p>
            <a:pPr>
              <a:buNone/>
            </a:pPr>
            <a:r>
              <a:rPr lang="en-US" sz="1200"/>
              <a:t>To</a:t>
            </a:r>
            <a:r>
              <a:rPr lang="en-US" sz="1200" dirty="0"/>
              <a:t> reduce time-to-results by using multiple computing resources simultaneously.</a:t>
            </a:r>
            <a:endParaRPr lang="en-US" dirty="0"/>
          </a:p>
          <a:p>
            <a:pPr>
              <a:buNone/>
            </a:pPr>
            <a:r>
              <a:rPr lang="en-US" sz="1200" b="1"/>
              <a:t>Parallel programming can:</a:t>
            </a:r>
          </a:p>
          <a:p>
            <a:pPr marL="285750" indent="-285750"/>
            <a:r>
              <a:rPr lang="en-US" sz="1200"/>
              <a:t>Get your analysis done in minutes instead of hours or days.</a:t>
            </a:r>
            <a:endParaRPr sz="1200"/>
          </a:p>
          <a:p>
            <a:pPr marL="285750" indent="-285750"/>
            <a:r>
              <a:rPr lang="en-US" sz="1200"/>
              <a:t>Maximize the utilization of available cluster resources.</a:t>
            </a:r>
            <a:endParaRPr lang="es" sz="1200"/>
          </a:p>
          <a:p>
            <a:pPr marL="285750" indent="-285750"/>
            <a:r>
              <a:rPr lang="en-US" sz="1200"/>
              <a:t>Enable massive, computationally demanding workflows (e.g., population-scale genomics)</a:t>
            </a:r>
            <a:br>
              <a:rPr lang="en-US" dirty="0"/>
            </a:br>
            <a:endParaRPr lang="en-US"/>
          </a:p>
          <a:p>
            <a:pPr>
              <a:buNone/>
            </a:pPr>
            <a:r>
              <a:rPr lang="en-US" sz="1200" b="1"/>
              <a:t>Main Parallel Models in HPC</a:t>
            </a:r>
          </a:p>
          <a:p>
            <a:pPr marL="285750" indent="-285750"/>
            <a:r>
              <a:rPr lang="en-US" sz="1200" u="sng"/>
              <a:t>OpenMP — Shared-Memory Parallelism</a:t>
            </a:r>
            <a:br>
              <a:rPr lang="en-US" sz="1200" u="sng" dirty="0"/>
            </a:br>
            <a:r>
              <a:rPr lang="en-US" sz="1200"/>
              <a:t>Multiple threads (~CPUs) work together inside a single node, sharing a common pool of RAM.</a:t>
            </a:r>
          </a:p>
          <a:p>
            <a:pPr marL="285750" indent="-285750"/>
            <a:r>
              <a:rPr lang="en-US" sz="1200" u="sng"/>
              <a:t>MPI — Distributed-Memory Parallelism</a:t>
            </a:r>
            <a:br>
              <a:rPr lang="en-US" sz="1200" u="sng" dirty="0"/>
            </a:br>
            <a:r>
              <a:rPr lang="en-US" sz="1200"/>
              <a:t>Multiple independent processes work across multiple separate nodes, communicating data over the high-speed network.</a:t>
            </a:r>
          </a:p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US" sz="1000" b="1" dirty="0"/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500" y="1234176"/>
            <a:ext cx="3720975" cy="357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4D7EEC-81DD-160A-01F9-355FED99A069}"/>
              </a:ext>
            </a:extLst>
          </p:cNvPr>
          <p:cNvSpPr txBox="1"/>
          <p:nvPr/>
        </p:nvSpPr>
        <p:spPr>
          <a:xfrm>
            <a:off x="6875463" y="4479608"/>
            <a:ext cx="2365375" cy="1013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050"/>
              </a:lnSpc>
            </a:pPr>
            <a:r>
              <a:rPr lang="en-US" sz="900" b="1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In short:</a:t>
            </a:r>
            <a:r>
              <a:rPr lang="en-US" sz="9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050"/>
              </a:lnSpc>
            </a:pPr>
            <a:r>
              <a:rPr lang="en-US" sz="900" b="1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OpenMP → one node, many threads</a:t>
            </a:r>
            <a:r>
              <a:rPr lang="en-US" sz="9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050"/>
              </a:lnSpc>
            </a:pPr>
            <a:r>
              <a:rPr lang="en-US" sz="900" b="1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MPI → multiple processes, potentially across many nodes</a:t>
            </a:r>
            <a:r>
              <a:rPr lang="en-US" sz="9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050"/>
              </a:lnSpc>
            </a:pPr>
            <a:r>
              <a:rPr lang="en-US" sz="9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6958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Why parallel computing? 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03" name="Google Shape;303;p45"/>
          <p:cNvSpPr txBox="1">
            <a:spLocks noGrp="1"/>
          </p:cNvSpPr>
          <p:nvPr>
            <p:ph type="title"/>
          </p:nvPr>
        </p:nvSpPr>
        <p:spPr>
          <a:xfrm>
            <a:off x="1585967" y="1960021"/>
            <a:ext cx="5536200" cy="399600"/>
          </a:xfrm>
          <a:prstGeom prst="rect">
            <a:avLst/>
          </a:prstGeom>
        </p:spPr>
        <p:txBody>
          <a:bodyPr spcFirstLastPara="1" wrap="square" lIns="61500" tIns="61500" rIns="61500" bIns="615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2"/>
              </a:spcBef>
              <a:spcAft>
                <a:spcPts val="0"/>
              </a:spcAft>
              <a:buNone/>
            </a:pPr>
            <a:r>
              <a:rPr lang="es" sz="1480" b="1"/>
              <a:t>Parallelization on our cluster — OpenMP</a:t>
            </a:r>
            <a:endParaRPr sz="1816" b="1"/>
          </a:p>
        </p:txBody>
      </p:sp>
      <p:sp>
        <p:nvSpPr>
          <p:cNvPr id="304" name="Google Shape;304;p45"/>
          <p:cNvSpPr txBox="1">
            <a:spLocks noGrp="1"/>
          </p:cNvSpPr>
          <p:nvPr>
            <p:ph type="body" idx="1"/>
          </p:nvPr>
        </p:nvSpPr>
        <p:spPr>
          <a:xfrm>
            <a:off x="1432186" y="2577635"/>
            <a:ext cx="3831600" cy="2123700"/>
          </a:xfrm>
          <a:prstGeom prst="rect">
            <a:avLst/>
          </a:prstGeom>
        </p:spPr>
        <p:txBody>
          <a:bodyPr spcFirstLastPara="1" wrap="square" lIns="61500" tIns="61500" rIns="61500" bIns="61500" anchor="t" anchorCtr="0">
            <a:normAutofit/>
          </a:bodyPr>
          <a:lstStyle/>
          <a:p>
            <a:pPr marL="0" lvl="0" indent="0" algn="l" rtl="0">
              <a:spcBef>
                <a:spcPts val="242"/>
              </a:spcBef>
              <a:spcAft>
                <a:spcPts val="0"/>
              </a:spcAft>
              <a:buNone/>
            </a:pPr>
            <a:r>
              <a:rPr lang="es" sz="1211" b="1"/>
              <a:t>Why parallel computing? </a:t>
            </a:r>
            <a:endParaRPr sz="1211" b="1"/>
          </a:p>
          <a:p>
            <a:pPr marL="0" lvl="0" indent="0" algn="l" rtl="0">
              <a:spcBef>
                <a:spcPts val="242"/>
              </a:spcBef>
              <a:spcAft>
                <a:spcPts val="0"/>
              </a:spcAft>
              <a:buNone/>
            </a:pPr>
            <a:endParaRPr sz="1211" b="1"/>
          </a:p>
        </p:txBody>
      </p:sp>
      <p:pic>
        <p:nvPicPr>
          <p:cNvPr id="305" name="Google Shape;3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925" y="1832053"/>
            <a:ext cx="6151233" cy="322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5"/>
          <p:cNvSpPr/>
          <p:nvPr/>
        </p:nvSpPr>
        <p:spPr>
          <a:xfrm>
            <a:off x="4001300" y="1638400"/>
            <a:ext cx="3236700" cy="335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5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 vs MPI</a:t>
            </a:r>
            <a:endParaRPr sz="27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6958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Why parallel computing? 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13" name="Google Shape;313;p46"/>
          <p:cNvSpPr txBox="1">
            <a:spLocks noGrp="1"/>
          </p:cNvSpPr>
          <p:nvPr>
            <p:ph type="title"/>
          </p:nvPr>
        </p:nvSpPr>
        <p:spPr>
          <a:xfrm>
            <a:off x="1585967" y="1960021"/>
            <a:ext cx="5536200" cy="399600"/>
          </a:xfrm>
          <a:prstGeom prst="rect">
            <a:avLst/>
          </a:prstGeom>
        </p:spPr>
        <p:txBody>
          <a:bodyPr spcFirstLastPara="1" wrap="square" lIns="61500" tIns="61500" rIns="61500" bIns="615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2"/>
              </a:spcBef>
              <a:spcAft>
                <a:spcPts val="0"/>
              </a:spcAft>
              <a:buNone/>
            </a:pPr>
            <a:r>
              <a:rPr lang="es" sz="1480" b="1"/>
              <a:t>Parallelization on our cluster — OpenMP</a:t>
            </a:r>
            <a:endParaRPr sz="1816" b="1"/>
          </a:p>
        </p:txBody>
      </p:sp>
      <p:sp>
        <p:nvSpPr>
          <p:cNvPr id="314" name="Google Shape;314;p46"/>
          <p:cNvSpPr txBox="1">
            <a:spLocks noGrp="1"/>
          </p:cNvSpPr>
          <p:nvPr>
            <p:ph type="body" idx="1"/>
          </p:nvPr>
        </p:nvSpPr>
        <p:spPr>
          <a:xfrm>
            <a:off x="1432186" y="2577635"/>
            <a:ext cx="3831600" cy="2123700"/>
          </a:xfrm>
          <a:prstGeom prst="rect">
            <a:avLst/>
          </a:prstGeom>
        </p:spPr>
        <p:txBody>
          <a:bodyPr spcFirstLastPara="1" wrap="square" lIns="61500" tIns="61500" rIns="61500" bIns="61500" anchor="t" anchorCtr="0">
            <a:normAutofit/>
          </a:bodyPr>
          <a:lstStyle/>
          <a:p>
            <a:pPr marL="0" lvl="0" indent="0" algn="l" rtl="0">
              <a:spcBef>
                <a:spcPts val="242"/>
              </a:spcBef>
              <a:spcAft>
                <a:spcPts val="0"/>
              </a:spcAft>
              <a:buNone/>
            </a:pPr>
            <a:r>
              <a:rPr lang="es" sz="1211" b="1"/>
              <a:t>Why parallel computing? </a:t>
            </a:r>
            <a:endParaRPr sz="1211" b="1"/>
          </a:p>
          <a:p>
            <a:pPr marL="0" lvl="0" indent="0" algn="l" rtl="0">
              <a:spcBef>
                <a:spcPts val="242"/>
              </a:spcBef>
              <a:spcAft>
                <a:spcPts val="0"/>
              </a:spcAft>
              <a:buNone/>
            </a:pPr>
            <a:endParaRPr sz="1211" b="1"/>
          </a:p>
        </p:txBody>
      </p:sp>
      <p:pic>
        <p:nvPicPr>
          <p:cNvPr id="315" name="Google Shape;3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925" y="1832053"/>
            <a:ext cx="6151233" cy="322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6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 vs MPI</a:t>
            </a:r>
            <a:endParaRPr sz="27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6958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Why parallel computing? 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322" name="Google Shape;32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550" y="1298347"/>
            <a:ext cx="2349039" cy="372517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7"/>
          <p:cNvSpPr txBox="1">
            <a:spLocks noGrp="1"/>
          </p:cNvSpPr>
          <p:nvPr>
            <p:ph type="body" idx="1"/>
          </p:nvPr>
        </p:nvSpPr>
        <p:spPr>
          <a:xfrm>
            <a:off x="293450" y="2150825"/>
            <a:ext cx="4168500" cy="219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When you run a sequential program it has an instruction to run a task on 1 core.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Other cores are idle</a:t>
            </a:r>
            <a:endParaRPr sz="1500"/>
          </a:p>
        </p:txBody>
      </p:sp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 vs MPI</a:t>
            </a:r>
            <a:endParaRPr sz="27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56958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Why parallel computing? 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330" name="Google Shape;3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550" y="1298347"/>
            <a:ext cx="2349039" cy="372517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8"/>
          <p:cNvSpPr txBox="1">
            <a:spLocks noGrp="1"/>
          </p:cNvSpPr>
          <p:nvPr>
            <p:ph type="body" idx="1"/>
          </p:nvPr>
        </p:nvSpPr>
        <p:spPr>
          <a:xfrm>
            <a:off x="293450" y="2150825"/>
            <a:ext cx="4168500" cy="250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When you run a sequential program it has an instruction to run a task on 1 core.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Other cores are idle</a:t>
            </a: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1500"/>
              <a:t>Waste of available resources… </a:t>
            </a:r>
            <a:endParaRPr sz="1500"/>
          </a:p>
        </p:txBody>
      </p:sp>
      <p:sp>
        <p:nvSpPr>
          <p:cNvPr id="332" name="Google Shape;332;p48"/>
          <p:cNvSpPr/>
          <p:nvPr/>
        </p:nvSpPr>
        <p:spPr>
          <a:xfrm rot="5400000">
            <a:off x="1136025" y="3485400"/>
            <a:ext cx="658500" cy="25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 vs MPI</a:t>
            </a:r>
            <a:endParaRPr sz="27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</a:t>
            </a:r>
            <a:endParaRPr sz="2700" b="1"/>
          </a:p>
        </p:txBody>
      </p:sp>
      <p:sp>
        <p:nvSpPr>
          <p:cNvPr id="339" name="Google Shape;339;p49"/>
          <p:cNvSpPr txBox="1">
            <a:spLocks noGrp="1"/>
          </p:cNvSpPr>
          <p:nvPr>
            <p:ph type="body" idx="1"/>
          </p:nvPr>
        </p:nvSpPr>
        <p:spPr>
          <a:xfrm>
            <a:off x="228600" y="1472472"/>
            <a:ext cx="3872897" cy="312205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 dirty="0" err="1"/>
              <a:t>OpenMP</a:t>
            </a:r>
            <a:r>
              <a:rPr lang="es" b="1" dirty="0"/>
              <a:t> Essentials</a:t>
            </a:r>
            <a:endParaRPr b="1" dirty="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918"/>
          </a:p>
          <a:p>
            <a:pPr>
              <a:buSzPct val="100000"/>
            </a:pPr>
            <a:r>
              <a:rPr lang="es" sz="1400" b="1" dirty="0"/>
              <a:t>Intra-</a:t>
            </a:r>
            <a:r>
              <a:rPr lang="es" sz="1400" b="1" dirty="0" err="1"/>
              <a:t>Node</a:t>
            </a:r>
            <a:r>
              <a:rPr lang="es" sz="1400" b="1" dirty="0"/>
              <a:t> </a:t>
            </a:r>
            <a:r>
              <a:rPr lang="es" sz="1400" b="1" dirty="0" err="1"/>
              <a:t>Parallelism</a:t>
            </a:r>
            <a:r>
              <a:rPr lang="es" sz="1400" b="1" dirty="0"/>
              <a:t>:</a:t>
            </a:r>
            <a:r>
              <a:rPr lang="es" sz="1400" dirty="0"/>
              <a:t> </a:t>
            </a:r>
            <a:endParaRPr lang="es" sz="1500"/>
          </a:p>
          <a:p>
            <a:pPr marL="114300" indent="0">
              <a:buSzPct val="100000"/>
              <a:buNone/>
            </a:pPr>
            <a:r>
              <a:rPr lang="es" sz="1400" err="1"/>
              <a:t>multiple</a:t>
            </a:r>
            <a:r>
              <a:rPr lang="es" sz="1400" dirty="0"/>
              <a:t> </a:t>
            </a:r>
            <a:r>
              <a:rPr lang="es" sz="1400" err="1"/>
              <a:t>computational</a:t>
            </a:r>
            <a:r>
              <a:rPr lang="es" sz="1400" dirty="0"/>
              <a:t> </a:t>
            </a:r>
            <a:r>
              <a:rPr lang="es" sz="1400" err="1"/>
              <a:t>workers</a:t>
            </a:r>
            <a:r>
              <a:rPr lang="es" sz="1400" dirty="0"/>
              <a:t> (</a:t>
            </a:r>
            <a:r>
              <a:rPr lang="es" sz="1400" b="1" err="1"/>
              <a:t>threads</a:t>
            </a:r>
            <a:r>
              <a:rPr lang="es" sz="1400" dirty="0"/>
              <a:t>) </a:t>
            </a:r>
            <a:r>
              <a:rPr lang="es" sz="1400" err="1"/>
              <a:t>inside</a:t>
            </a:r>
            <a:r>
              <a:rPr lang="es" sz="1400" dirty="0"/>
              <a:t> a single </a:t>
            </a:r>
            <a:r>
              <a:rPr lang="es" sz="1400" err="1"/>
              <a:t>process</a:t>
            </a:r>
            <a:r>
              <a:rPr lang="es" sz="1400" dirty="0"/>
              <a:t> running </a:t>
            </a:r>
            <a:r>
              <a:rPr lang="es" sz="1400" err="1"/>
              <a:t>on</a:t>
            </a:r>
            <a:r>
              <a:rPr lang="es" sz="1400" dirty="0"/>
              <a:t> one </a:t>
            </a:r>
            <a:r>
              <a:rPr lang="es" sz="1400" err="1"/>
              <a:t>node</a:t>
            </a:r>
            <a:r>
              <a:rPr lang="es" sz="1400" dirty="0"/>
              <a:t>.</a:t>
            </a:r>
            <a:endParaRPr sz="1500"/>
          </a:p>
          <a:p>
            <a:endParaRPr lang="es" sz="1400" b="1" dirty="0"/>
          </a:p>
          <a:p>
            <a:r>
              <a:rPr lang="es" sz="1400" b="1" dirty="0"/>
              <a:t>1 </a:t>
            </a:r>
            <a:r>
              <a:rPr lang="es" sz="1400" b="1" dirty="0" err="1"/>
              <a:t>Thread</a:t>
            </a:r>
            <a:r>
              <a:rPr lang="es" sz="1400" b="1" dirty="0"/>
              <a:t> ≈ 1 CPU:</a:t>
            </a:r>
            <a:r>
              <a:rPr lang="es" sz="1400" dirty="0"/>
              <a:t> </a:t>
            </a:r>
            <a:endParaRPr lang="es"/>
          </a:p>
          <a:p>
            <a:pPr marL="114300" indent="0">
              <a:buNone/>
            </a:pPr>
            <a:r>
              <a:rPr lang="es" sz="1400" dirty="0"/>
              <a:t>The </a:t>
            </a:r>
            <a:r>
              <a:rPr lang="es" sz="1400" dirty="0" err="1"/>
              <a:t>program</a:t>
            </a:r>
            <a:r>
              <a:rPr lang="es" sz="1400" dirty="0"/>
              <a:t> </a:t>
            </a:r>
            <a:r>
              <a:rPr lang="es" sz="1400" dirty="0" err="1"/>
              <a:t>dynamically</a:t>
            </a:r>
            <a:r>
              <a:rPr lang="es" sz="1400" dirty="0"/>
              <a:t> </a:t>
            </a:r>
            <a:r>
              <a:rPr lang="es" sz="1400" dirty="0" err="1"/>
              <a:t>splits</a:t>
            </a:r>
            <a:r>
              <a:rPr lang="es" sz="1400" dirty="0"/>
              <a:t> </a:t>
            </a:r>
            <a:r>
              <a:rPr lang="es" sz="1400" dirty="0" err="1"/>
              <a:t>its</a:t>
            </a:r>
            <a:r>
              <a:rPr lang="es" sz="1400" dirty="0"/>
              <a:t> </a:t>
            </a:r>
            <a:r>
              <a:rPr lang="es" sz="1400" dirty="0" err="1"/>
              <a:t>workload</a:t>
            </a:r>
            <a:r>
              <a:rPr lang="es" sz="1400" dirty="0"/>
              <a:t> </a:t>
            </a:r>
            <a:r>
              <a:rPr lang="es" sz="1400" dirty="0" err="1"/>
              <a:t>among</a:t>
            </a:r>
            <a:r>
              <a:rPr lang="es" sz="1400" dirty="0"/>
              <a:t> </a:t>
            </a:r>
            <a:r>
              <a:rPr lang="es" sz="1400" dirty="0" err="1"/>
              <a:t>the</a:t>
            </a:r>
            <a:r>
              <a:rPr lang="es" sz="1400" dirty="0"/>
              <a:t> </a:t>
            </a:r>
            <a:r>
              <a:rPr lang="es" sz="1400" dirty="0" err="1"/>
              <a:t>available</a:t>
            </a:r>
            <a:r>
              <a:rPr lang="es" sz="1400" dirty="0"/>
              <a:t> CPU </a:t>
            </a:r>
            <a:r>
              <a:rPr lang="es" sz="1400" dirty="0" err="1"/>
              <a:t>cores</a:t>
            </a:r>
            <a:r>
              <a:rPr lang="es" sz="1400" dirty="0"/>
              <a:t> </a:t>
            </a:r>
            <a:r>
              <a:rPr lang="es" sz="1400" dirty="0" err="1"/>
              <a:t>of</a:t>
            </a:r>
            <a:r>
              <a:rPr lang="es" sz="1400" dirty="0"/>
              <a:t> </a:t>
            </a:r>
            <a:r>
              <a:rPr lang="es" sz="1400" dirty="0" err="1"/>
              <a:t>that</a:t>
            </a:r>
            <a:r>
              <a:rPr lang="es" sz="1400" dirty="0"/>
              <a:t> machine.</a:t>
            </a:r>
            <a:endParaRPr dirty="0"/>
          </a:p>
          <a:p>
            <a:pPr marL="114300" indent="0">
              <a:buNone/>
            </a:pPr>
            <a:endParaRPr lang="es" sz="1400" dirty="0"/>
          </a:p>
          <a:p>
            <a:r>
              <a:rPr lang="es" sz="1400" b="1" dirty="0" err="1"/>
              <a:t>Shared</a:t>
            </a:r>
            <a:r>
              <a:rPr lang="es" sz="1400" b="1" dirty="0"/>
              <a:t> RAM:</a:t>
            </a:r>
            <a:endParaRPr lang="es" dirty="0"/>
          </a:p>
          <a:p>
            <a:pPr marL="114300" indent="0">
              <a:buNone/>
            </a:pPr>
            <a:r>
              <a:rPr lang="es" sz="1400" dirty="0"/>
              <a:t>Every </a:t>
            </a:r>
            <a:r>
              <a:rPr lang="es" sz="1400" dirty="0" err="1"/>
              <a:t>thread</a:t>
            </a:r>
            <a:r>
              <a:rPr lang="es" sz="1400" dirty="0"/>
              <a:t> can </a:t>
            </a:r>
            <a:r>
              <a:rPr lang="es" sz="1400" dirty="0" err="1"/>
              <a:t>directly</a:t>
            </a:r>
            <a:r>
              <a:rPr lang="es" sz="1400" dirty="0"/>
              <a:t> </a:t>
            </a:r>
            <a:r>
              <a:rPr lang="es" sz="1400" dirty="0" err="1"/>
              <a:t>read</a:t>
            </a:r>
            <a:r>
              <a:rPr lang="es" sz="1400" dirty="0"/>
              <a:t> </a:t>
            </a:r>
            <a:r>
              <a:rPr lang="es" sz="1400" dirty="0" err="1"/>
              <a:t>from</a:t>
            </a:r>
            <a:r>
              <a:rPr lang="es" sz="1400" dirty="0"/>
              <a:t> and </a:t>
            </a:r>
            <a:r>
              <a:rPr lang="es" sz="1400" dirty="0" err="1"/>
              <a:t>write</a:t>
            </a:r>
            <a:r>
              <a:rPr lang="es" sz="1400" dirty="0"/>
              <a:t> </a:t>
            </a:r>
            <a:r>
              <a:rPr lang="es" sz="1400" dirty="0" err="1"/>
              <a:t>to</a:t>
            </a:r>
            <a:r>
              <a:rPr lang="es" sz="1400" dirty="0"/>
              <a:t> </a:t>
            </a:r>
            <a:r>
              <a:rPr lang="es" sz="1400" dirty="0" err="1"/>
              <a:t>the</a:t>
            </a:r>
            <a:r>
              <a:rPr lang="es" sz="1400" dirty="0"/>
              <a:t> </a:t>
            </a:r>
            <a:r>
              <a:rPr lang="es" sz="1400" dirty="0" err="1"/>
              <a:t>same</a:t>
            </a:r>
            <a:r>
              <a:rPr lang="es" sz="1400" dirty="0"/>
              <a:t> central </a:t>
            </a:r>
            <a:r>
              <a:rPr lang="es" sz="1400" dirty="0" err="1"/>
              <a:t>memory</a:t>
            </a:r>
            <a:r>
              <a:rPr lang="es" sz="1400" dirty="0"/>
              <a:t> </a:t>
            </a:r>
            <a:r>
              <a:rPr lang="es" sz="1400" dirty="0" err="1"/>
              <a:t>space</a:t>
            </a:r>
            <a:r>
              <a:rPr lang="es" sz="1400" dirty="0"/>
              <a:t>.</a:t>
            </a:r>
            <a:endParaRPr lang="es"/>
          </a:p>
          <a:p>
            <a:pPr marL="457200" lvl="0" indent="-310515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endParaRPr lang="es" sz="1500" dirty="0"/>
          </a:p>
        </p:txBody>
      </p:sp>
      <p:sp>
        <p:nvSpPr>
          <p:cNvPr id="340" name="Google Shape;340;p49"/>
          <p:cNvSpPr/>
          <p:nvPr/>
        </p:nvSpPr>
        <p:spPr>
          <a:xfrm>
            <a:off x="4464889" y="2235110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Aligners</a:t>
            </a:r>
            <a:endParaRPr sz="1635" b="1"/>
          </a:p>
        </p:txBody>
      </p:sp>
      <p:sp>
        <p:nvSpPr>
          <p:cNvPr id="341" name="Google Shape;341;p49"/>
          <p:cNvSpPr/>
          <p:nvPr/>
        </p:nvSpPr>
        <p:spPr>
          <a:xfrm>
            <a:off x="6829657" y="2235110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Assemblers</a:t>
            </a:r>
            <a:endParaRPr sz="1635" b="1"/>
          </a:p>
        </p:txBody>
      </p:sp>
      <p:sp>
        <p:nvSpPr>
          <p:cNvPr id="342" name="Google Shape;342;p49"/>
          <p:cNvSpPr/>
          <p:nvPr/>
        </p:nvSpPr>
        <p:spPr>
          <a:xfrm>
            <a:off x="4449786" y="3290020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Read Processing</a:t>
            </a:r>
            <a:endParaRPr sz="1635" b="1"/>
          </a:p>
        </p:txBody>
      </p:sp>
      <p:sp>
        <p:nvSpPr>
          <p:cNvPr id="343" name="Google Shape;343;p49"/>
          <p:cNvSpPr/>
          <p:nvPr/>
        </p:nvSpPr>
        <p:spPr>
          <a:xfrm>
            <a:off x="6863566" y="3290018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Variant Callers</a:t>
            </a:r>
            <a:endParaRPr sz="1635" b="1"/>
          </a:p>
        </p:txBody>
      </p:sp>
      <p:sp>
        <p:nvSpPr>
          <p:cNvPr id="344" name="Google Shape;344;p49"/>
          <p:cNvSpPr txBox="1"/>
          <p:nvPr/>
        </p:nvSpPr>
        <p:spPr>
          <a:xfrm>
            <a:off x="4286575" y="1474213"/>
            <a:ext cx="443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Most bioinformatics tools use the OpenMP model</a:t>
            </a:r>
            <a:endParaRPr sz="1000"/>
          </a:p>
        </p:txBody>
      </p:sp>
      <p:sp>
        <p:nvSpPr>
          <p:cNvPr id="345" name="Google Shape;345;p49"/>
          <p:cNvSpPr/>
          <p:nvPr/>
        </p:nvSpPr>
        <p:spPr>
          <a:xfrm>
            <a:off x="4267075" y="1821625"/>
            <a:ext cx="4475700" cy="528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35" b="1"/>
          </a:p>
        </p:txBody>
      </p:sp>
      <p:sp>
        <p:nvSpPr>
          <p:cNvPr id="346" name="Google Shape;346;p49"/>
          <p:cNvSpPr/>
          <p:nvPr/>
        </p:nvSpPr>
        <p:spPr>
          <a:xfrm>
            <a:off x="5739983" y="4233720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…</a:t>
            </a:r>
            <a:endParaRPr sz="1635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2CAD201E-1DF9-780C-A1F0-DFBD110F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>
            <a:extLst>
              <a:ext uri="{FF2B5EF4-FFF2-40B4-BE49-F238E27FC236}">
                <a16:creationId xmlns:a16="http://schemas.microsoft.com/office/drawing/2014/main" id="{D9CD51E2-1DFA-DEAB-EA77-3DCEFE6B3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</a:t>
            </a:r>
            <a:endParaRPr sz="27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4DD19-70CB-816F-CCCD-35BEB043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" t="8719" r="501" b="9608"/>
          <a:stretch>
            <a:fillRect/>
          </a:stretch>
        </p:blipFill>
        <p:spPr>
          <a:xfrm>
            <a:off x="848256" y="1483539"/>
            <a:ext cx="6887970" cy="319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7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</a:t>
            </a:r>
            <a:endParaRPr sz="2700" b="1"/>
          </a:p>
        </p:txBody>
      </p:sp>
      <p:pic>
        <p:nvPicPr>
          <p:cNvPr id="353" name="Google Shape;353;p50"/>
          <p:cNvPicPr preferRelativeResize="0"/>
          <p:nvPr/>
        </p:nvPicPr>
        <p:blipFill rotWithShape="1">
          <a:blip r:embed="rId3">
            <a:alphaModFix/>
          </a:blip>
          <a:srcRect t="28242" r="2799" b="31297"/>
          <a:stretch/>
        </p:blipFill>
        <p:spPr>
          <a:xfrm>
            <a:off x="2564825" y="2671318"/>
            <a:ext cx="3621025" cy="15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0"/>
          <p:cNvSpPr/>
          <p:nvPr/>
        </p:nvSpPr>
        <p:spPr>
          <a:xfrm>
            <a:off x="2771887" y="2460769"/>
            <a:ext cx="911100" cy="1928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0"/>
          <p:cNvSpPr/>
          <p:nvPr/>
        </p:nvSpPr>
        <p:spPr>
          <a:xfrm>
            <a:off x="3682988" y="2460769"/>
            <a:ext cx="809100" cy="1928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50"/>
          <p:cNvSpPr/>
          <p:nvPr/>
        </p:nvSpPr>
        <p:spPr>
          <a:xfrm>
            <a:off x="4492087" y="2460769"/>
            <a:ext cx="809100" cy="1928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50"/>
          <p:cNvSpPr/>
          <p:nvPr/>
        </p:nvSpPr>
        <p:spPr>
          <a:xfrm>
            <a:off x="5376762" y="2460769"/>
            <a:ext cx="809100" cy="1928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0"/>
          <p:cNvSpPr txBox="1"/>
          <p:nvPr/>
        </p:nvSpPr>
        <p:spPr>
          <a:xfrm>
            <a:off x="2807763" y="2054422"/>
            <a:ext cx="86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Nodo 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0" name="Google Shape;360;p50"/>
          <p:cNvSpPr txBox="1"/>
          <p:nvPr/>
        </p:nvSpPr>
        <p:spPr>
          <a:xfrm>
            <a:off x="3649937" y="2045024"/>
            <a:ext cx="86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Nodo 2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1" name="Google Shape;361;p50"/>
          <p:cNvSpPr txBox="1"/>
          <p:nvPr/>
        </p:nvSpPr>
        <p:spPr>
          <a:xfrm>
            <a:off x="4458048" y="2044140"/>
            <a:ext cx="86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Nodo 3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2" name="Google Shape;362;p50"/>
          <p:cNvSpPr txBox="1"/>
          <p:nvPr/>
        </p:nvSpPr>
        <p:spPr>
          <a:xfrm>
            <a:off x="5325768" y="2034742"/>
            <a:ext cx="86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Nodo 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3" name="Google Shape;363;p50"/>
          <p:cNvSpPr txBox="1"/>
          <p:nvPr/>
        </p:nvSpPr>
        <p:spPr>
          <a:xfrm>
            <a:off x="2923291" y="1588920"/>
            <a:ext cx="70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1">
                <a:solidFill>
                  <a:schemeClr val="dk1"/>
                </a:solidFill>
              </a:rPr>
              <a:t>Sample 1</a:t>
            </a:r>
            <a:endParaRPr sz="900" i="1">
              <a:solidFill>
                <a:schemeClr val="dk1"/>
              </a:solidFill>
            </a:endParaRPr>
          </a:p>
        </p:txBody>
      </p:sp>
      <p:sp>
        <p:nvSpPr>
          <p:cNvPr id="364" name="Google Shape;364;p50"/>
          <p:cNvSpPr txBox="1"/>
          <p:nvPr/>
        </p:nvSpPr>
        <p:spPr>
          <a:xfrm>
            <a:off x="3705855" y="1588038"/>
            <a:ext cx="70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1">
                <a:solidFill>
                  <a:schemeClr val="dk1"/>
                </a:solidFill>
              </a:rPr>
              <a:t>Sample 2</a:t>
            </a:r>
            <a:endParaRPr sz="900" i="1">
              <a:solidFill>
                <a:schemeClr val="dk1"/>
              </a:solidFill>
            </a:endParaRPr>
          </a:p>
        </p:txBody>
      </p:sp>
      <p:sp>
        <p:nvSpPr>
          <p:cNvPr id="365" name="Google Shape;365;p50"/>
          <p:cNvSpPr txBox="1"/>
          <p:nvPr/>
        </p:nvSpPr>
        <p:spPr>
          <a:xfrm>
            <a:off x="4488417" y="1587154"/>
            <a:ext cx="70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1">
                <a:solidFill>
                  <a:schemeClr val="dk1"/>
                </a:solidFill>
              </a:rPr>
              <a:t>Sample 3</a:t>
            </a:r>
            <a:endParaRPr sz="900" i="1">
              <a:solidFill>
                <a:schemeClr val="dk1"/>
              </a:solidFill>
            </a:endParaRPr>
          </a:p>
        </p:txBody>
      </p:sp>
      <p:sp>
        <p:nvSpPr>
          <p:cNvPr id="366" name="Google Shape;366;p50"/>
          <p:cNvSpPr txBox="1"/>
          <p:nvPr/>
        </p:nvSpPr>
        <p:spPr>
          <a:xfrm>
            <a:off x="5330591" y="1586272"/>
            <a:ext cx="70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i="1">
                <a:solidFill>
                  <a:schemeClr val="dk1"/>
                </a:solidFill>
              </a:rPr>
              <a:t>Sample 4</a:t>
            </a:r>
            <a:endParaRPr sz="900" i="1">
              <a:solidFill>
                <a:schemeClr val="dk1"/>
              </a:solidFill>
            </a:endParaRPr>
          </a:p>
        </p:txBody>
      </p:sp>
      <p:sp>
        <p:nvSpPr>
          <p:cNvPr id="367" name="Google Shape;367;p50"/>
          <p:cNvSpPr/>
          <p:nvPr/>
        </p:nvSpPr>
        <p:spPr>
          <a:xfrm rot="5400000">
            <a:off x="3073238" y="1955738"/>
            <a:ext cx="308400" cy="7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0"/>
          <p:cNvSpPr/>
          <p:nvPr/>
        </p:nvSpPr>
        <p:spPr>
          <a:xfrm rot="5400000">
            <a:off x="3879688" y="1962088"/>
            <a:ext cx="308400" cy="7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50"/>
          <p:cNvSpPr/>
          <p:nvPr/>
        </p:nvSpPr>
        <p:spPr>
          <a:xfrm rot="5400000">
            <a:off x="4660738" y="1955738"/>
            <a:ext cx="308400" cy="7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0"/>
          <p:cNvSpPr/>
          <p:nvPr/>
        </p:nvSpPr>
        <p:spPr>
          <a:xfrm rot="5400000">
            <a:off x="5526938" y="1962088"/>
            <a:ext cx="308400" cy="7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25" y="1278622"/>
            <a:ext cx="5823641" cy="372517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1"/>
          <p:cNvSpPr/>
          <p:nvPr/>
        </p:nvSpPr>
        <p:spPr>
          <a:xfrm>
            <a:off x="1362750" y="1891375"/>
            <a:ext cx="2467200" cy="378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51"/>
          <p:cNvSpPr/>
          <p:nvPr/>
        </p:nvSpPr>
        <p:spPr>
          <a:xfrm>
            <a:off x="1800900" y="4520275"/>
            <a:ext cx="2857800" cy="378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51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</a:t>
            </a:r>
            <a:endParaRPr sz="2700"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MPI</a:t>
            </a:r>
            <a:endParaRPr sz="2700" b="1"/>
          </a:p>
        </p:txBody>
      </p:sp>
      <p:sp>
        <p:nvSpPr>
          <p:cNvPr id="384" name="Google Shape;384;p52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33966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MPI Essentials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0328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 sz="1518"/>
              <a:t>It is designed to run an application using </a:t>
            </a:r>
            <a:r>
              <a:rPr lang="es" sz="1518" b="1"/>
              <a:t>multiple separate processes</a:t>
            </a:r>
            <a:r>
              <a:rPr lang="es" sz="1518"/>
              <a:t>, possibly on </a:t>
            </a:r>
            <a:r>
              <a:rPr lang="es" sz="1518" b="1"/>
              <a:t>different nodes</a:t>
            </a:r>
            <a:r>
              <a:rPr lang="es" sz="1518"/>
              <a:t> of a cluster</a:t>
            </a:r>
            <a:endParaRPr sz="1518"/>
          </a:p>
          <a:p>
            <a:pPr marL="4572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518"/>
          </a:p>
          <a:p>
            <a:pPr marL="457200" lvl="0" indent="-30328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 sz="1518"/>
              <a:t>When: multinode scaling &amp; very large memory needs.</a:t>
            </a:r>
            <a:endParaRPr sz="1518"/>
          </a:p>
          <a:p>
            <a:pPr marL="4572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518"/>
          </a:p>
          <a:p>
            <a:pPr marL="457200" lvl="0" indent="-30328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 sz="1518"/>
              <a:t>Shares resources by passing messages over the cluster’s network → network issues can stop the job</a:t>
            </a:r>
            <a:endParaRPr/>
          </a:p>
        </p:txBody>
      </p:sp>
      <p:sp>
        <p:nvSpPr>
          <p:cNvPr id="385" name="Google Shape;385;p52"/>
          <p:cNvSpPr/>
          <p:nvPr/>
        </p:nvSpPr>
        <p:spPr>
          <a:xfrm>
            <a:off x="4471375" y="2741028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RAxML</a:t>
            </a:r>
            <a:endParaRPr sz="1635" b="1"/>
          </a:p>
        </p:txBody>
      </p:sp>
      <p:sp>
        <p:nvSpPr>
          <p:cNvPr id="386" name="Google Shape;386;p52"/>
          <p:cNvSpPr/>
          <p:nvPr/>
        </p:nvSpPr>
        <p:spPr>
          <a:xfrm>
            <a:off x="6836143" y="2741028"/>
            <a:ext cx="1609800" cy="590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IQ-Tree</a:t>
            </a:r>
            <a:endParaRPr sz="1635" b="1"/>
          </a:p>
        </p:txBody>
      </p:sp>
      <p:sp>
        <p:nvSpPr>
          <p:cNvPr id="387" name="Google Shape;387;p52"/>
          <p:cNvSpPr txBox="1"/>
          <p:nvPr/>
        </p:nvSpPr>
        <p:spPr>
          <a:xfrm>
            <a:off x="4293061" y="1980130"/>
            <a:ext cx="443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Only a few bioinformatics tools use the MPI model</a:t>
            </a:r>
            <a:endParaRPr sz="1000"/>
          </a:p>
        </p:txBody>
      </p:sp>
      <p:sp>
        <p:nvSpPr>
          <p:cNvPr id="388" name="Google Shape;388;p52"/>
          <p:cNvSpPr/>
          <p:nvPr/>
        </p:nvSpPr>
        <p:spPr>
          <a:xfrm>
            <a:off x="4273561" y="2327543"/>
            <a:ext cx="4475700" cy="528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35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MPI</a:t>
            </a:r>
            <a:endParaRPr sz="2700" b="1"/>
          </a:p>
        </p:txBody>
      </p:sp>
      <p:sp>
        <p:nvSpPr>
          <p:cNvPr id="394" name="Google Shape;394;p53"/>
          <p:cNvSpPr txBox="1">
            <a:spLocks noGrp="1"/>
          </p:cNvSpPr>
          <p:nvPr>
            <p:ph type="body" idx="1"/>
          </p:nvPr>
        </p:nvSpPr>
        <p:spPr>
          <a:xfrm>
            <a:off x="228600" y="1437625"/>
            <a:ext cx="33966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MPI Essentials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0328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 sz="1518"/>
              <a:t>It is designed to run an application using </a:t>
            </a:r>
            <a:r>
              <a:rPr lang="es" sz="1518" b="1"/>
              <a:t>multiple separate processes</a:t>
            </a:r>
            <a:r>
              <a:rPr lang="es" sz="1518"/>
              <a:t>, possibly on </a:t>
            </a:r>
            <a:r>
              <a:rPr lang="es" sz="1518" b="1"/>
              <a:t>different nodes</a:t>
            </a:r>
            <a:r>
              <a:rPr lang="es" sz="1518"/>
              <a:t> of a cluster</a:t>
            </a:r>
            <a:endParaRPr sz="1518"/>
          </a:p>
          <a:p>
            <a:pPr marL="4572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518"/>
          </a:p>
          <a:p>
            <a:pPr marL="457200" lvl="0" indent="-30328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 sz="1518"/>
              <a:t>When: multinode scaling &amp; very large memory needs.</a:t>
            </a:r>
            <a:endParaRPr sz="1518"/>
          </a:p>
          <a:p>
            <a:pPr marL="45720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518"/>
          </a:p>
          <a:p>
            <a:pPr marL="457200" lvl="0" indent="-303287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s" sz="1518"/>
              <a:t>Shares resources by passing messages over the cluster’s network → network issues can stop the job</a:t>
            </a:r>
            <a:endParaRPr/>
          </a:p>
        </p:txBody>
      </p:sp>
      <p:sp>
        <p:nvSpPr>
          <p:cNvPr id="395" name="Google Shape;395;p53"/>
          <p:cNvSpPr/>
          <p:nvPr/>
        </p:nvSpPr>
        <p:spPr>
          <a:xfrm>
            <a:off x="4471375" y="2507900"/>
            <a:ext cx="2149500" cy="8235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Modelos de propagación de enfermedades</a:t>
            </a:r>
            <a:endParaRPr sz="1635" b="1"/>
          </a:p>
        </p:txBody>
      </p:sp>
      <p:sp>
        <p:nvSpPr>
          <p:cNvPr id="396" name="Google Shape;396;p53"/>
          <p:cNvSpPr/>
          <p:nvPr/>
        </p:nvSpPr>
        <p:spPr>
          <a:xfrm>
            <a:off x="6836150" y="2507925"/>
            <a:ext cx="2023200" cy="8235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Reconstrucción de imágenes 3D </a:t>
            </a:r>
            <a:endParaRPr sz="1635" b="1"/>
          </a:p>
        </p:txBody>
      </p:sp>
      <p:sp>
        <p:nvSpPr>
          <p:cNvPr id="397" name="Google Shape;397;p53"/>
          <p:cNvSpPr txBox="1"/>
          <p:nvPr/>
        </p:nvSpPr>
        <p:spPr>
          <a:xfrm>
            <a:off x="5874208" y="1980125"/>
            <a:ext cx="131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Otras áreas</a:t>
            </a:r>
            <a:endParaRPr sz="1000"/>
          </a:p>
        </p:txBody>
      </p:sp>
      <p:sp>
        <p:nvSpPr>
          <p:cNvPr id="398" name="Google Shape;398;p53"/>
          <p:cNvSpPr/>
          <p:nvPr/>
        </p:nvSpPr>
        <p:spPr>
          <a:xfrm>
            <a:off x="4273561" y="2327543"/>
            <a:ext cx="4475700" cy="528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35" b="1"/>
          </a:p>
        </p:txBody>
      </p:sp>
      <p:sp>
        <p:nvSpPr>
          <p:cNvPr id="399" name="Google Shape;399;p53"/>
          <p:cNvSpPr/>
          <p:nvPr/>
        </p:nvSpPr>
        <p:spPr>
          <a:xfrm>
            <a:off x="4471375" y="3594375"/>
            <a:ext cx="2149500" cy="8235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35" b="1"/>
              <a:t>Modelos climáticos y de contaminación</a:t>
            </a:r>
            <a:endParaRPr sz="1635" b="1"/>
          </a:p>
        </p:txBody>
      </p:sp>
      <p:sp>
        <p:nvSpPr>
          <p:cNvPr id="400" name="Google Shape;400;p53"/>
          <p:cNvSpPr/>
          <p:nvPr/>
        </p:nvSpPr>
        <p:spPr>
          <a:xfrm>
            <a:off x="6836150" y="3594375"/>
            <a:ext cx="2149500" cy="8853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4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0950" tIns="140950" rIns="140950" bIns="14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35" b="1"/>
              <a:t>Sincronización de modelos ML (gradient descent trees)</a:t>
            </a:r>
            <a:endParaRPr sz="1235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4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4883700" cy="40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Ejemplo de </a:t>
            </a:r>
            <a:r>
              <a:rPr lang="es" b="1"/>
              <a:t>MPI </a:t>
            </a:r>
            <a:r>
              <a:rPr lang="es"/>
              <a:t>con herramienta bioinfo </a:t>
            </a:r>
            <a:r>
              <a:rPr lang="es" b="1"/>
              <a:t>RAxML</a:t>
            </a:r>
            <a:endParaRPr b="1"/>
          </a:p>
        </p:txBody>
      </p:sp>
      <p:pic>
        <p:nvPicPr>
          <p:cNvPr id="407" name="Google Shape;40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825" y="1437622"/>
            <a:ext cx="2978354" cy="372517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4"/>
          <p:cNvSpPr txBox="1"/>
          <p:nvPr/>
        </p:nvSpPr>
        <p:spPr>
          <a:xfrm>
            <a:off x="601760" y="2162825"/>
            <a:ext cx="47268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Imagina un alineamiento de 100.000 secuencias.</a:t>
            </a:r>
            <a:br>
              <a:rPr lang="e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No cabe en memoria de un solo nodo.</a:t>
            </a:r>
            <a:br>
              <a:rPr lang="e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Necesitas usar </a:t>
            </a:r>
            <a:r>
              <a:rPr lang="es" sz="1300" b="1">
                <a:solidFill>
                  <a:schemeClr val="dk1"/>
                </a:solidFill>
              </a:rPr>
              <a:t>varios nodos</a:t>
            </a:r>
            <a:r>
              <a:rPr lang="es" sz="1300">
                <a:solidFill>
                  <a:schemeClr val="dk1"/>
                </a:solidFill>
              </a:rPr>
              <a:t>, cada uno procesa una parte del árbol y comparten información vía mensajes.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C9BDE8B5-7DBF-4E9A-2306-08694F6F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>
            <a:extLst>
              <a:ext uri="{FF2B5EF4-FFF2-40B4-BE49-F238E27FC236}">
                <a16:creationId xmlns:a16="http://schemas.microsoft.com/office/drawing/2014/main" id="{1CBD3766-FEA0-9427-E564-840961FF6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54">
            <a:extLst>
              <a:ext uri="{FF2B5EF4-FFF2-40B4-BE49-F238E27FC236}">
                <a16:creationId xmlns:a16="http://schemas.microsoft.com/office/drawing/2014/main" id="{B857295D-DE9B-E8A7-C684-FC3E51AD9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4883700" cy="40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Ejemplo de </a:t>
            </a:r>
            <a:r>
              <a:rPr lang="es" b="1"/>
              <a:t>MPI </a:t>
            </a:r>
            <a:r>
              <a:rPr lang="es"/>
              <a:t>con herramienta bioinfo </a:t>
            </a:r>
            <a:r>
              <a:rPr lang="es" b="1"/>
              <a:t>RAxML</a:t>
            </a:r>
            <a:endParaRPr b="1"/>
          </a:p>
        </p:txBody>
      </p:sp>
      <p:pic>
        <p:nvPicPr>
          <p:cNvPr id="407" name="Google Shape;407;p54">
            <a:extLst>
              <a:ext uri="{FF2B5EF4-FFF2-40B4-BE49-F238E27FC236}">
                <a16:creationId xmlns:a16="http://schemas.microsoft.com/office/drawing/2014/main" id="{41A9D66F-235A-F538-94A0-7C2CAFEE31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825" y="1437622"/>
            <a:ext cx="2978354" cy="372517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4">
            <a:extLst>
              <a:ext uri="{FF2B5EF4-FFF2-40B4-BE49-F238E27FC236}">
                <a16:creationId xmlns:a16="http://schemas.microsoft.com/office/drawing/2014/main" id="{B4EA4FA3-324F-BACB-FF88-884B711521C1}"/>
              </a:ext>
            </a:extLst>
          </p:cNvPr>
          <p:cNvSpPr txBox="1"/>
          <p:nvPr/>
        </p:nvSpPr>
        <p:spPr>
          <a:xfrm>
            <a:off x="601760" y="2162825"/>
            <a:ext cx="47268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Imagina un alineamiento de 100.000 secuencias.</a:t>
            </a:r>
            <a:br>
              <a:rPr lang="e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No cabe en memoria de un solo nodo.</a:t>
            </a:r>
            <a:br>
              <a:rPr lang="e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Necesitas usar </a:t>
            </a:r>
            <a:r>
              <a:rPr lang="es" sz="1300" b="1">
                <a:solidFill>
                  <a:schemeClr val="dk1"/>
                </a:solidFill>
              </a:rPr>
              <a:t>varios nodos</a:t>
            </a:r>
            <a:r>
              <a:rPr lang="es" sz="1300">
                <a:solidFill>
                  <a:schemeClr val="dk1"/>
                </a:solidFill>
              </a:rPr>
              <a:t>, cada uno procesa una parte del árbol y comparten información vía mensajes.</a:t>
            </a:r>
            <a:endParaRPr sz="13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1778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5"/>
          <p:cNvSpPr txBox="1">
            <a:spLocks noGrp="1"/>
          </p:cNvSpPr>
          <p:nvPr>
            <p:ph type="body" idx="1"/>
          </p:nvPr>
        </p:nvSpPr>
        <p:spPr>
          <a:xfrm>
            <a:off x="739150" y="677199"/>
            <a:ext cx="4883700" cy="40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Ejemplo de </a:t>
            </a:r>
            <a:r>
              <a:rPr lang="es" b="1"/>
              <a:t>MPI </a:t>
            </a:r>
            <a:r>
              <a:rPr lang="es"/>
              <a:t>con herramienta bioinfo </a:t>
            </a:r>
            <a:r>
              <a:rPr lang="es" b="1"/>
              <a:t>RAxML</a:t>
            </a:r>
            <a:endParaRPr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555F3-DF3D-90C8-CDD2-3699077BA2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7" t="19011" r="1157" b="25348"/>
          <a:stretch>
            <a:fillRect/>
          </a:stretch>
        </p:blipFill>
        <p:spPr>
          <a:xfrm>
            <a:off x="468211" y="2071687"/>
            <a:ext cx="7797619" cy="2512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DCDB9C-829F-037D-F954-9586263806B3}"/>
              </a:ext>
            </a:extLst>
          </p:cNvPr>
          <p:cNvSpPr txBox="1"/>
          <p:nvPr/>
        </p:nvSpPr>
        <p:spPr>
          <a:xfrm>
            <a:off x="3182938" y="1476375"/>
            <a:ext cx="49101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MPI ranks communicate by exchanging messages; across nodes, those messages travel through the cluster network.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56"/>
          <p:cNvPicPr preferRelativeResize="0"/>
          <p:nvPr/>
        </p:nvPicPr>
        <p:blipFill rotWithShape="1">
          <a:blip r:embed="rId3">
            <a:alphaModFix/>
          </a:blip>
          <a:srcRect b="51830"/>
          <a:stretch/>
        </p:blipFill>
        <p:spPr>
          <a:xfrm>
            <a:off x="790575" y="1332600"/>
            <a:ext cx="7247726" cy="21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6"/>
          <p:cNvPicPr preferRelativeResize="0"/>
          <p:nvPr/>
        </p:nvPicPr>
        <p:blipFill rotWithShape="1">
          <a:blip r:embed="rId3">
            <a:alphaModFix/>
          </a:blip>
          <a:srcRect t="70159"/>
          <a:stretch/>
        </p:blipFill>
        <p:spPr>
          <a:xfrm>
            <a:off x="790575" y="3434593"/>
            <a:ext cx="7247726" cy="13021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6"/>
          <p:cNvSpPr/>
          <p:nvPr/>
        </p:nvSpPr>
        <p:spPr>
          <a:xfrm>
            <a:off x="667700" y="1888775"/>
            <a:ext cx="4381500" cy="476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56"/>
          <p:cNvSpPr txBox="1">
            <a:spLocks noGrp="1"/>
          </p:cNvSpPr>
          <p:nvPr>
            <p:ph type="body" idx="1"/>
          </p:nvPr>
        </p:nvSpPr>
        <p:spPr>
          <a:xfrm>
            <a:off x="739150" y="677199"/>
            <a:ext cx="4883700" cy="40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Ejemplo de </a:t>
            </a:r>
            <a:r>
              <a:rPr lang="es" b="1"/>
              <a:t>MPI </a:t>
            </a:r>
            <a:r>
              <a:rPr lang="es"/>
              <a:t>con herramienta bioinfo </a:t>
            </a:r>
            <a:r>
              <a:rPr lang="es" b="1"/>
              <a:t>RAxML</a:t>
            </a:r>
            <a:endParaRPr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Summary</a:t>
            </a:r>
            <a:endParaRPr/>
          </a:p>
        </p:txBody>
      </p:sp>
      <p:pic>
        <p:nvPicPr>
          <p:cNvPr id="430" name="Google Shape;4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875" y="1722725"/>
            <a:ext cx="4844500" cy="28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7"/>
          <p:cNvSpPr txBox="1"/>
          <p:nvPr/>
        </p:nvSpPr>
        <p:spPr>
          <a:xfrm>
            <a:off x="51825" y="1506850"/>
            <a:ext cx="4280400" cy="3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OpenMP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○"/>
            </a:pP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launch one </a:t>
            </a:r>
            <a:r>
              <a:rPr lang="es" sz="1200" u="sng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process</a:t>
            </a: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200" i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 node</a:t>
            </a: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" sz="1200" b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just on a single node</a:t>
            </a:r>
            <a:endParaRPr sz="1200" u="sng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○"/>
            </a:pP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share data using </a:t>
            </a:r>
            <a:r>
              <a:rPr lang="es" sz="1200" u="sng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shared memory</a:t>
            </a:r>
            <a:endParaRPr sz="1200" u="sng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○"/>
            </a:pP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can't share data with a different process 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MPI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○"/>
            </a:pP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launch one process </a:t>
            </a:r>
            <a:r>
              <a:rPr lang="es" sz="1200" i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 core</a:t>
            </a: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" sz="1200" b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 one node or on many nodes.</a:t>
            </a:r>
            <a:endParaRPr sz="1200" b="1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Roboto"/>
              <a:buChar char="○"/>
            </a:pPr>
            <a:r>
              <a:rPr lang="es" sz="1200" b="1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pass messages</a:t>
            </a:r>
            <a:r>
              <a:rPr lang="es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among processes without concern for node location: allows intra and inter node communication. 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57"/>
          <p:cNvSpPr txBox="1"/>
          <p:nvPr/>
        </p:nvSpPr>
        <p:spPr>
          <a:xfrm>
            <a:off x="5292050" y="4747825"/>
            <a:ext cx="327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u="sng">
                <a:solidFill>
                  <a:schemeClr val="hlink"/>
                </a:solidFill>
                <a:hlinkClick r:id="rId4"/>
              </a:rPr>
              <a:t>https://cvw.cac.cornell.edu/hybrid-openmp-mpi/intro/node-views</a:t>
            </a:r>
            <a:endParaRPr sz="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7" name="Google Shape;437;p58"/>
          <p:cNvGraphicFramePr/>
          <p:nvPr/>
        </p:nvGraphicFramePr>
        <p:xfrm>
          <a:off x="25" y="1553400"/>
          <a:ext cx="9088750" cy="3180236"/>
        </p:xfrm>
        <a:graphic>
          <a:graphicData uri="http://schemas.openxmlformats.org/drawingml/2006/table">
            <a:tbl>
              <a:tblPr>
                <a:noFill/>
                <a:tableStyleId>{096B0C07-CB8A-437F-BAF2-31457A6D8B30}</a:tableStyleId>
              </a:tblPr>
              <a:tblGrid>
                <a:gridCol w="135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3850"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100" b="1">
                          <a:solidFill>
                            <a:schemeClr val="lt1"/>
                          </a:solidFill>
                        </a:rPr>
                        <a:t>KEY DIFFERENCES</a:t>
                      </a:r>
                      <a:endParaRPr sz="2100" b="1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63500" marB="63500" anchor="ctr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b="1">
                          <a:solidFill>
                            <a:schemeClr val="lt1"/>
                          </a:solidFill>
                        </a:rPr>
                        <a:t>Technology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63500" marB="63500" anchor="ctr">
                    <a:solidFill>
                      <a:srgbClr val="2D5C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b="1">
                          <a:solidFill>
                            <a:schemeClr val="lt1"/>
                          </a:solidFill>
                        </a:rPr>
                        <a:t>Parallelization level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63500" marB="63500" anchor="ctr">
                    <a:solidFill>
                      <a:srgbClr val="2D5C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b="1">
                          <a:solidFill>
                            <a:schemeClr val="lt1"/>
                          </a:solidFill>
                        </a:rPr>
                        <a:t>Communication between processes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63500" marB="63500" anchor="ctr">
                    <a:solidFill>
                      <a:srgbClr val="2D5C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b="1">
                          <a:solidFill>
                            <a:schemeClr val="lt1"/>
                          </a:solidFill>
                        </a:rPr>
                        <a:t>Typical use case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63500" marB="63500" anchor="ctr">
                    <a:solidFill>
                      <a:srgbClr val="2D5C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b="1">
                          <a:solidFill>
                            <a:schemeClr val="lt1"/>
                          </a:solidFill>
                        </a:rPr>
                        <a:t>Usage 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b="1">
                          <a:solidFill>
                            <a:schemeClr val="lt1"/>
                          </a:solidFill>
                        </a:rPr>
                        <a:t>(sbatch script)</a:t>
                      </a:r>
                      <a:endParaRPr sz="1300" b="1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63500" marB="63500" anchor="ctr">
                    <a:solidFill>
                      <a:srgbClr val="2D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OpenMP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Within </a:t>
                      </a:r>
                      <a:r>
                        <a:rPr lang="es" sz="1100" b="1"/>
                        <a:t>one node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Shared memory: all threads access the same RAM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Align 200 million reads on one node using all its cores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--cpus-per-task (threads)</a:t>
                      </a:r>
                      <a:endParaRPr sz="11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--mem (Ram for the whole process)</a:t>
                      </a:r>
                      <a:endParaRPr sz="1100" b="1"/>
                    </a:p>
                  </a:txBody>
                  <a:tcPr marL="63500" marR="63500" marT="63500" marB="63500"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MPI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Across </a:t>
                      </a:r>
                      <a:r>
                        <a:rPr lang="es" sz="1100" b="1"/>
                        <a:t>multiple nodes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Distributed memory: each node has its own RAM; communication by network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Build a very large phylogenetic tree by splitting the work over 4 nodes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--nodes</a:t>
                      </a:r>
                      <a:endParaRPr sz="11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--ntasks</a:t>
                      </a:r>
                      <a:endParaRPr sz="11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b="1"/>
                        <a:t>--ntasks-per-node</a:t>
                      </a:r>
                      <a:endParaRPr sz="1100" b="1"/>
                    </a:p>
                  </a:txBody>
                  <a:tcPr marL="63500" marR="63500" marT="63500" marB="63500"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8" name="Google Shape;438;p5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/>
              <a:t>Parallelization on our cluster — OpenMP vs MPI</a:t>
            </a:r>
            <a:endParaRPr sz="270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9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000000"/>
                </a:solidFill>
              </a:rPr>
              <a:t>Parallelization on our cluster — OpenMP vs MPI</a:t>
            </a:r>
            <a:endParaRPr/>
          </a:p>
        </p:txBody>
      </p:sp>
      <p:sp>
        <p:nvSpPr>
          <p:cNvPr id="444" name="Google Shape;444;p59"/>
          <p:cNvSpPr txBox="1">
            <a:spLocks noGrp="1"/>
          </p:cNvSpPr>
          <p:nvPr>
            <p:ph type="body" idx="1"/>
          </p:nvPr>
        </p:nvSpPr>
        <p:spPr>
          <a:xfrm>
            <a:off x="457200" y="2771675"/>
            <a:ext cx="3815400" cy="6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3557" b="1"/>
              <a:t>When to use OpenMP vs MPI?</a:t>
            </a:r>
            <a:endParaRPr sz="3557"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445" name="Google Shape;44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925" y="1340535"/>
            <a:ext cx="2483451" cy="372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 you for your attention</a:t>
            </a:r>
            <a:endParaRPr/>
          </a:p>
        </p:txBody>
      </p:sp>
      <p:sp>
        <p:nvSpPr>
          <p:cNvPr id="451" name="Google Shape;451;p60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3000"/>
              <a:t>Questions?</a:t>
            </a:r>
            <a:endParaRPr sz="3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61" title="cat-compu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25" y="1655850"/>
            <a:ext cx="3181700" cy="31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1"/>
          <p:cNvSpPr txBox="1">
            <a:spLocks noGrp="1"/>
          </p:cNvSpPr>
          <p:nvPr>
            <p:ph type="title"/>
          </p:nvPr>
        </p:nvSpPr>
        <p:spPr>
          <a:xfrm>
            <a:off x="3937575" y="2508800"/>
            <a:ext cx="4865100" cy="133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200" b="1"/>
              <a:t>HANDS</a:t>
            </a:r>
            <a:r>
              <a:rPr lang="es" sz="5900" b="1"/>
              <a:t>-ON</a:t>
            </a:r>
            <a:endParaRPr sz="5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c763990-09e6-4187-b694-1c95f6083bba" xsi:nil="true"/>
    <lcf76f155ced4ddcb4097134ff3c332f xmlns="21ab6fbf-d336-4209-8505-77e13094ac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F257E78F2C3A4D804CE65F17710342" ma:contentTypeVersion="10" ma:contentTypeDescription="Crear nuevo documento." ma:contentTypeScope="" ma:versionID="95934c55266193255bfb4dd5990e903f">
  <xsd:schema xmlns:xsd="http://www.w3.org/2001/XMLSchema" xmlns:xs="http://www.w3.org/2001/XMLSchema" xmlns:p="http://schemas.microsoft.com/office/2006/metadata/properties" xmlns:ns2="21ab6fbf-d336-4209-8505-77e13094ac77" xmlns:ns3="2c763990-09e6-4187-b694-1c95f6083bba" targetNamespace="http://schemas.microsoft.com/office/2006/metadata/properties" ma:root="true" ma:fieldsID="fb0e6c6ec4ee83b9268e90b8e72deda1" ns2:_="" ns3:_="">
    <xsd:import namespace="21ab6fbf-d336-4209-8505-77e13094ac77"/>
    <xsd:import namespace="2c763990-09e6-4187-b694-1c95f6083b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ab6fbf-d336-4209-8505-77e13094ac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36719a55-0e6a-4911-9e95-96f553e96c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63990-09e6-4187-b694-1c95f6083bb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37d9944-e5e4-425d-93bd-e37098222df8}" ma:internalName="TaxCatchAll" ma:showField="CatchAllData" ma:web="2c763990-09e6-4187-b694-1c95f6083b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7A7FAC-7EDD-4534-A40D-FA7F4E15DFEE}">
  <ds:schemaRefs>
    <ds:schemaRef ds:uri="http://schemas.microsoft.com/office/2006/metadata/properties"/>
    <ds:schemaRef ds:uri="http://schemas.microsoft.com/office/infopath/2007/PartnerControls"/>
    <ds:schemaRef ds:uri="2c763990-09e6-4187-b694-1c95f6083bba"/>
    <ds:schemaRef ds:uri="21ab6fbf-d336-4209-8505-77e13094ac77"/>
  </ds:schemaRefs>
</ds:datastoreItem>
</file>

<file path=customXml/itemProps2.xml><?xml version="1.0" encoding="utf-8"?>
<ds:datastoreItem xmlns:ds="http://schemas.openxmlformats.org/officeDocument/2006/customXml" ds:itemID="{314432ED-5017-4E31-90D7-7A8CA07919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ab6fbf-d336-4209-8505-77e13094ac77"/>
    <ds:schemaRef ds:uri="2c763990-09e6-4187-b694-1c95f6083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B48F4D-BBD2-4953-8F75-5F40E36275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52</Slides>
  <Notes>51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Tema de Office</vt:lpstr>
      <vt:lpstr>Scripting &amp; Parallelization SLURM</vt:lpstr>
      <vt:lpstr>Index</vt:lpstr>
      <vt:lpstr>Sbatch File</vt:lpstr>
      <vt:lpstr>Scripting on the cluster — Slurm: sbatch</vt:lpstr>
      <vt:lpstr>Scripting on the cluster — Slurm: sbatch</vt:lpstr>
      <vt:lpstr>Scripting on the cluster — Slurm: sbatch</vt:lpstr>
      <vt:lpstr>Scripting on the cluster — Slurm: sbatch</vt:lpstr>
      <vt:lpstr>Scripting on the cluster — Slurm: sbatch</vt:lpstr>
      <vt:lpstr>PowerPoint Presentation</vt:lpstr>
      <vt:lpstr>Scripting on the cluster — Slurm: deploy with sbatch</vt:lpstr>
      <vt:lpstr>Scripting on the cluster — Slurm: deploy with sbatch</vt:lpstr>
      <vt:lpstr>Scripting on the cluster — Slurm: monitor with squeue</vt:lpstr>
      <vt:lpstr>PowerPoint Presentation</vt:lpstr>
      <vt:lpstr>Scripting on the cluster — Slurm: monitor with scontrol </vt:lpstr>
      <vt:lpstr>Scripting on the cluster — Slurm: monitor with sacct </vt:lpstr>
      <vt:lpstr>Scripting on the cluster — Slurm: cancel a job</vt:lpstr>
      <vt:lpstr>Scripting on the cluster — Slurm: cancel a job</vt:lpstr>
      <vt:lpstr>Monitoring and job states</vt:lpstr>
      <vt:lpstr>Scripting on the cluster — Slurm: sbatch</vt:lpstr>
      <vt:lpstr>Scripting on the cluster — Slurm: Redirecting Job Output</vt:lpstr>
      <vt:lpstr>Scripting on the cluster — Take-home message</vt:lpstr>
      <vt:lpstr>Thank you for your attention</vt:lpstr>
      <vt:lpstr>JobArrays   (Embarrassingly parallel)</vt:lpstr>
      <vt:lpstr>Scripting on the cluster — Slurm: job arrays</vt:lpstr>
      <vt:lpstr>Scripting on the cluster — Slurm: job arrays</vt:lpstr>
      <vt:lpstr>Scripting on the cluster — Slurm: job arrays</vt:lpstr>
      <vt:lpstr>Scripting on the cluster — Slurm: job arrays</vt:lpstr>
      <vt:lpstr>Scripting on the cluster — Slurm: job arrays </vt:lpstr>
      <vt:lpstr>Scripting on the cluster — Slurm: job arrays</vt:lpstr>
      <vt:lpstr>Thank you for your attention</vt:lpstr>
      <vt:lpstr>Index</vt:lpstr>
      <vt:lpstr>OpenMP v.s. MPI (Open Multi-Processing)               (Message Passing Interface)</vt:lpstr>
      <vt:lpstr>Parallelization on our cluster — Why parallelize?</vt:lpstr>
      <vt:lpstr>Parallelization on our cluster — OpenMP</vt:lpstr>
      <vt:lpstr>Parallelization on our cluster — OpenMP</vt:lpstr>
      <vt:lpstr>Parallelization on our cluster — OpenMP vs MPI</vt:lpstr>
      <vt:lpstr>Parallelization on our cluster — OpenMP vs MPI</vt:lpstr>
      <vt:lpstr>Parallelization on our cluster — OpenMP</vt:lpstr>
      <vt:lpstr>Parallelization on our cluster — OpenMP</vt:lpstr>
      <vt:lpstr>Parallelization on our cluster — OpenMP</vt:lpstr>
      <vt:lpstr>Parallelization on our cluster — OpenMP</vt:lpstr>
      <vt:lpstr>Parallelization on our cluster — MPI</vt:lpstr>
      <vt:lpstr>Parallelization on our cluster — MPI</vt:lpstr>
      <vt:lpstr>PowerPoint Presentation</vt:lpstr>
      <vt:lpstr>PowerPoint Presentation</vt:lpstr>
      <vt:lpstr>PowerPoint Presentation</vt:lpstr>
      <vt:lpstr>PowerPoint Presentation</vt:lpstr>
      <vt:lpstr>Summary</vt:lpstr>
      <vt:lpstr>Parallelization on our cluster — OpenMP vs MPI</vt:lpstr>
      <vt:lpstr>Parallelization on our cluster — OpenMP vs MPI</vt:lpstr>
      <vt:lpstr>Thank you for your attention</vt:lpstr>
      <vt:lpstr>HANDS-ON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308</cp:revision>
  <dcterms:modified xsi:type="dcterms:W3CDTF">2026-10-21T09:24:19Z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0x0101002BF257E78F2C3A4D804CE65F17710342</vt:lpwstr>
  </property>
  <property fmtid="{D5CDD505-2E9C-101B-9397-08002B2CF9AE}" pid="3" name="MediaServiceImageTags">
    <vt:lpwstr/>
  </property>
</Properties>
</file>