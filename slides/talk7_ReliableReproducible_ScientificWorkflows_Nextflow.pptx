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5" r:id="rId4"/>
  </p:sldMasterIdLst>
  <p:notesMasterIdLst>
    <p:notesMasterId r:id="rId21"/>
  </p:notesMasterIdLst>
  <p:sldIdLst>
    <p:sldId id="256" r:id="rId5"/>
    <p:sldId id="257" r:id="rId6"/>
    <p:sldId id="258" r:id="rId7"/>
    <p:sldId id="259" r:id="rId8"/>
    <p:sldId id="260" r:id="rId9"/>
    <p:sldId id="270" r:id="rId10"/>
    <p:sldId id="261" r:id="rId11"/>
    <p:sldId id="262" r:id="rId12"/>
    <p:sldId id="263" r:id="rId13"/>
    <p:sldId id="264" r:id="rId14"/>
    <p:sldId id="269" r:id="rId15"/>
    <p:sldId id="271" r:id="rId16"/>
    <p:sldId id="265" r:id="rId17"/>
    <p:sldId id="268" r:id="rId18"/>
    <p:sldId id="266" r:id="rId19"/>
    <p:sldId id="267" r:id="rId20"/>
  </p:sldIdLst>
  <p:sldSz cx="9144000" cy="5143500" type="screen16x9"/>
  <p:notesSz cx="6858000" cy="9144000"/>
  <p:embeddedFontLst>
    <p:embeddedFont>
      <p:font typeface="Fira Sans Extra Condensed" panose="020B0503050000020004" pitchFamily="34" charset="0"/>
      <p:regular r:id="rId22"/>
      <p:bold r:id="rId23"/>
      <p:italic r:id="rId24"/>
      <p:boldItalic r:id="rId25"/>
    </p:embeddedFont>
    <p:embeddedFont>
      <p:font typeface="Source Code Pro" panose="020B0509030403020204" pitchFamily="49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50" dt="2026-10-20T14:24:28.125"/>
    <p1510:client id="{6B47BC4A-BF18-97FB-C718-C499B2332D3D}" v="98" dt="2026-10-22T08:42:55.521"/>
    <p1510:client id="{76AF8441-C247-EBB7-C21C-3FE72C18956F}" v="74" dt="2026-10-21T08:31:46.841"/>
    <p1510:client id="{A1A15EC6-BE4B-A87A-E41A-DD5868592D63}" v="18" dt="2026-10-21T11:41:17.3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5.fntdata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4.fntdata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8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3.fntdata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7940028416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7940028416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940028416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7940028416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7940028416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7940028416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7940028416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7940028416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7940028416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7940028416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F9A1B6FB-56CB-AA1A-D104-9EE55D26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940028416_0_127:notes">
            <a:extLst>
              <a:ext uri="{FF2B5EF4-FFF2-40B4-BE49-F238E27FC236}">
                <a16:creationId xmlns:a16="http://schemas.microsoft.com/office/drawing/2014/main" id="{CDB1C943-7F03-3E55-73DD-4F6486AA43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7940028416_0_127:notes">
            <a:extLst>
              <a:ext uri="{FF2B5EF4-FFF2-40B4-BE49-F238E27FC236}">
                <a16:creationId xmlns:a16="http://schemas.microsoft.com/office/drawing/2014/main" id="{8D2563EB-4796-7F67-B66F-708DF5BED2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90066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940028416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7940028416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940028416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7940028416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7940028416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7940028416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7940028416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7940028416_0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880e73f53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880e73f53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D6A94B20-0DE7-D47B-DF14-9C6DB9DB1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880e73f53a_0_1:notes">
            <a:extLst>
              <a:ext uri="{FF2B5EF4-FFF2-40B4-BE49-F238E27FC236}">
                <a16:creationId xmlns:a16="http://schemas.microsoft.com/office/drawing/2014/main" id="{3F463795-493A-44BC-4498-8E57F5EF9A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880e73f53a_0_1:notes">
            <a:extLst>
              <a:ext uri="{FF2B5EF4-FFF2-40B4-BE49-F238E27FC236}">
                <a16:creationId xmlns:a16="http://schemas.microsoft.com/office/drawing/2014/main" id="{27AE3525-FE7D-A36D-5E3B-5AAE3495D3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42489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7cf5eb249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7cf5eb249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7940028416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7940028416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apositiva de título">
  <p:cSld name="1_Diapositiva de título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71325" y="3352200"/>
            <a:ext cx="4767900" cy="16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u="none"/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9" name="Google Shape;59;p14"/>
          <p:cNvSpPr/>
          <p:nvPr/>
        </p:nvSpPr>
        <p:spPr>
          <a:xfrm>
            <a:off x="171325" y="1092425"/>
            <a:ext cx="4767900" cy="2114400"/>
          </a:xfrm>
          <a:prstGeom prst="roundRect">
            <a:avLst>
              <a:gd name="adj" fmla="val 16667"/>
            </a:avLst>
          </a:prstGeom>
          <a:solidFill>
            <a:srgbClr val="70A5DA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8025" y="1651650"/>
            <a:ext cx="4474500" cy="129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1" name="Google Shape;61;p14"/>
          <p:cNvSpPr>
            <a:spLocks noGrp="1"/>
          </p:cNvSpPr>
          <p:nvPr>
            <p:ph type="pic" idx="2"/>
          </p:nvPr>
        </p:nvSpPr>
        <p:spPr>
          <a:xfrm>
            <a:off x="5143500" y="14875"/>
            <a:ext cx="40005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457200" y="519522"/>
            <a:ext cx="8229600" cy="5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onsolas"/>
              <a:buNone/>
              <a:defRPr sz="2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457200" y="1437624"/>
            <a:ext cx="8229600" cy="31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u="none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68" name="Google Shape;68;p15"/>
          <p:cNvSpPr/>
          <p:nvPr/>
        </p:nvSpPr>
        <p:spPr>
          <a:xfrm>
            <a:off x="673894" y="1120397"/>
            <a:ext cx="8470200" cy="101100"/>
          </a:xfrm>
          <a:prstGeom prst="rect">
            <a:avLst/>
          </a:prstGeom>
          <a:gradFill>
            <a:gsLst>
              <a:gs pos="0">
                <a:srgbClr val="2D5C97"/>
              </a:gs>
              <a:gs pos="80000">
                <a:srgbClr val="3C7AC5"/>
              </a:gs>
              <a:gs pos="100000">
                <a:srgbClr val="397BC9"/>
              </a:gs>
            </a:gsLst>
            <a:lin ang="16200038" scaled="0"/>
          </a:gra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425E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0" y="1120397"/>
            <a:ext cx="557100" cy="101100"/>
          </a:xfrm>
          <a:prstGeom prst="rect">
            <a:avLst/>
          </a:prstGeom>
          <a:gradFill>
            <a:gsLst>
              <a:gs pos="0">
                <a:srgbClr val="29859E"/>
              </a:gs>
              <a:gs pos="80000">
                <a:srgbClr val="36B0D0"/>
              </a:gs>
              <a:gs pos="100000">
                <a:srgbClr val="33B3D5"/>
              </a:gs>
            </a:gsLst>
            <a:lin ang="16200038" scaled="0"/>
          </a:gradFill>
          <a:ln w="9525" cap="flat" cmpd="sng">
            <a:solidFill>
              <a:srgbClr val="45A9C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425EA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>
            <a:spLocks noGrp="1"/>
          </p:cNvSpPr>
          <p:nvPr>
            <p:ph type="ctrTitle"/>
          </p:nvPr>
        </p:nvSpPr>
        <p:spPr>
          <a:xfrm>
            <a:off x="1371600" y="1382275"/>
            <a:ext cx="6400800" cy="11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>
            <a:spLocks noGrp="1"/>
          </p:cNvSpPr>
          <p:nvPr>
            <p:ph type="title"/>
          </p:nvPr>
        </p:nvSpPr>
        <p:spPr>
          <a:xfrm>
            <a:off x="457200" y="519522"/>
            <a:ext cx="8229600" cy="5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nsola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body" idx="1"/>
          </p:nvPr>
        </p:nvSpPr>
        <p:spPr>
          <a:xfrm>
            <a:off x="457200" y="1631156"/>
            <a:ext cx="4040100" cy="29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2"/>
          </p:nvPr>
        </p:nvSpPr>
        <p:spPr>
          <a:xfrm>
            <a:off x="4645025" y="1631156"/>
            <a:ext cx="4041900" cy="29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/>
          <p:nvPr/>
        </p:nvSpPr>
        <p:spPr>
          <a:xfrm>
            <a:off x="673894" y="1120397"/>
            <a:ext cx="8470200" cy="101100"/>
          </a:xfrm>
          <a:prstGeom prst="rect">
            <a:avLst/>
          </a:prstGeom>
          <a:gradFill>
            <a:gsLst>
              <a:gs pos="0">
                <a:srgbClr val="2D5C97"/>
              </a:gs>
              <a:gs pos="80000">
                <a:srgbClr val="3C7AC5"/>
              </a:gs>
              <a:gs pos="100000">
                <a:srgbClr val="397BC9"/>
              </a:gs>
            </a:gsLst>
            <a:lin ang="16200038" scaled="0"/>
          </a:gra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425E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7"/>
          <p:cNvSpPr/>
          <p:nvPr/>
        </p:nvSpPr>
        <p:spPr>
          <a:xfrm>
            <a:off x="0" y="1120397"/>
            <a:ext cx="557100" cy="101100"/>
          </a:xfrm>
          <a:prstGeom prst="rect">
            <a:avLst/>
          </a:prstGeom>
          <a:gradFill>
            <a:gsLst>
              <a:gs pos="0">
                <a:srgbClr val="29859E"/>
              </a:gs>
              <a:gs pos="80000">
                <a:srgbClr val="36B0D0"/>
              </a:gs>
              <a:gs pos="100000">
                <a:srgbClr val="33B3D5"/>
              </a:gs>
            </a:gsLst>
            <a:lin ang="16200038" scaled="0"/>
          </a:gradFill>
          <a:ln w="9525" cap="flat" cmpd="sng">
            <a:solidFill>
              <a:srgbClr val="45A9C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425EA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lo el título" type="titleOnly">
  <p:cSld name="TITLE_ONLY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>
            <a:spLocks noGrp="1"/>
          </p:cNvSpPr>
          <p:nvPr>
            <p:ph type="title"/>
          </p:nvPr>
        </p:nvSpPr>
        <p:spPr>
          <a:xfrm>
            <a:off x="457200" y="519522"/>
            <a:ext cx="8229600" cy="5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8"/>
          <p:cNvSpPr/>
          <p:nvPr/>
        </p:nvSpPr>
        <p:spPr>
          <a:xfrm>
            <a:off x="673894" y="1120397"/>
            <a:ext cx="8470200" cy="101100"/>
          </a:xfrm>
          <a:prstGeom prst="rect">
            <a:avLst/>
          </a:prstGeom>
          <a:gradFill>
            <a:gsLst>
              <a:gs pos="0">
                <a:srgbClr val="2D5C97"/>
              </a:gs>
              <a:gs pos="80000">
                <a:srgbClr val="3C7AC5"/>
              </a:gs>
              <a:gs pos="100000">
                <a:srgbClr val="397BC9"/>
              </a:gs>
            </a:gsLst>
            <a:lin ang="16200038" scaled="0"/>
          </a:gra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425E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8"/>
          <p:cNvSpPr/>
          <p:nvPr/>
        </p:nvSpPr>
        <p:spPr>
          <a:xfrm>
            <a:off x="0" y="1120397"/>
            <a:ext cx="557100" cy="101100"/>
          </a:xfrm>
          <a:prstGeom prst="rect">
            <a:avLst/>
          </a:prstGeom>
          <a:gradFill>
            <a:gsLst>
              <a:gs pos="0">
                <a:srgbClr val="29859E"/>
              </a:gs>
              <a:gs pos="80000">
                <a:srgbClr val="36B0D0"/>
              </a:gs>
              <a:gs pos="100000">
                <a:srgbClr val="33B3D5"/>
              </a:gs>
            </a:gsLst>
            <a:lin ang="16200038" scaled="0"/>
          </a:gradFill>
          <a:ln w="9525" cap="flat" cmpd="sng">
            <a:solidFill>
              <a:srgbClr val="45A9C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425EA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200" y="519522"/>
            <a:ext cx="8229600" cy="5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i="0" u="none" strike="noStrike" cap="none">
                <a:solidFill>
                  <a:schemeClr val="dk1"/>
                </a:solidFill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800" i="0" u="none" strike="noStrike" cap="none">
                <a:solidFill>
                  <a:srgbClr val="000000"/>
                </a:solidFill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800" i="0" u="none" strike="noStrike" cap="none">
                <a:solidFill>
                  <a:srgbClr val="000000"/>
                </a:solidFill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800" i="0" u="none" strike="noStrike" cap="none">
                <a:solidFill>
                  <a:srgbClr val="000000"/>
                </a:solidFill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800" i="0" u="none" strike="noStrike" cap="none">
                <a:solidFill>
                  <a:srgbClr val="000000"/>
                </a:solidFill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800" i="0" u="none" strike="noStrike" cap="none">
                <a:solidFill>
                  <a:srgbClr val="000000"/>
                </a:solidFill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800" i="0" u="none" strike="noStrike" cap="none">
                <a:solidFill>
                  <a:srgbClr val="000000"/>
                </a:solidFill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800" i="0" u="none" strike="noStrike" cap="none">
                <a:solidFill>
                  <a:srgbClr val="000000"/>
                </a:solidFill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8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200" y="1437624"/>
            <a:ext cx="8229600" cy="31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b="1" i="0" u="sng" strike="noStrike" cap="none">
                <a:solidFill>
                  <a:schemeClr val="dk1"/>
                </a:solidFill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 i="0" u="none" strike="noStrike" cap="none">
                <a:solidFill>
                  <a:schemeClr val="dk1"/>
                </a:solidFill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i="0" u="none" strike="noStrike" cap="none">
                <a:solidFill>
                  <a:schemeClr val="dk1"/>
                </a:solidFill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 i="0" u="none" strike="noStrike" cap="none">
                <a:solidFill>
                  <a:schemeClr val="dk1"/>
                </a:solidFill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 i="0" u="none" strike="noStrike" cap="none">
                <a:solidFill>
                  <a:schemeClr val="dk1"/>
                </a:solidFill>
              </a:defRPr>
            </a:lvl5pPr>
            <a:lvl6pPr marL="2743200" marR="0" lvl="5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i="0" u="none" strike="noStrike" cap="none">
                <a:solidFill>
                  <a:schemeClr val="dk1"/>
                </a:solidFill>
              </a:defRPr>
            </a:lvl6pPr>
            <a:lvl7pPr marL="3200400" marR="0" lvl="6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i="0" u="none" strike="noStrike" cap="none">
                <a:solidFill>
                  <a:schemeClr val="dk1"/>
                </a:solidFill>
              </a:defRPr>
            </a:lvl7pPr>
            <a:lvl8pPr marL="3657600" marR="0" lvl="7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i="0" u="none" strike="noStrike" cap="none">
                <a:solidFill>
                  <a:schemeClr val="dk1"/>
                </a:solidFill>
              </a:defRPr>
            </a:lvl8pPr>
            <a:lvl9pPr marL="4114800" marR="0" lvl="8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i="0" u="none" strike="noStrike" cap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pic>
        <p:nvPicPr>
          <p:cNvPr id="53" name="Google Shape;53;p1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60974" y="142492"/>
            <a:ext cx="1373847" cy="348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1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634815" y="147191"/>
            <a:ext cx="1976081" cy="338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 rotWithShape="1">
          <a:blip r:embed="rId9">
            <a:alphaModFix/>
          </a:blip>
          <a:srcRect t="20458" b="20399"/>
          <a:stretch/>
        </p:blipFill>
        <p:spPr>
          <a:xfrm>
            <a:off x="7321300" y="0"/>
            <a:ext cx="1770674" cy="5159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/>
          <p:nvPr/>
        </p:nvSpPr>
        <p:spPr>
          <a:xfrm>
            <a:off x="0" y="864394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s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>
            <a:spLocks noGrp="1"/>
          </p:cNvSpPr>
          <p:nvPr>
            <p:ph type="title"/>
          </p:nvPr>
        </p:nvSpPr>
        <p:spPr>
          <a:xfrm>
            <a:off x="344550" y="1294175"/>
            <a:ext cx="4372800" cy="573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/>
              <a:t>Building a reliable and reproducible scientific workflow using </a:t>
            </a:r>
            <a:r>
              <a:rPr lang="es" sz="2800" u="sng"/>
              <a:t>Nextflow</a:t>
            </a:r>
            <a:endParaRPr sz="2800" u="sng"/>
          </a:p>
        </p:txBody>
      </p:sp>
      <p:sp>
        <p:nvSpPr>
          <p:cNvPr id="89" name="Google Shape;89;p19"/>
          <p:cNvSpPr>
            <a:spLocks noGrp="1"/>
          </p:cNvSpPr>
          <p:nvPr>
            <p:ph type="pic" idx="2"/>
          </p:nvPr>
        </p:nvSpPr>
        <p:spPr>
          <a:xfrm>
            <a:off x="5143500" y="14875"/>
            <a:ext cx="4000500" cy="5143500"/>
          </a:xfrm>
          <a:prstGeom prst="rect">
            <a:avLst/>
          </a:prstGeom>
        </p:spPr>
      </p:sp>
      <p:pic>
        <p:nvPicPr>
          <p:cNvPr id="90" name="Google Shape;90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43500" y="14875"/>
            <a:ext cx="40004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87;p19">
            <a:extLst>
              <a:ext uri="{FF2B5EF4-FFF2-40B4-BE49-F238E27FC236}">
                <a16:creationId xmlns:a16="http://schemas.microsoft.com/office/drawing/2014/main" id="{00F82C19-B019-5D57-59E2-E47CEC6E392E}"/>
              </a:ext>
            </a:extLst>
          </p:cNvPr>
          <p:cNvSpPr txBox="1">
            <a:spLocks noGrp="1"/>
          </p:cNvSpPr>
          <p:nvPr/>
        </p:nvSpPr>
        <p:spPr>
          <a:xfrm>
            <a:off x="162050" y="3307275"/>
            <a:ext cx="4767900" cy="18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ctr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ctr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ctr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ctr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ctr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ctr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ctr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457200" algn="just"/>
            <a:r>
              <a:rPr lang="es" sz="2200"/>
              <a:t>     Nexflow Pipelines in HPC</a:t>
            </a:r>
            <a:endParaRPr lang="en-US"/>
          </a:p>
          <a:p>
            <a:pPr marL="0" lvl="0" indent="0" algn="just" rtl="0">
              <a:spcBef>
                <a:spcPts val="360"/>
              </a:spcBef>
              <a:spcAft>
                <a:spcPts val="0"/>
              </a:spcAft>
              <a:buNone/>
            </a:pPr>
            <a:endParaRPr sz="2246"/>
          </a:p>
          <a:p>
            <a:pPr marL="0" lvl="0" indent="0" algn="ctr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s"/>
              <a:t>Daniel Valle Millares</a:t>
            </a:r>
            <a:endParaRPr/>
          </a:p>
          <a:p>
            <a:pPr marL="0" indent="0"/>
            <a:r>
              <a:rPr lang="es"/>
              <a:t>da.valle@ciberisciii.es</a:t>
            </a:r>
            <a:endParaRPr lang="es" dirty="0"/>
          </a:p>
          <a:p>
            <a:pPr marL="0" lvl="0" indent="0" algn="ctr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s" dirty="0"/>
              <a:t>(</a:t>
            </a:r>
            <a:r>
              <a:rPr lang="es" dirty="0" err="1"/>
              <a:t>Bioinformatics</a:t>
            </a:r>
            <a:r>
              <a:rPr lang="es" dirty="0"/>
              <a:t> </a:t>
            </a:r>
            <a:r>
              <a:rPr lang="es" dirty="0" err="1"/>
              <a:t>Platform</a:t>
            </a:r>
            <a:r>
              <a:rPr lang="es" dirty="0"/>
              <a:t> - CIBERINFEC)</a:t>
            </a:r>
            <a:endParaRPr dirty="0"/>
          </a:p>
          <a:p>
            <a:pPr marL="0" lvl="0" indent="0" algn="ctr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/>
          </a:p>
          <a:p>
            <a:pPr marL="0" lvl="0" indent="0" algn="ctr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s" u="none"/>
              <a:t>BU-ISCIII</a:t>
            </a:r>
            <a:endParaRPr u="none"/>
          </a:p>
          <a:p>
            <a:pPr marL="0" lvl="0" indent="0" algn="ctr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s" u="none"/>
              <a:t>octubre de </a:t>
            </a:r>
            <a:r>
              <a:rPr lang="es"/>
              <a:t>2026</a:t>
            </a:r>
            <a:endParaRPr u="none"/>
          </a:p>
          <a:p>
            <a:pPr marL="0" lvl="0" indent="0" algn="ctr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s"/>
              <a:t>2ª</a:t>
            </a:r>
            <a:r>
              <a:rPr lang="es" u="none"/>
              <a:t> edición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>
            <a:spLocks noGrp="1"/>
          </p:cNvSpPr>
          <p:nvPr>
            <p:ph type="title"/>
          </p:nvPr>
        </p:nvSpPr>
        <p:spPr>
          <a:xfrm>
            <a:off x="457200" y="519522"/>
            <a:ext cx="8229600" cy="594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Index</a:t>
            </a:r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body" idx="1"/>
          </p:nvPr>
        </p:nvSpPr>
        <p:spPr>
          <a:xfrm>
            <a:off x="457200" y="1437624"/>
            <a:ext cx="8229600" cy="3156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500"/>
              <a:buAutoNum type="arabicPeriod"/>
            </a:pPr>
            <a:r>
              <a:rPr lang="es" sz="1500"/>
              <a:t>Scripting on the cluster — Slurm: sbatch &amp; job arrays</a:t>
            </a:r>
            <a:endParaRPr sz="150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s" sz="1600"/>
              <a:t>Parallelization on our cluster — OpenMP vs MPI (when to use each)</a:t>
            </a:r>
            <a:endParaRPr sz="1600"/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s" sz="1900" b="1"/>
              <a:t>From scripts to workflows — building a reproducible pipeline (Nextflow preview)</a:t>
            </a:r>
            <a:endParaRPr sz="1900" b="1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s" sz="1500"/>
              <a:t>Wrap-up &amp; Q&amp;A</a:t>
            </a:r>
            <a:endParaRPr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>
            <a:spLocks noGrp="1"/>
          </p:cNvSpPr>
          <p:nvPr>
            <p:ph type="title"/>
          </p:nvPr>
        </p:nvSpPr>
        <p:spPr>
          <a:xfrm>
            <a:off x="457200" y="519522"/>
            <a:ext cx="8229600" cy="594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s" sz="1900" b="1"/>
              <a:t>From scripts to workflows — building a reproducible pipeline (Nextflow preview)</a:t>
            </a:r>
            <a:endParaRPr/>
          </a:p>
        </p:txBody>
      </p:sp>
      <p:sp>
        <p:nvSpPr>
          <p:cNvPr id="102" name="Google Shape;102;p21"/>
          <p:cNvSpPr/>
          <p:nvPr/>
        </p:nvSpPr>
        <p:spPr>
          <a:xfrm>
            <a:off x="3025079" y="3153184"/>
            <a:ext cx="1139100" cy="1080900"/>
          </a:xfrm>
          <a:prstGeom prst="ellipse">
            <a:avLst/>
          </a:prstGeom>
          <a:solidFill>
            <a:srgbClr val="FFFFFF"/>
          </a:solidFill>
          <a:ln w="8450" cap="flat" cmpd="sng">
            <a:solidFill>
              <a:srgbClr val="2428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075" tIns="81075" rIns="81075" bIns="81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2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03" name="Google Shape;103;p21"/>
          <p:cNvSpPr txBox="1"/>
          <p:nvPr/>
        </p:nvSpPr>
        <p:spPr>
          <a:xfrm>
            <a:off x="2748094" y="4344791"/>
            <a:ext cx="1692900" cy="4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75" tIns="81075" rIns="81075" bIns="81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42" b="1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Scalability for Massive Data Analysis</a:t>
            </a:r>
            <a:endParaRPr sz="1242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04" name="Google Shape;104;p21"/>
          <p:cNvSpPr/>
          <p:nvPr/>
        </p:nvSpPr>
        <p:spPr>
          <a:xfrm>
            <a:off x="7195629" y="3138402"/>
            <a:ext cx="1139100" cy="1080900"/>
          </a:xfrm>
          <a:prstGeom prst="ellipse">
            <a:avLst/>
          </a:prstGeom>
          <a:solidFill>
            <a:srgbClr val="FFFFFF"/>
          </a:solidFill>
          <a:ln w="8450" cap="flat" cmpd="sng">
            <a:solidFill>
              <a:srgbClr val="2428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075" tIns="81075" rIns="81075" bIns="81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2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05" name="Google Shape;105;p21"/>
          <p:cNvSpPr txBox="1"/>
          <p:nvPr/>
        </p:nvSpPr>
        <p:spPr>
          <a:xfrm>
            <a:off x="7135949" y="4374886"/>
            <a:ext cx="1349100" cy="4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75" tIns="81075" rIns="81075" bIns="81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42" b="1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Reproducibility Across Platforms</a:t>
            </a:r>
            <a:endParaRPr sz="1242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06" name="Google Shape;106;p21"/>
          <p:cNvSpPr/>
          <p:nvPr/>
        </p:nvSpPr>
        <p:spPr>
          <a:xfrm>
            <a:off x="5007787" y="3138404"/>
            <a:ext cx="1139100" cy="1080900"/>
          </a:xfrm>
          <a:prstGeom prst="ellipse">
            <a:avLst/>
          </a:prstGeom>
          <a:solidFill>
            <a:srgbClr val="FFFFFF"/>
          </a:solidFill>
          <a:ln w="8450" cap="flat" cmpd="sng">
            <a:solidFill>
              <a:srgbClr val="2428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075" tIns="81075" rIns="81075" bIns="81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2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07" name="Google Shape;107;p21"/>
          <p:cNvSpPr txBox="1"/>
          <p:nvPr/>
        </p:nvSpPr>
        <p:spPr>
          <a:xfrm>
            <a:off x="4793838" y="4338644"/>
            <a:ext cx="1610400" cy="4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75" tIns="81075" rIns="81075" bIns="81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42" b="1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Automation </a:t>
            </a:r>
            <a:endParaRPr sz="1242" b="1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42" b="1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&amp; </a:t>
            </a:r>
            <a:endParaRPr sz="1242" b="1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42" b="1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Modularity</a:t>
            </a:r>
            <a:endParaRPr sz="1242" b="1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08" name="Google Shape;108;p21"/>
          <p:cNvSpPr/>
          <p:nvPr/>
        </p:nvSpPr>
        <p:spPr>
          <a:xfrm>
            <a:off x="835499" y="3204984"/>
            <a:ext cx="1139100" cy="1080900"/>
          </a:xfrm>
          <a:prstGeom prst="ellipse">
            <a:avLst/>
          </a:prstGeom>
          <a:solidFill>
            <a:srgbClr val="FFFFFF"/>
          </a:solidFill>
          <a:ln w="8450" cap="flat" cmpd="sng">
            <a:solidFill>
              <a:srgbClr val="2428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075" tIns="81075" rIns="81075" bIns="81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2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09" name="Google Shape;109;p21"/>
          <p:cNvSpPr txBox="1"/>
          <p:nvPr/>
        </p:nvSpPr>
        <p:spPr>
          <a:xfrm>
            <a:off x="708602" y="4344805"/>
            <a:ext cx="1349100" cy="4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75" tIns="81075" rIns="81075" bIns="81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42" b="1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Domain Specific Language</a:t>
            </a:r>
            <a:endParaRPr sz="1242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110" name="Google Shape;110;p21"/>
          <p:cNvPicPr preferRelativeResize="0"/>
          <p:nvPr/>
        </p:nvPicPr>
        <p:blipFill rotWithShape="1">
          <a:blip r:embed="rId3">
            <a:alphaModFix/>
          </a:blip>
          <a:srcRect l="29052" t="12735" r="4950" b="19560"/>
          <a:stretch/>
        </p:blipFill>
        <p:spPr>
          <a:xfrm>
            <a:off x="940685" y="3445332"/>
            <a:ext cx="928668" cy="570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14767" y="3298967"/>
            <a:ext cx="759646" cy="7596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14656" y="3204986"/>
            <a:ext cx="947601" cy="94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95621" y="3109254"/>
            <a:ext cx="1139036" cy="1139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1"/>
          <p:cNvPicPr preferRelativeResize="0"/>
          <p:nvPr/>
        </p:nvPicPr>
        <p:blipFill rotWithShape="1">
          <a:blip r:embed="rId7">
            <a:alphaModFix/>
          </a:blip>
          <a:srcRect t="25381" b="30455"/>
          <a:stretch/>
        </p:blipFill>
        <p:spPr>
          <a:xfrm>
            <a:off x="1739025" y="1463200"/>
            <a:ext cx="5551776" cy="122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>
            <a:spLocks noGrp="1"/>
          </p:cNvSpPr>
          <p:nvPr>
            <p:ph type="title"/>
          </p:nvPr>
        </p:nvSpPr>
        <p:spPr>
          <a:xfrm>
            <a:off x="457200" y="519522"/>
            <a:ext cx="8229600" cy="594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s" sz="1900" b="1"/>
              <a:t>From scripts to workflows — building a reproducible pipeline (Nextflow preview)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DA15672-3E2C-10F2-4FB2-EE9B60AB4D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0463" y="2187150"/>
            <a:ext cx="4881446" cy="2323403"/>
          </a:xfrm>
          <a:prstGeom prst="rect">
            <a:avLst/>
          </a:prstGeom>
        </p:spPr>
      </p:pic>
      <p:sp>
        <p:nvSpPr>
          <p:cNvPr id="120" name="Google Shape;120;p22"/>
          <p:cNvSpPr txBox="1">
            <a:spLocks noGrp="1"/>
          </p:cNvSpPr>
          <p:nvPr>
            <p:ph type="body" idx="1"/>
          </p:nvPr>
        </p:nvSpPr>
        <p:spPr>
          <a:xfrm>
            <a:off x="135993" y="1284296"/>
            <a:ext cx="5085900" cy="364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s" b="1"/>
              <a:t>Why Nextflow?</a:t>
            </a:r>
            <a:endParaRPr b="1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b="1"/>
          </a:p>
          <a:p>
            <a:pPr marL="457200" lvl="0" indent="-30861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Scripts       →  OK for one step.</a:t>
            </a:r>
            <a:endParaRPr/>
          </a:p>
          <a:p>
            <a:pPr marL="457200" lvl="0" indent="-30861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Workflows  →  connect many steps</a:t>
            </a:r>
            <a:endParaRPr/>
          </a:p>
          <a:p>
            <a:pPr marL="45720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457200" lvl="0" indent="-30861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Nextflow adds a thin abstraction layer:</a:t>
            </a:r>
            <a:endParaRPr/>
          </a:p>
          <a:p>
            <a:pPr marL="914400" lvl="1" indent="-30861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s" b="1"/>
              <a:t>You</a:t>
            </a:r>
            <a:r>
              <a:rPr lang="es"/>
              <a:t>: describe the pipeline and dataflow   </a:t>
            </a:r>
            <a:endParaRPr/>
          </a:p>
          <a:p>
            <a:pPr marL="914400" lvl="1" indent="-30861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s" b="1"/>
              <a:t>Nextflow</a:t>
            </a:r>
            <a:r>
              <a:rPr lang="es"/>
              <a:t>: handles SLURM job configuration and submission</a:t>
            </a:r>
            <a:endParaRPr/>
          </a:p>
          <a:p>
            <a:pPr marL="45720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457200" lvl="0" indent="-30861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Benefits: </a:t>
            </a:r>
            <a:endParaRPr/>
          </a:p>
          <a:p>
            <a:pPr marL="914400" lvl="1" indent="-30861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s"/>
              <a:t>Not need to worry about:</a:t>
            </a:r>
            <a:endParaRPr/>
          </a:p>
          <a:p>
            <a:pPr marL="1371600" lvl="2" indent="-30861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s"/>
              <a:t>Deploy slurm jobs</a:t>
            </a:r>
            <a:endParaRPr/>
          </a:p>
          <a:p>
            <a:pPr marL="1371600" lvl="2" indent="-30861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s"/>
              <a:t>Parallelism</a:t>
            </a:r>
            <a:endParaRPr/>
          </a:p>
          <a:p>
            <a:pPr marL="1371600" lvl="2" indent="-30861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s"/>
              <a:t>Resume tasks </a:t>
            </a:r>
            <a:endParaRPr/>
          </a:p>
          <a:p>
            <a:pPr marL="914400" lvl="1" indent="-30861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s"/>
              <a:t>Portability: minimum configuration to use your workflow in a laptop, HPC, Cloud…</a:t>
            </a:r>
            <a:endParaRPr/>
          </a:p>
          <a:p>
            <a:pPr marL="914400" lvl="1" indent="-30861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s"/>
              <a:t>Reproducibility (containers, safe resume, versioning…)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>
            <a:spLocks noGrp="1"/>
          </p:cNvSpPr>
          <p:nvPr>
            <p:ph type="title"/>
          </p:nvPr>
        </p:nvSpPr>
        <p:spPr>
          <a:xfrm>
            <a:off x="457200" y="519522"/>
            <a:ext cx="8229600" cy="594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s" sz="1900" b="1"/>
              <a:t>From scripts to workflows — building a reproducible pipeline (Nextflow preview)</a:t>
            </a:r>
            <a:endParaRPr/>
          </a:p>
        </p:txBody>
      </p:sp>
      <p:sp>
        <p:nvSpPr>
          <p:cNvPr id="127" name="Google Shape;127;p23"/>
          <p:cNvSpPr txBox="1">
            <a:spLocks noGrp="1"/>
          </p:cNvSpPr>
          <p:nvPr>
            <p:ph type="body" idx="1"/>
          </p:nvPr>
        </p:nvSpPr>
        <p:spPr>
          <a:xfrm>
            <a:off x="317200" y="1437625"/>
            <a:ext cx="5085900" cy="364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s" b="1"/>
              <a:t>Nextflow on Slurm</a:t>
            </a:r>
            <a:endParaRPr b="1"/>
          </a:p>
          <a:p>
            <a:pPr marL="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endParaRPr b="1"/>
          </a:p>
          <a:p>
            <a:pPr marL="457200" lvl="0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800"/>
              <a:buAutoNum type="arabicParenR"/>
            </a:pPr>
            <a:r>
              <a:rPr lang="es"/>
              <a:t>Create/Use a nextflow pipeline</a:t>
            </a:r>
            <a:endParaRPr/>
          </a:p>
          <a:p>
            <a:pPr marL="45720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8" name="Google Shape;12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2600" y="2689775"/>
            <a:ext cx="3713950" cy="167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3"/>
          <p:cNvSpPr txBox="1"/>
          <p:nvPr/>
        </p:nvSpPr>
        <p:spPr>
          <a:xfrm>
            <a:off x="5161100" y="35267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https://nf-co.re/demo/dev/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B7781D0F-D809-4B05-B6C0-0051CBE4E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>
            <a:extLst>
              <a:ext uri="{FF2B5EF4-FFF2-40B4-BE49-F238E27FC236}">
                <a16:creationId xmlns:a16="http://schemas.microsoft.com/office/drawing/2014/main" id="{E44EB05F-6CFF-CE35-5FEE-B9FCCB8D66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519522"/>
            <a:ext cx="8229600" cy="594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s" sz="1900" b="1" dirty="0" err="1"/>
              <a:t>Nextflow</a:t>
            </a:r>
            <a:r>
              <a:rPr lang="es" sz="1900" b="1" dirty="0"/>
              <a:t> </a:t>
            </a:r>
            <a:r>
              <a:rPr lang="es" sz="1900" b="1" dirty="0" err="1"/>
              <a:t>Configuration</a:t>
            </a:r>
            <a:r>
              <a:rPr lang="es" sz="1900" b="1" dirty="0"/>
              <a:t> Files</a:t>
            </a:r>
            <a:endParaRPr lang="es" sz="19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4B749C-17A6-534B-ACE1-BAC64CE04F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622" t="10071" r="5009" b="8785"/>
          <a:stretch>
            <a:fillRect/>
          </a:stretch>
        </p:blipFill>
        <p:spPr>
          <a:xfrm>
            <a:off x="1449658" y="1458893"/>
            <a:ext cx="6393030" cy="3344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788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>
            <a:spLocks noGrp="1"/>
          </p:cNvSpPr>
          <p:nvPr>
            <p:ph type="title"/>
          </p:nvPr>
        </p:nvSpPr>
        <p:spPr>
          <a:xfrm>
            <a:off x="457200" y="519522"/>
            <a:ext cx="8229600" cy="594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114999"/>
              </a:lnSpc>
              <a:spcBef>
                <a:spcPts val="360"/>
              </a:spcBef>
            </a:pPr>
            <a:r>
              <a:rPr lang="es" sz="1900" b="1" dirty="0" err="1"/>
              <a:t>Nextflow</a:t>
            </a:r>
            <a:r>
              <a:rPr lang="es" sz="1900" b="1" dirty="0"/>
              <a:t> </a:t>
            </a:r>
            <a:r>
              <a:rPr lang="es" sz="1900" b="1" dirty="0" err="1"/>
              <a:t>Configuration</a:t>
            </a:r>
            <a:r>
              <a:rPr lang="es" sz="1900" b="1" dirty="0"/>
              <a:t> Files</a:t>
            </a:r>
            <a:endParaRPr lang="en-US"/>
          </a:p>
        </p:txBody>
      </p:sp>
      <p:sp>
        <p:nvSpPr>
          <p:cNvPr id="135" name="Google Shape;135;p24"/>
          <p:cNvSpPr txBox="1">
            <a:spLocks noGrp="1"/>
          </p:cNvSpPr>
          <p:nvPr>
            <p:ph type="body" idx="1"/>
          </p:nvPr>
        </p:nvSpPr>
        <p:spPr>
          <a:xfrm>
            <a:off x="317200" y="1437625"/>
            <a:ext cx="5085900" cy="364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s" b="1"/>
              <a:t>Nextflow on Slurm</a:t>
            </a:r>
            <a:endParaRPr b="1"/>
          </a:p>
          <a:p>
            <a:pPr marL="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endParaRPr b="1"/>
          </a:p>
          <a:p>
            <a:pPr marL="457200" lvl="0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800"/>
              <a:buAutoNum type="arabicParenR"/>
            </a:pPr>
            <a:r>
              <a:rPr lang="es"/>
              <a:t>Create/Use a nextflow pipeline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s"/>
              <a:t>Create a </a:t>
            </a:r>
            <a:r>
              <a:rPr lang="es" b="1"/>
              <a:t>nextflow.config </a:t>
            </a:r>
            <a:r>
              <a:rPr lang="es"/>
              <a:t>file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6" name="Google Shape;13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913775"/>
            <a:ext cx="8847500" cy="194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>
            <a:spLocks noGrp="1"/>
          </p:cNvSpPr>
          <p:nvPr>
            <p:ph type="title"/>
          </p:nvPr>
        </p:nvSpPr>
        <p:spPr>
          <a:xfrm>
            <a:off x="457200" y="519522"/>
            <a:ext cx="8229600" cy="594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s" sz="1900" b="1"/>
              <a:t>From scripts to workflows — building a reproducible pipeline (Nextflow preview)</a:t>
            </a:r>
            <a:endParaRPr/>
          </a:p>
        </p:txBody>
      </p:sp>
      <p:sp>
        <p:nvSpPr>
          <p:cNvPr id="142" name="Google Shape;142;p25"/>
          <p:cNvSpPr txBox="1">
            <a:spLocks noGrp="1"/>
          </p:cNvSpPr>
          <p:nvPr>
            <p:ph type="body" idx="1"/>
          </p:nvPr>
        </p:nvSpPr>
        <p:spPr>
          <a:xfrm>
            <a:off x="317200" y="1437625"/>
            <a:ext cx="5085900" cy="364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s" b="1"/>
              <a:t>Nextflow on Slurm</a:t>
            </a:r>
            <a:endParaRPr b="1"/>
          </a:p>
          <a:p>
            <a:pPr marL="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endParaRPr b="1"/>
          </a:p>
          <a:p>
            <a:pPr marL="457200" lvl="0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800"/>
              <a:buAutoNum type="arabicParenR"/>
            </a:pPr>
            <a:r>
              <a:rPr lang="es"/>
              <a:t>Create/Use a nextflow pipeline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s"/>
              <a:t>Create a nextflow.config file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s" b="1"/>
              <a:t>Create sbatch script</a:t>
            </a:r>
            <a:endParaRPr b="1"/>
          </a:p>
          <a:p>
            <a:pPr marL="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3" name="Google Shape;14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0400" y="1385151"/>
            <a:ext cx="4572477" cy="364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>
            <a:spLocks noGrp="1"/>
          </p:cNvSpPr>
          <p:nvPr>
            <p:ph type="body" idx="1"/>
          </p:nvPr>
        </p:nvSpPr>
        <p:spPr>
          <a:xfrm>
            <a:off x="317200" y="1437625"/>
            <a:ext cx="5085900" cy="364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s" b="1"/>
              <a:t>Nextflow on Slurm</a:t>
            </a:r>
            <a:endParaRPr b="1"/>
          </a:p>
          <a:p>
            <a:pPr marL="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s"/>
              <a:t>Monitor execution -- stdOUT</a:t>
            </a:r>
            <a:endParaRPr/>
          </a:p>
        </p:txBody>
      </p:sp>
      <p:sp>
        <p:nvSpPr>
          <p:cNvPr id="149" name="Google Shape;149;p26"/>
          <p:cNvSpPr txBox="1">
            <a:spLocks noGrp="1"/>
          </p:cNvSpPr>
          <p:nvPr>
            <p:ph type="title"/>
          </p:nvPr>
        </p:nvSpPr>
        <p:spPr>
          <a:xfrm>
            <a:off x="457200" y="519522"/>
            <a:ext cx="8229600" cy="594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s" sz="1900" b="1"/>
              <a:t>From scripts to workflows — building a reproducible pipeline (Nextflow preview)</a:t>
            </a:r>
            <a:endParaRPr/>
          </a:p>
        </p:txBody>
      </p:sp>
      <p:pic>
        <p:nvPicPr>
          <p:cNvPr id="150" name="Google Shape;15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7825" y="1840275"/>
            <a:ext cx="5029249" cy="301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>
            <a:spLocks noGrp="1"/>
          </p:cNvSpPr>
          <p:nvPr>
            <p:ph type="title"/>
          </p:nvPr>
        </p:nvSpPr>
        <p:spPr>
          <a:xfrm>
            <a:off x="457200" y="519522"/>
            <a:ext cx="8229600" cy="594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s" sz="1900" b="1"/>
              <a:t>From scripts to workflows — building a reproducible pipeline (Nextflow preview)</a:t>
            </a:r>
            <a:endParaRPr/>
          </a:p>
        </p:txBody>
      </p:sp>
      <p:sp>
        <p:nvSpPr>
          <p:cNvPr id="156" name="Google Shape;156;p27"/>
          <p:cNvSpPr txBox="1">
            <a:spLocks noGrp="1"/>
          </p:cNvSpPr>
          <p:nvPr>
            <p:ph type="body" idx="1"/>
          </p:nvPr>
        </p:nvSpPr>
        <p:spPr>
          <a:xfrm>
            <a:off x="317200" y="1437625"/>
            <a:ext cx="5085900" cy="364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s" b="1"/>
              <a:t>Nextflow on Slurm</a:t>
            </a:r>
            <a:endParaRPr b="1"/>
          </a:p>
          <a:p>
            <a:pPr marL="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s"/>
              <a:t>Monitor execution -- squeue -me</a:t>
            </a:r>
            <a:endParaRPr/>
          </a:p>
        </p:txBody>
      </p:sp>
      <p:pic>
        <p:nvPicPr>
          <p:cNvPr id="157" name="Google Shape;15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738" y="2473088"/>
            <a:ext cx="768667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17630-2E5A-A67B-6C43-9FF1B7FB0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Nextflow</a:t>
            </a:r>
            <a:r>
              <a:rPr lang="en-US" dirty="0"/>
              <a:t> pipeline outputs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0F3604-37C2-6E47-1977-560C67848B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414" y="1598175"/>
            <a:ext cx="7513135" cy="3027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0279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474D4-044A-0021-9C25-6A4D1D063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work folder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B116D3-172B-ABA8-8745-AFAD8002D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87" y="1646890"/>
            <a:ext cx="8112513" cy="3048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6197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 txBox="1">
            <a:spLocks noGrp="1"/>
          </p:cNvSpPr>
          <p:nvPr>
            <p:ph type="title"/>
          </p:nvPr>
        </p:nvSpPr>
        <p:spPr>
          <a:xfrm>
            <a:off x="457200" y="519522"/>
            <a:ext cx="8229600" cy="594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s" sz="1900" b="1"/>
              <a:t>From scripts to workflows — building a reproducible pipeline (Nextflow preview)</a:t>
            </a:r>
            <a:endParaRPr/>
          </a:p>
        </p:txBody>
      </p:sp>
      <p:sp>
        <p:nvSpPr>
          <p:cNvPr id="163" name="Google Shape;163;p28"/>
          <p:cNvSpPr txBox="1">
            <a:spLocks noGrp="1"/>
          </p:cNvSpPr>
          <p:nvPr>
            <p:ph type="body" idx="1"/>
          </p:nvPr>
        </p:nvSpPr>
        <p:spPr>
          <a:xfrm>
            <a:off x="317200" y="1437625"/>
            <a:ext cx="5085900" cy="364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s" b="1"/>
              <a:t>Nextflow on Slurm</a:t>
            </a:r>
            <a:endParaRPr b="1"/>
          </a:p>
          <a:p>
            <a:pPr marL="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s"/>
              <a:t>Monitor execution -- Fancy mode</a:t>
            </a:r>
            <a:endParaRPr/>
          </a:p>
        </p:txBody>
      </p:sp>
      <p:pic>
        <p:nvPicPr>
          <p:cNvPr id="164" name="Google Shape;16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950" y="2832001"/>
            <a:ext cx="4113550" cy="209955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65" name="Google Shape;165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85825" y="1381299"/>
            <a:ext cx="4034276" cy="1872474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66" name="Google Shape;166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74075" y="3144552"/>
            <a:ext cx="3157025" cy="1786997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>
          <a:extLst>
            <a:ext uri="{FF2B5EF4-FFF2-40B4-BE49-F238E27FC236}">
              <a16:creationId xmlns:a16="http://schemas.microsoft.com/office/drawing/2014/main" id="{7F92E630-23ED-0444-2C61-4A572EA03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>
            <a:extLst>
              <a:ext uri="{FF2B5EF4-FFF2-40B4-BE49-F238E27FC236}">
                <a16:creationId xmlns:a16="http://schemas.microsoft.com/office/drawing/2014/main" id="{29D011C7-8B48-29EA-E90B-BA475A6A90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519522"/>
            <a:ext cx="8229600" cy="594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114999"/>
              </a:lnSpc>
              <a:spcBef>
                <a:spcPts val="360"/>
              </a:spcBef>
            </a:pPr>
            <a:r>
              <a:rPr lang="es" sz="1900" b="1" dirty="0"/>
              <a:t>Demo </a:t>
            </a:r>
            <a:r>
              <a:rPr lang="es" sz="1900" b="1" dirty="0" err="1"/>
              <a:t>nf-core</a:t>
            </a:r>
            <a:r>
              <a:rPr lang="es" sz="1900" b="1" dirty="0"/>
              <a:t> </a:t>
            </a:r>
            <a:r>
              <a:rPr lang="es" sz="1900" b="1" dirty="0" err="1"/>
              <a:t>Bacass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D3E7B4-A805-B0FD-5622-F81A7095E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" y="1367217"/>
            <a:ext cx="8094428" cy="33360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B6F167-D77C-3930-DBC9-E05FD70ADD02}"/>
              </a:ext>
            </a:extLst>
          </p:cNvPr>
          <p:cNvSpPr txBox="1"/>
          <p:nvPr/>
        </p:nvSpPr>
        <p:spPr>
          <a:xfrm>
            <a:off x="1865243" y="3729328"/>
            <a:ext cx="2789169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https://nf-co.re/bacass/dev</a:t>
            </a:r>
          </a:p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FD56C94-20B3-ACF8-956B-D3876C0691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689" y="3729243"/>
            <a:ext cx="834474" cy="834474"/>
          </a:xfrm>
          <a:prstGeom prst="ellipse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808730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 txBox="1">
            <a:spLocks noGrp="1"/>
          </p:cNvSpPr>
          <p:nvPr>
            <p:ph type="title"/>
          </p:nvPr>
        </p:nvSpPr>
        <p:spPr>
          <a:xfrm>
            <a:off x="457200" y="519522"/>
            <a:ext cx="8229600" cy="594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Thank you for your attention</a:t>
            </a:r>
            <a:endParaRPr/>
          </a:p>
        </p:txBody>
      </p:sp>
      <p:sp>
        <p:nvSpPr>
          <p:cNvPr id="172" name="Google Shape;172;p29"/>
          <p:cNvSpPr txBox="1">
            <a:spLocks noGrp="1"/>
          </p:cNvSpPr>
          <p:nvPr>
            <p:ph type="body" idx="1"/>
          </p:nvPr>
        </p:nvSpPr>
        <p:spPr>
          <a:xfrm>
            <a:off x="457200" y="1437624"/>
            <a:ext cx="8229600" cy="3156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s" sz="3000"/>
              <a:t>Questions?</a:t>
            </a:r>
            <a:endParaRPr sz="3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30" title="cat-computer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525" y="1655850"/>
            <a:ext cx="3181700" cy="31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30"/>
          <p:cNvSpPr txBox="1">
            <a:spLocks noGrp="1"/>
          </p:cNvSpPr>
          <p:nvPr>
            <p:ph type="title"/>
          </p:nvPr>
        </p:nvSpPr>
        <p:spPr>
          <a:xfrm>
            <a:off x="3937575" y="2508800"/>
            <a:ext cx="4865100" cy="1332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6200" b="1"/>
              <a:t>HANDS</a:t>
            </a:r>
            <a:r>
              <a:rPr lang="es" sz="5900" b="1"/>
              <a:t>-ON</a:t>
            </a:r>
            <a:endParaRPr sz="59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BF257E78F2C3A4D804CE65F17710342" ma:contentTypeVersion="10" ma:contentTypeDescription="Crear nuevo documento." ma:contentTypeScope="" ma:versionID="95934c55266193255bfb4dd5990e903f">
  <xsd:schema xmlns:xsd="http://www.w3.org/2001/XMLSchema" xmlns:xs="http://www.w3.org/2001/XMLSchema" xmlns:p="http://schemas.microsoft.com/office/2006/metadata/properties" xmlns:ns2="21ab6fbf-d336-4209-8505-77e13094ac77" xmlns:ns3="2c763990-09e6-4187-b694-1c95f6083bba" targetNamespace="http://schemas.microsoft.com/office/2006/metadata/properties" ma:root="true" ma:fieldsID="fb0e6c6ec4ee83b9268e90b8e72deda1" ns2:_="" ns3:_="">
    <xsd:import namespace="21ab6fbf-d336-4209-8505-77e13094ac77"/>
    <xsd:import namespace="2c763990-09e6-4187-b694-1c95f6083bb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ab6fbf-d336-4209-8505-77e13094ac7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36719a55-0e6a-4911-9e95-96f553e96c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763990-09e6-4187-b694-1c95f6083bba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337d9944-e5e4-425d-93bd-e37098222df8}" ma:internalName="TaxCatchAll" ma:showField="CatchAllData" ma:web="2c763990-09e6-4187-b694-1c95f6083bb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c763990-09e6-4187-b694-1c95f6083bba" xsi:nil="true"/>
    <lcf76f155ced4ddcb4097134ff3c332f xmlns="21ab6fbf-d336-4209-8505-77e13094ac7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E92AF50-A967-4D3C-8E51-BA317AE971D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1ab6fbf-d336-4209-8505-77e13094ac77"/>
    <ds:schemaRef ds:uri="2c763990-09e6-4187-b694-1c95f6083bb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C2853CD-DEDA-4544-8E4D-B34D2083C28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6182C7D-C04D-44EA-92BF-ADEECA0760E8}">
  <ds:schemaRefs>
    <ds:schemaRef ds:uri="http://schemas.microsoft.com/office/2006/metadata/properties"/>
    <ds:schemaRef ds:uri="http://schemas.microsoft.com/office/infopath/2007/PartnerControls"/>
    <ds:schemaRef ds:uri="2c763990-09e6-4187-b694-1c95f6083bba"/>
    <ds:schemaRef ds:uri="21ab6fbf-d336-4209-8505-77e13094ac7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16</Slides>
  <Notes>14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Tema de Office</vt:lpstr>
      <vt:lpstr>Building a reliable and reproducible scientific workflow using Nextflow</vt:lpstr>
      <vt:lpstr>Index</vt:lpstr>
      <vt:lpstr>From scripts to workflows — building a reproducible pipeline (Nextflow preview)</vt:lpstr>
      <vt:lpstr>From scripts to workflows — building a reproducible pipeline (Nextflow preview)</vt:lpstr>
      <vt:lpstr>From scripts to workflows — building a reproducible pipeline (Nextflow preview)</vt:lpstr>
      <vt:lpstr>Nextflow Configuration Files</vt:lpstr>
      <vt:lpstr>Nextflow Configuration Files</vt:lpstr>
      <vt:lpstr>From scripts to workflows — building a reproducible pipeline (Nextflow preview)</vt:lpstr>
      <vt:lpstr>From scripts to workflows — building a reproducible pipeline (Nextflow preview)</vt:lpstr>
      <vt:lpstr>From scripts to workflows — building a reproducible pipeline (Nextflow preview)</vt:lpstr>
      <vt:lpstr>Nextflow pipeline outputs</vt:lpstr>
      <vt:lpstr>The work folder</vt:lpstr>
      <vt:lpstr>From scripts to workflows — building a reproducible pipeline (Nextflow preview)</vt:lpstr>
      <vt:lpstr>Demo nf-core Bacass</vt:lpstr>
      <vt:lpstr>Thank you for your attention</vt:lpstr>
      <vt:lpstr>HANDS-ON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72</cp:revision>
  <dcterms:modified xsi:type="dcterms:W3CDTF">2026-10-22T08:43:37Z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0x0101002BF257E78F2C3A4D804CE65F17710342</vt:lpwstr>
  </property>
  <property fmtid="{D5CDD505-2E9C-101B-9397-08002B2CF9AE}" pid="3" name="MediaServiceImageTags">
    <vt:lpwstr/>
  </property>
</Properties>
</file>